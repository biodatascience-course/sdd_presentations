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78" r:id="rId4"/>
    <p:sldId id="258" r:id="rId5"/>
    <p:sldId id="259" r:id="rId6"/>
    <p:sldId id="261" r:id="rId7"/>
    <p:sldId id="260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868"/>
    <p:restoredTop sz="94610"/>
  </p:normalViewPr>
  <p:slideViewPr>
    <p:cSldViewPr snapToGrid="0" snapToObjects="1">
      <p:cViewPr>
        <p:scale>
          <a:sx n="170" d="100"/>
          <a:sy n="170" d="100"/>
        </p:scale>
        <p:origin x="920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923243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47C37-3D64-8FD5-C033-738A2D14A5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F144B7-931B-53A8-574D-844ACA0F0C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7BEE3F-8EF3-B7F1-1359-DE6817A7F6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24524C-EC9B-9FAC-9521-1502F8BA38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88775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emf"/><Relationship Id="rId3" Type="http://schemas.openxmlformats.org/officeDocument/2006/relationships/image" Target="../media/image1.png"/><Relationship Id="rId7" Type="http://schemas.openxmlformats.org/officeDocument/2006/relationships/image" Target="../media/image3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hyperlink" Target="https://web.umons.ac.be/statforu/" TargetMode="External"/><Relationship Id="rId4" Type="http://schemas.openxmlformats.org/officeDocument/2006/relationships/hyperlink" Target="mailto:philippe.grosjean@umons.ac.be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hyperlink" Target="https://web.umons.ac.be/statforu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bioconductor.org/packages/release/bioc/html/limma.html" TargetMode="External"/><Relationship Id="rId3" Type="http://schemas.openxmlformats.org/officeDocument/2006/relationships/image" Target="../media/image5.png"/><Relationship Id="rId7" Type="http://schemas.openxmlformats.org/officeDocument/2006/relationships/hyperlink" Target="https://www.bioconductor.org/" TargetMode="External"/><Relationship Id="rId12" Type="http://schemas.openxmlformats.org/officeDocument/2006/relationships/hyperlink" Target="https://filedn.com/lzGVgfOGxb6mHFQcRn9ueUb/bepa2026/bepa2026_stats.pdf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rformassspectrometry.org/" TargetMode="External"/><Relationship Id="rId11" Type="http://schemas.openxmlformats.org/officeDocument/2006/relationships/hyperlink" Target="https://rss.onlinelibrary.wiley.com/doi/10.1111/j.2517-6161.1995.tb02031.x" TargetMode="External"/><Relationship Id="rId5" Type="http://schemas.openxmlformats.org/officeDocument/2006/relationships/hyperlink" Target="https://www.bioconductor.org/packages/release/data/experiment/vignettes/RforProteomics/inst/doc/RforProteomics.html" TargetMode="External"/><Relationship Id="rId10" Type="http://schemas.openxmlformats.org/officeDocument/2006/relationships/hyperlink" Target="https://pyteomics.readthedocs.io/en/latest/" TargetMode="External"/><Relationship Id="rId4" Type="http://schemas.openxmlformats.org/officeDocument/2006/relationships/hyperlink" Target="https://www.stat.cmu.edu/~genovese/talks/hannover1-04.pdf" TargetMode="External"/><Relationship Id="rId9" Type="http://schemas.openxmlformats.org/officeDocument/2006/relationships/hyperlink" Target="https://filedn.com/lzGVgfOGxb6mHFQcRn9ueUb/bepa2026/generate_visualizations.R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824433"/>
            <a:ext cx="5238741" cy="21972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249" b="1" kern="0" spc="-2" dirty="0">
                <a:solidFill>
                  <a:srgbClr val="000000"/>
                </a:solidFill>
              </a:rPr>
              <a:t>Initiation to Statistics in Proteomics Analysis</a:t>
            </a:r>
            <a:br>
              <a:rPr lang="en-US" sz="4249" b="1" kern="0" spc="-2" dirty="0">
                <a:solidFill>
                  <a:srgbClr val="000000"/>
                </a:solidFill>
              </a:rPr>
            </a:br>
            <a:br>
              <a:rPr lang="en-US" sz="4249" b="1" kern="0" spc="-2" dirty="0">
                <a:solidFill>
                  <a:srgbClr val="000000"/>
                </a:solidFill>
              </a:rPr>
            </a:br>
            <a:r>
              <a:rPr lang="en-US" sz="2400" b="1" kern="0" spc="-2" dirty="0" err="1">
                <a:solidFill>
                  <a:srgbClr val="000000"/>
                </a:solidFill>
              </a:rPr>
              <a:t>BePa</a:t>
            </a:r>
            <a:r>
              <a:rPr lang="en-US" sz="2400" b="1" kern="0" spc="-2" dirty="0">
                <a:solidFill>
                  <a:srgbClr val="000000"/>
                </a:solidFill>
              </a:rPr>
              <a:t> Winter School 2026 - UMONS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428625" y="3679031"/>
            <a:ext cx="5238741" cy="1259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704" dirty="0">
                <a:solidFill>
                  <a:srgbClr val="333333"/>
                </a:solidFill>
              </a:rPr>
              <a:t>Philippe Grosjean</a:t>
            </a:r>
            <a:br>
              <a:rPr lang="en-US" sz="1704" dirty="0">
                <a:solidFill>
                  <a:srgbClr val="333333"/>
                </a:solidFill>
              </a:rPr>
            </a:br>
            <a:r>
              <a:rPr lang="en-US" sz="1704" dirty="0">
                <a:solidFill>
                  <a:srgbClr val="333333"/>
                </a:solidFill>
              </a:rPr>
              <a:t>Numerical Ecology &amp; </a:t>
            </a:r>
            <a:r>
              <a:rPr lang="en-US" sz="1704" dirty="0" err="1">
                <a:solidFill>
                  <a:srgbClr val="333333"/>
                </a:solidFill>
              </a:rPr>
              <a:t>STATforU</a:t>
            </a:r>
            <a:r>
              <a:rPr lang="en-US" sz="1704" dirty="0">
                <a:solidFill>
                  <a:srgbClr val="333333"/>
                </a:solidFill>
              </a:rPr>
              <a:t>, UMONS</a:t>
            </a:r>
            <a:br>
              <a:rPr lang="en-US" sz="1704" dirty="0">
                <a:solidFill>
                  <a:srgbClr val="333333"/>
                </a:solidFill>
              </a:rPr>
            </a:br>
            <a:r>
              <a:rPr lang="en-US" sz="1704" dirty="0">
                <a:solidFill>
                  <a:srgbClr val="333333"/>
                </a:solidFill>
                <a:hlinkClick r:id="rId4"/>
              </a:rPr>
              <a:t>philippe.grosjean@umons.ac.be</a:t>
            </a:r>
            <a:br>
              <a:rPr lang="en-US" sz="1704" dirty="0">
                <a:solidFill>
                  <a:srgbClr val="333333"/>
                </a:solidFill>
              </a:rPr>
            </a:br>
            <a:r>
              <a:rPr lang="en-US" sz="1704" dirty="0">
                <a:solidFill>
                  <a:srgbClr val="333333"/>
                </a:solidFill>
                <a:hlinkClick r:id="rId5"/>
              </a:rPr>
              <a:t>https://web.umons.ac.be/statforu/</a:t>
            </a:r>
            <a:r>
              <a:rPr lang="en-US" sz="1704" dirty="0">
                <a:solidFill>
                  <a:srgbClr val="333333"/>
                </a:solidFill>
              </a:rPr>
              <a:t> </a:t>
            </a:r>
            <a:endParaRPr lang="en-US" sz="1704" dirty="0"/>
          </a:p>
        </p:txBody>
      </p:sp>
      <p:sp>
        <p:nvSpPr>
          <p:cNvPr id="5" name="Shape 2"/>
          <p:cNvSpPr/>
          <p:nvPr/>
        </p:nvSpPr>
        <p:spPr>
          <a:xfrm>
            <a:off x="6095991" y="0"/>
            <a:ext cx="3047981" cy="5143500"/>
          </a:xfrm>
          <a:prstGeom prst="rect">
            <a:avLst/>
          </a:prstGeom>
          <a:solidFill>
            <a:srgbClr val="0047AB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7" name="Image 6" descr="Une image contenant capture d’écran, cercle&#10;&#10;Le contenu généré par l’IA peut être incorrect.">
            <a:extLst>
              <a:ext uri="{FF2B5EF4-FFF2-40B4-BE49-F238E27FC236}">
                <a16:creationId xmlns:a16="http://schemas.microsoft.com/office/drawing/2014/main" id="{490322EB-BD04-8362-406C-586C758C87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2231" y="59789"/>
            <a:ext cx="2273300" cy="3060700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DC30A46A-B7DF-664C-FD37-699609F6C07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61131" y="4309011"/>
            <a:ext cx="2095500" cy="77470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7BE77F93-8D27-58BA-4652-CB7489E1172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84678" y="3149934"/>
            <a:ext cx="1226669" cy="112300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5996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85750"/>
            <a:ext cx="9144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0" y="828675"/>
            <a:ext cx="9144000" cy="28575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428625" y="454521"/>
            <a:ext cx="1594732" cy="1942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kern="0" spc="1" dirty="0">
                <a:solidFill>
                  <a:srgbClr val="333333"/>
                </a:solidFill>
              </a:rPr>
              <a:t>Presentation &amp; </a:t>
            </a:r>
            <a:r>
              <a:rPr lang="en-US" sz="1193" b="1" kern="0" spc="1" dirty="0" err="1">
                <a:solidFill>
                  <a:srgbClr val="333333"/>
                </a:solidFill>
              </a:rPr>
              <a:t>STATforU</a:t>
            </a:r>
            <a:endParaRPr lang="en-US" sz="1193" dirty="0"/>
          </a:p>
        </p:txBody>
      </p:sp>
      <p:sp>
        <p:nvSpPr>
          <p:cNvPr id="6" name="Text 3"/>
          <p:cNvSpPr/>
          <p:nvPr/>
        </p:nvSpPr>
        <p:spPr>
          <a:xfrm>
            <a:off x="200025" y="1057275"/>
            <a:ext cx="5086350" cy="24955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121" b="1" dirty="0">
                <a:solidFill>
                  <a:srgbClr val="0047AB"/>
                </a:solidFill>
              </a:rPr>
              <a:t>Bioengineer / marine biologist</a:t>
            </a:r>
          </a:p>
          <a:p>
            <a:pPr marL="0" indent="0" algn="l">
              <a:lnSpc>
                <a:spcPts val="2800"/>
              </a:lnSpc>
              <a:buNone/>
            </a:pPr>
            <a:r>
              <a:rPr lang="en-US" sz="2121" b="1" dirty="0">
                <a:solidFill>
                  <a:srgbClr val="0047AB"/>
                </a:solidFill>
              </a:rPr>
              <a:t>Data Scientist</a:t>
            </a:r>
          </a:p>
          <a:p>
            <a:pPr marL="0" indent="0" algn="l">
              <a:lnSpc>
                <a:spcPts val="2800"/>
              </a:lnSpc>
              <a:buNone/>
            </a:pPr>
            <a:r>
              <a:rPr lang="en-US" sz="2121" b="1" dirty="0">
                <a:solidFill>
                  <a:srgbClr val="0047AB"/>
                </a:solidFill>
              </a:rPr>
              <a:t>Teacher (data science &amp; statistics)</a:t>
            </a:r>
          </a:p>
          <a:p>
            <a:pPr marL="0" indent="0" algn="l">
              <a:lnSpc>
                <a:spcPts val="2800"/>
              </a:lnSpc>
              <a:buNone/>
            </a:pPr>
            <a:r>
              <a:rPr lang="en-US" sz="2121" b="1" dirty="0">
                <a:solidFill>
                  <a:srgbClr val="0047AB"/>
                </a:solidFill>
              </a:rPr>
              <a:t>R software developer</a:t>
            </a:r>
            <a:br>
              <a:rPr lang="en-US" sz="2121" b="1" dirty="0">
                <a:solidFill>
                  <a:srgbClr val="0047AB"/>
                </a:solidFill>
              </a:rPr>
            </a:br>
            <a:br>
              <a:rPr lang="en-US" sz="2121" b="1" dirty="0">
                <a:solidFill>
                  <a:srgbClr val="0047AB"/>
                </a:solidFill>
              </a:rPr>
            </a:br>
            <a:br>
              <a:rPr lang="en-US" sz="2121" b="1" dirty="0">
                <a:solidFill>
                  <a:srgbClr val="0047AB"/>
                </a:solidFill>
              </a:rPr>
            </a:br>
            <a:r>
              <a:rPr lang="en-US" sz="2121" b="1" dirty="0">
                <a:solidFill>
                  <a:srgbClr val="0047AB"/>
                </a:solidFill>
              </a:rPr>
              <a:t>Manage </a:t>
            </a:r>
            <a:r>
              <a:rPr lang="en-US" sz="2121" b="1" dirty="0" err="1">
                <a:solidFill>
                  <a:srgbClr val="0047AB"/>
                </a:solidFill>
              </a:rPr>
              <a:t>STATforU</a:t>
            </a:r>
            <a:r>
              <a:rPr lang="en-US" sz="2121" b="1" dirty="0">
                <a:solidFill>
                  <a:srgbClr val="0047AB"/>
                </a:solidFill>
              </a:rPr>
              <a:t> with Kathy Huet</a:t>
            </a:r>
            <a:endParaRPr lang="en-US" sz="2121" dirty="0"/>
          </a:p>
        </p:txBody>
      </p:sp>
      <p:sp>
        <p:nvSpPr>
          <p:cNvPr id="8" name="Text 5"/>
          <p:cNvSpPr/>
          <p:nvPr/>
        </p:nvSpPr>
        <p:spPr>
          <a:xfrm>
            <a:off x="200025" y="3612425"/>
            <a:ext cx="5086350" cy="2257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269" dirty="0">
                <a:solidFill>
                  <a:srgbClr val="333333"/>
                </a:solidFill>
              </a:rPr>
              <a:t>Consultancy in statistics at UMONS</a:t>
            </a:r>
            <a:endParaRPr lang="en-US" sz="1269" dirty="0"/>
          </a:p>
        </p:txBody>
      </p:sp>
      <p:sp>
        <p:nvSpPr>
          <p:cNvPr id="9" name="Text 6"/>
          <p:cNvSpPr/>
          <p:nvPr/>
        </p:nvSpPr>
        <p:spPr>
          <a:xfrm>
            <a:off x="200025" y="3973373"/>
            <a:ext cx="5086350" cy="2257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269" dirty="0">
                <a:solidFill>
                  <a:srgbClr val="333333"/>
                </a:solidFill>
              </a:rPr>
              <a:t>See </a:t>
            </a:r>
            <a:r>
              <a:rPr lang="en-US" sz="1269" dirty="0">
                <a:solidFill>
                  <a:srgbClr val="333333"/>
                </a:solidFill>
                <a:hlinkClick r:id="rId4"/>
              </a:rPr>
              <a:t>https://web.umons.ac.be/statforu/</a:t>
            </a:r>
            <a:r>
              <a:rPr lang="en-US" sz="1269" dirty="0">
                <a:solidFill>
                  <a:srgbClr val="333333"/>
                </a:solidFill>
              </a:rPr>
              <a:t> </a:t>
            </a:r>
            <a:endParaRPr lang="en-US" sz="1269" dirty="0"/>
          </a:p>
        </p:txBody>
      </p:sp>
      <p:sp>
        <p:nvSpPr>
          <p:cNvPr id="11" name="Shape 8"/>
          <p:cNvSpPr/>
          <p:nvPr/>
        </p:nvSpPr>
        <p:spPr>
          <a:xfrm>
            <a:off x="5486400" y="857250"/>
            <a:ext cx="3657600" cy="428625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2" name="Image 21" descr="Une image contenant natation, sport, Équipement de plongée, eau&#10;&#10;Le contenu généré par l’IA peut être incorrect.">
            <a:extLst>
              <a:ext uri="{FF2B5EF4-FFF2-40B4-BE49-F238E27FC236}">
                <a16:creationId xmlns:a16="http://schemas.microsoft.com/office/drawing/2014/main" id="{1E0687F1-C938-5711-7D0B-F78346A673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77781" y="897629"/>
            <a:ext cx="3204962" cy="1881173"/>
          </a:xfrm>
          <a:prstGeom prst="rect">
            <a:avLst/>
          </a:prstGeom>
        </p:spPr>
      </p:pic>
      <p:pic>
        <p:nvPicPr>
          <p:cNvPr id="28" name="Image 27" descr="Une image contenant Appareils électroniques, texte, ordinateur, capture d’écran&#10;&#10;Le contenu généré par l’IA peut être incorrect.">
            <a:extLst>
              <a:ext uri="{FF2B5EF4-FFF2-40B4-BE49-F238E27FC236}">
                <a16:creationId xmlns:a16="http://schemas.microsoft.com/office/drawing/2014/main" id="{98872671-EA47-0E27-0687-7C32509F4BA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7781" y="2533485"/>
            <a:ext cx="3204962" cy="260928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3C907-AC7A-41A0-4E79-5F715BB732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2B2A83EB-4DB3-7A3E-311E-CAF104382E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90B84352-8F7E-BA97-F691-D38D0FC2D3C6}"/>
              </a:ext>
            </a:extLst>
          </p:cNvPr>
          <p:cNvSpPr/>
          <p:nvPr/>
        </p:nvSpPr>
        <p:spPr>
          <a:xfrm>
            <a:off x="0" y="285750"/>
            <a:ext cx="9144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62C0B6C2-52C2-24B5-9339-F0956636288C}"/>
              </a:ext>
            </a:extLst>
          </p:cNvPr>
          <p:cNvSpPr/>
          <p:nvPr/>
        </p:nvSpPr>
        <p:spPr>
          <a:xfrm>
            <a:off x="0" y="828675"/>
            <a:ext cx="9144000" cy="28575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D561B37C-BAC9-4F0D-79D1-FF9A3F432E4D}"/>
              </a:ext>
            </a:extLst>
          </p:cNvPr>
          <p:cNvSpPr/>
          <p:nvPr/>
        </p:nvSpPr>
        <p:spPr>
          <a:xfrm>
            <a:off x="428625" y="454521"/>
            <a:ext cx="3751557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kern="0" spc="1" dirty="0">
                <a:solidFill>
                  <a:srgbClr val="333333"/>
                </a:solidFill>
              </a:rPr>
              <a:t>Why Statistics Matter in Proteomics</a:t>
            </a:r>
            <a:endParaRPr lang="en-US" sz="1193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EA18FBD9-D61E-E95E-87CD-EFE337E69730}"/>
              </a:ext>
            </a:extLst>
          </p:cNvPr>
          <p:cNvSpPr/>
          <p:nvPr/>
        </p:nvSpPr>
        <p:spPr>
          <a:xfrm>
            <a:off x="200025" y="1057275"/>
            <a:ext cx="5086350" cy="14401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121" b="1" dirty="0">
                <a:solidFill>
                  <a:srgbClr val="0047AB"/>
                </a:solidFill>
              </a:rPr>
              <a:t>Proteomics generates massive datasets requiring rigorous statistical frameworks to extract biological meaning.</a:t>
            </a:r>
            <a:endParaRPr lang="en-US" sz="2121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B9821C97-699B-044D-C301-3E56AED996BF}"/>
              </a:ext>
            </a:extLst>
          </p:cNvPr>
          <p:cNvSpPr/>
          <p:nvPr/>
        </p:nvSpPr>
        <p:spPr>
          <a:xfrm>
            <a:off x="200025" y="2640285"/>
            <a:ext cx="5086350" cy="4800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269" dirty="0">
                <a:solidFill>
                  <a:srgbClr val="333333"/>
                </a:solidFill>
              </a:rPr>
              <a:t>Modern mass spectrometry identifies thousands of proteins across multiple samples</a:t>
            </a:r>
            <a:endParaRPr lang="en-US" sz="1269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31B1EE9E-F4BA-4FE0-6F29-D665FD917CAE}"/>
              </a:ext>
            </a:extLst>
          </p:cNvPr>
          <p:cNvSpPr/>
          <p:nvPr/>
        </p:nvSpPr>
        <p:spPr>
          <a:xfrm>
            <a:off x="200025" y="3191749"/>
            <a:ext cx="5086350" cy="4800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269" dirty="0">
                <a:solidFill>
                  <a:srgbClr val="333333"/>
                </a:solidFill>
              </a:rPr>
              <a:t>Biological variability and technical noise create uncertainty in measurements</a:t>
            </a:r>
            <a:endParaRPr lang="en-US" sz="1269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5720AE17-2950-B4D8-626F-6F3D4E8531B2}"/>
              </a:ext>
            </a:extLst>
          </p:cNvPr>
          <p:cNvSpPr/>
          <p:nvPr/>
        </p:nvSpPr>
        <p:spPr>
          <a:xfrm>
            <a:off x="200025" y="3743213"/>
            <a:ext cx="5086350" cy="4800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269" dirty="0">
                <a:solidFill>
                  <a:srgbClr val="333333"/>
                </a:solidFill>
              </a:rPr>
              <a:t>Statistical methods distinguish true biological signals from random variation</a:t>
            </a:r>
            <a:endParaRPr lang="en-US" sz="1269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273660CF-D2C6-50FF-0387-2B03B4090735}"/>
              </a:ext>
            </a:extLst>
          </p:cNvPr>
          <p:cNvSpPr/>
          <p:nvPr/>
        </p:nvSpPr>
        <p:spPr>
          <a:xfrm>
            <a:off x="200025" y="4294677"/>
            <a:ext cx="5086350" cy="4800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269" dirty="0">
                <a:solidFill>
                  <a:srgbClr val="333333"/>
                </a:solidFill>
              </a:rPr>
              <a:t>Proper analysis prevents false discoveries and missed findings</a:t>
            </a:r>
            <a:endParaRPr lang="en-US" sz="1269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87A5783D-26BB-E60F-0003-457B21B7DA51}"/>
              </a:ext>
            </a:extLst>
          </p:cNvPr>
          <p:cNvSpPr/>
          <p:nvPr/>
        </p:nvSpPr>
        <p:spPr>
          <a:xfrm>
            <a:off x="5486400" y="857250"/>
            <a:ext cx="3657600" cy="428625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D4524E3-9DDF-1FAB-B92D-02BCD1DCF602}"/>
              </a:ext>
            </a:extLst>
          </p:cNvPr>
          <p:cNvSpPr/>
          <p:nvPr/>
        </p:nvSpPr>
        <p:spPr>
          <a:xfrm>
            <a:off x="5966454" y="1123355"/>
            <a:ext cx="2697463" cy="1146572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FB4E5348-31A7-F024-C942-054AB67C0C30}"/>
              </a:ext>
            </a:extLst>
          </p:cNvPr>
          <p:cNvSpPr/>
          <p:nvPr/>
        </p:nvSpPr>
        <p:spPr>
          <a:xfrm>
            <a:off x="6109329" y="1266230"/>
            <a:ext cx="2411713" cy="6232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4300"/>
              </a:lnSpc>
              <a:buNone/>
            </a:pPr>
            <a:r>
              <a:rPr lang="en-US" sz="3294" b="1" dirty="0">
                <a:solidFill>
                  <a:srgbClr val="FF3B30"/>
                </a:solidFill>
              </a:rPr>
              <a:t>~10K</a:t>
            </a:r>
            <a:endParaRPr lang="en-US" sz="3294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B9D1E720-62E9-2F85-2BEB-105ACE0E7CC8}"/>
              </a:ext>
            </a:extLst>
          </p:cNvPr>
          <p:cNvSpPr/>
          <p:nvPr/>
        </p:nvSpPr>
        <p:spPr>
          <a:xfrm>
            <a:off x="6109329" y="1932384"/>
            <a:ext cx="1681795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kern="0" spc="1" dirty="0">
                <a:solidFill>
                  <a:srgbClr val="FFFFFF"/>
                </a:solidFill>
              </a:rPr>
              <a:t>Proteins per sample</a:t>
            </a:r>
            <a:endParaRPr lang="en-US" sz="105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335FB9DA-68D9-754E-8A1E-739C2E708398}"/>
              </a:ext>
            </a:extLst>
          </p:cNvPr>
          <p:cNvSpPr/>
          <p:nvPr/>
        </p:nvSpPr>
        <p:spPr>
          <a:xfrm>
            <a:off x="5966454" y="2355652"/>
            <a:ext cx="2697463" cy="1146572"/>
          </a:xfrm>
          <a:prstGeom prst="rect">
            <a:avLst/>
          </a:prstGeom>
          <a:solidFill>
            <a:srgbClr val="0047A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12CB1CE3-F482-B8EE-8ACC-3957F7FC4148}"/>
              </a:ext>
            </a:extLst>
          </p:cNvPr>
          <p:cNvSpPr/>
          <p:nvPr/>
        </p:nvSpPr>
        <p:spPr>
          <a:xfrm>
            <a:off x="6109329" y="2498527"/>
            <a:ext cx="2411713" cy="6232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4300"/>
              </a:lnSpc>
              <a:buNone/>
            </a:pPr>
            <a:r>
              <a:rPr lang="en-US" sz="3294" b="1" dirty="0">
                <a:solidFill>
                  <a:srgbClr val="FF3B30"/>
                </a:solidFill>
              </a:rPr>
              <a:t>95%</a:t>
            </a:r>
            <a:endParaRPr lang="en-US" sz="3294" dirty="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E8A30C56-396B-F31A-B5D0-13D181F7ADBD}"/>
              </a:ext>
            </a:extLst>
          </p:cNvPr>
          <p:cNvSpPr/>
          <p:nvPr/>
        </p:nvSpPr>
        <p:spPr>
          <a:xfrm>
            <a:off x="6109329" y="3164681"/>
            <a:ext cx="1386194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kern="0" spc="1" dirty="0">
                <a:solidFill>
                  <a:srgbClr val="FFFFFF"/>
                </a:solidFill>
              </a:rPr>
              <a:t>Noise Reduction</a:t>
            </a:r>
            <a:endParaRPr lang="en-US" sz="1050" dirty="0"/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89FA75D6-2B2C-11E4-1EDC-11B88C5039F4}"/>
              </a:ext>
            </a:extLst>
          </p:cNvPr>
          <p:cNvSpPr/>
          <p:nvPr/>
        </p:nvSpPr>
        <p:spPr>
          <a:xfrm>
            <a:off x="5966454" y="3587948"/>
            <a:ext cx="2697463" cy="1203722"/>
          </a:xfrm>
          <a:prstGeom prst="rect">
            <a:avLst/>
          </a:prstGeom>
          <a:solidFill>
            <a:srgbClr val="FFFFFF"/>
          </a:solidFill>
          <a:ln w="27432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52C99D73-EED7-7602-3323-83E1DFA1FEAA}"/>
              </a:ext>
            </a:extLst>
          </p:cNvPr>
          <p:cNvSpPr/>
          <p:nvPr/>
        </p:nvSpPr>
        <p:spPr>
          <a:xfrm>
            <a:off x="6109329" y="3759398"/>
            <a:ext cx="2411713" cy="6232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4300"/>
              </a:lnSpc>
              <a:buNone/>
            </a:pPr>
            <a:r>
              <a:rPr lang="en-US" sz="3294" b="1" dirty="0">
                <a:solidFill>
                  <a:srgbClr val="FF3B30"/>
                </a:solidFill>
              </a:rPr>
              <a:t>1</a:t>
            </a:r>
            <a:endParaRPr lang="en-US" sz="3294" dirty="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085124D0-0AE4-2158-0C1C-C40FB45ADBC6}"/>
              </a:ext>
            </a:extLst>
          </p:cNvPr>
          <p:cNvSpPr/>
          <p:nvPr/>
        </p:nvSpPr>
        <p:spPr>
          <a:xfrm>
            <a:off x="6109329" y="4425553"/>
            <a:ext cx="1725802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kern="0" spc="1" dirty="0">
                <a:solidFill>
                  <a:srgbClr val="000000"/>
                </a:solidFill>
              </a:rPr>
              <a:t>Reliable Conclusion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35287063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85750"/>
            <a:ext cx="9144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0" y="828675"/>
            <a:ext cx="9144000" cy="28575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428625" y="454521"/>
            <a:ext cx="212348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kern="0" spc="1" dirty="0">
                <a:solidFill>
                  <a:srgbClr val="333333"/>
                </a:solidFill>
              </a:rPr>
              <a:t>What is Probability?</a:t>
            </a:r>
            <a:endParaRPr lang="en-US" sz="1193" dirty="0"/>
          </a:p>
        </p:txBody>
      </p:sp>
      <p:sp>
        <p:nvSpPr>
          <p:cNvPr id="6" name="Text 3"/>
          <p:cNvSpPr/>
          <p:nvPr/>
        </p:nvSpPr>
        <p:spPr>
          <a:xfrm>
            <a:off x="700088" y="1143000"/>
            <a:ext cx="4357688" cy="11886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602" b="1" dirty="0">
                <a:solidFill>
                  <a:srgbClr val="000000"/>
                </a:solidFill>
              </a:rPr>
              <a:t>Probability quantifies uncertainty as a number between 0 and 1 representing the likelihood of an event.</a:t>
            </a:r>
            <a:endParaRPr lang="en-US" sz="1602" dirty="0"/>
          </a:p>
        </p:txBody>
      </p:sp>
      <p:sp>
        <p:nvSpPr>
          <p:cNvPr id="7" name="Text 4"/>
          <p:cNvSpPr/>
          <p:nvPr/>
        </p:nvSpPr>
        <p:spPr>
          <a:xfrm>
            <a:off x="700088" y="2403091"/>
            <a:ext cx="4357688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666666"/>
                </a:solidFill>
              </a:rPr>
              <a:t>P(Event) = Favorable Outcomes / Total Outcomes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428625" y="2829930"/>
            <a:ext cx="1285875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47AB"/>
                </a:solidFill>
              </a:rPr>
              <a:t>Classical</a:t>
            </a:r>
            <a:endParaRPr lang="en-US" sz="987" dirty="0"/>
          </a:p>
        </p:txBody>
      </p:sp>
      <p:sp>
        <p:nvSpPr>
          <p:cNvPr id="9" name="Text 6"/>
          <p:cNvSpPr/>
          <p:nvPr/>
        </p:nvSpPr>
        <p:spPr>
          <a:xfrm>
            <a:off x="1857375" y="2812070"/>
            <a:ext cx="3200400" cy="4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159" dirty="0">
                <a:solidFill>
                  <a:srgbClr val="333333"/>
                </a:solidFill>
              </a:rPr>
              <a:t>Based on theoretical models (e.g., fair coin: P(Heads) = 0.5)</a:t>
            </a:r>
            <a:endParaRPr lang="en-US" sz="1159" dirty="0"/>
          </a:p>
        </p:txBody>
      </p:sp>
      <p:sp>
        <p:nvSpPr>
          <p:cNvPr id="10" name="Text 7"/>
          <p:cNvSpPr/>
          <p:nvPr/>
        </p:nvSpPr>
        <p:spPr>
          <a:xfrm>
            <a:off x="428625" y="3448534"/>
            <a:ext cx="1285875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47AB"/>
                </a:solidFill>
              </a:rPr>
              <a:t>Frequentist</a:t>
            </a:r>
            <a:endParaRPr lang="en-US" sz="987" dirty="0"/>
          </a:p>
        </p:txBody>
      </p:sp>
      <p:sp>
        <p:nvSpPr>
          <p:cNvPr id="11" name="Text 8"/>
          <p:cNvSpPr/>
          <p:nvPr/>
        </p:nvSpPr>
        <p:spPr>
          <a:xfrm>
            <a:off x="1857375" y="3430674"/>
            <a:ext cx="3200400" cy="4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159" dirty="0">
                <a:solidFill>
                  <a:srgbClr val="333333"/>
                </a:solidFill>
              </a:rPr>
              <a:t>Long-run frequency of events in repeated experiments</a:t>
            </a:r>
            <a:endParaRPr lang="en-US" sz="1159" dirty="0"/>
          </a:p>
        </p:txBody>
      </p:sp>
      <p:sp>
        <p:nvSpPr>
          <p:cNvPr id="12" name="Text 9"/>
          <p:cNvSpPr/>
          <p:nvPr/>
        </p:nvSpPr>
        <p:spPr>
          <a:xfrm>
            <a:off x="428625" y="4067138"/>
            <a:ext cx="1285875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47AB"/>
                </a:solidFill>
              </a:rPr>
              <a:t>In Proteomics</a:t>
            </a:r>
            <a:endParaRPr lang="en-US" sz="987" dirty="0"/>
          </a:p>
        </p:txBody>
      </p:sp>
      <p:sp>
        <p:nvSpPr>
          <p:cNvPr id="13" name="Text 10"/>
          <p:cNvSpPr/>
          <p:nvPr/>
        </p:nvSpPr>
        <p:spPr>
          <a:xfrm>
            <a:off x="1857375" y="4049278"/>
            <a:ext cx="3200400" cy="660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159" dirty="0">
                <a:solidFill>
                  <a:srgbClr val="333333"/>
                </a:solidFill>
              </a:rPr>
              <a:t>Probability that a protein is truly differentially expressed given observed data</a:t>
            </a:r>
            <a:endParaRPr lang="en-US" sz="1159" dirty="0"/>
          </a:p>
        </p:txBody>
      </p:sp>
      <p:sp>
        <p:nvSpPr>
          <p:cNvPr id="14" name="Shape 11"/>
          <p:cNvSpPr/>
          <p:nvPr/>
        </p:nvSpPr>
        <p:spPr>
          <a:xfrm>
            <a:off x="5486400" y="857250"/>
            <a:ext cx="3657600" cy="4286250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2"/>
          <p:cNvSpPr/>
          <p:nvPr/>
        </p:nvSpPr>
        <p:spPr>
          <a:xfrm>
            <a:off x="5823300" y="2427089"/>
            <a:ext cx="2983799" cy="8286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5400"/>
              </a:lnSpc>
              <a:buNone/>
            </a:pPr>
            <a:r>
              <a:rPr lang="en-US" sz="4410" kern="0" spc="3" dirty="0">
                <a:solidFill>
                  <a:srgbClr val="FFFFFF"/>
                </a:solidFill>
              </a:rPr>
              <a:t>0 ≤ P ≤ 1</a:t>
            </a:r>
            <a:endParaRPr lang="en-US" sz="4410" dirty="0"/>
          </a:p>
        </p:txBody>
      </p:sp>
      <p:sp>
        <p:nvSpPr>
          <p:cNvPr id="16" name="Text 13"/>
          <p:cNvSpPr/>
          <p:nvPr/>
        </p:nvSpPr>
        <p:spPr>
          <a:xfrm>
            <a:off x="6232168" y="3398639"/>
            <a:ext cx="2166035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kern="0" spc="2" dirty="0">
                <a:solidFill>
                  <a:srgbClr val="FF3B30"/>
                </a:solidFill>
              </a:rPr>
              <a:t>The Axiom of Probability</a:t>
            </a:r>
            <a:endParaRPr lang="en-US" sz="88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85750"/>
            <a:ext cx="9144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0" y="828675"/>
            <a:ext cx="9144000" cy="28575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428625" y="454521"/>
            <a:ext cx="4024471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kern="0" spc="1" dirty="0">
                <a:solidFill>
                  <a:srgbClr val="333333"/>
                </a:solidFill>
              </a:rPr>
              <a:t>Measuring Probability Experimentally</a:t>
            </a:r>
            <a:endParaRPr lang="en-US" sz="1193" dirty="0"/>
          </a:p>
        </p:txBody>
      </p:sp>
      <p:sp>
        <p:nvSpPr>
          <p:cNvPr id="6" name="Shape 3"/>
          <p:cNvSpPr/>
          <p:nvPr/>
        </p:nvSpPr>
        <p:spPr>
          <a:xfrm>
            <a:off x="0" y="857250"/>
            <a:ext cx="3657600" cy="42862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Shape 4"/>
          <p:cNvSpPr/>
          <p:nvPr/>
        </p:nvSpPr>
        <p:spPr>
          <a:xfrm>
            <a:off x="428625" y="1028700"/>
            <a:ext cx="2800350" cy="707231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Shape 5"/>
          <p:cNvSpPr/>
          <p:nvPr/>
        </p:nvSpPr>
        <p:spPr>
          <a:xfrm>
            <a:off x="428625" y="1028700"/>
            <a:ext cx="42863" cy="707231"/>
          </a:xfrm>
          <a:prstGeom prst="rect">
            <a:avLst/>
          </a:prstGeom>
          <a:solidFill>
            <a:srgbClr val="FF3B3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571500" y="1171575"/>
            <a:ext cx="2514600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666666"/>
                </a:solidFill>
              </a:rPr>
              <a:t>Experimental Formula</a:t>
            </a:r>
            <a:endParaRPr lang="en-US" sz="683" dirty="0"/>
          </a:p>
        </p:txBody>
      </p:sp>
      <p:sp>
        <p:nvSpPr>
          <p:cNvPr id="10" name="Text 7"/>
          <p:cNvSpPr/>
          <p:nvPr/>
        </p:nvSpPr>
        <p:spPr>
          <a:xfrm>
            <a:off x="571500" y="1343025"/>
            <a:ext cx="2514600" cy="2500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0000"/>
                </a:solidFill>
              </a:rPr>
              <a:t>P(E) ≈ n(E) / n(Total)</a:t>
            </a:r>
            <a:endParaRPr lang="en-US" sz="1193" dirty="0"/>
          </a:p>
        </p:txBody>
      </p:sp>
      <p:sp>
        <p:nvSpPr>
          <p:cNvPr id="11" name="Text 8"/>
          <p:cNvSpPr/>
          <p:nvPr/>
        </p:nvSpPr>
        <p:spPr>
          <a:xfrm>
            <a:off x="428625" y="1864519"/>
            <a:ext cx="2800350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987" b="1" dirty="0">
                <a:solidFill>
                  <a:srgbClr val="0047AB"/>
                </a:solidFill>
              </a:rPr>
              <a:t>Law of Large Numbers</a:t>
            </a:r>
            <a:endParaRPr lang="en-US" sz="987" dirty="0"/>
          </a:p>
        </p:txBody>
      </p:sp>
      <p:sp>
        <p:nvSpPr>
          <p:cNvPr id="12" name="Text 9"/>
          <p:cNvSpPr/>
          <p:nvPr/>
        </p:nvSpPr>
        <p:spPr>
          <a:xfrm>
            <a:off x="428625" y="2102048"/>
            <a:ext cx="2603897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</a:rPr>
              <a:t>As sample size increases, experimental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28625" y="2302073"/>
            <a:ext cx="2637048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</a:rPr>
              <a:t>probability converges to the theoretical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428625" y="2502098"/>
            <a:ext cx="753973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</a:rPr>
              <a:t>probability.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28625" y="2786063"/>
            <a:ext cx="2800350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987" b="1" dirty="0">
                <a:solidFill>
                  <a:srgbClr val="0047AB"/>
                </a:solidFill>
              </a:rPr>
              <a:t>Example</a:t>
            </a:r>
            <a:endParaRPr lang="en-US" sz="987" dirty="0"/>
          </a:p>
        </p:txBody>
      </p:sp>
      <p:sp>
        <p:nvSpPr>
          <p:cNvPr id="16" name="Text 13"/>
          <p:cNvSpPr/>
          <p:nvPr/>
        </p:nvSpPr>
        <p:spPr>
          <a:xfrm>
            <a:off x="428625" y="3023592"/>
            <a:ext cx="2794936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</a:rPr>
              <a:t>Flip a coin 100 times, observe 53 heads →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28625" y="3223617"/>
            <a:ext cx="1134015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</a:rPr>
              <a:t>P(Heads) ≈ 0.53.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28625" y="3507581"/>
            <a:ext cx="2800350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987" b="1" dirty="0">
                <a:solidFill>
                  <a:srgbClr val="0047AB"/>
                </a:solidFill>
              </a:rPr>
              <a:t>In Proteomics</a:t>
            </a:r>
            <a:endParaRPr lang="en-US" sz="987" dirty="0"/>
          </a:p>
        </p:txBody>
      </p:sp>
      <p:sp>
        <p:nvSpPr>
          <p:cNvPr id="19" name="Text 16"/>
          <p:cNvSpPr/>
          <p:nvPr/>
        </p:nvSpPr>
        <p:spPr>
          <a:xfrm>
            <a:off x="428625" y="3745111"/>
            <a:ext cx="2205298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</a:rPr>
              <a:t>Estimate detection probability by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428625" y="3945136"/>
            <a:ext cx="2549175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</a:rPr>
              <a:t>counting occurrences across technical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428625" y="4145161"/>
            <a:ext cx="2792509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</a:rPr>
              <a:t>replicates. Larger sample sizes yield more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428625" y="4345186"/>
            <a:ext cx="1223172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</a:rPr>
              <a:t>reliable estimates.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3657600" y="857250"/>
            <a:ext cx="5486400" cy="4286250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4" name="Shape 21"/>
          <p:cNvSpPr/>
          <p:nvPr/>
        </p:nvSpPr>
        <p:spPr>
          <a:xfrm>
            <a:off x="3829050" y="1351062"/>
            <a:ext cx="5143500" cy="300037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5791" y="1422499"/>
            <a:ext cx="3809991" cy="2857472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5105574" y="4494312"/>
            <a:ext cx="2590453" cy="13401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834" dirty="0">
                <a:solidFill>
                  <a:srgbClr val="FFFFFF"/>
                </a:solidFill>
              </a:rPr>
              <a:t>Simulation of 1000 coin flips showing convergence to P = 0.5</a:t>
            </a:r>
            <a:endParaRPr lang="en-US" sz="834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85750"/>
            <a:ext cx="9144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0" y="828675"/>
            <a:ext cx="9144000" cy="28575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428625" y="454521"/>
            <a:ext cx="2599599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kern="0" spc="1" dirty="0">
                <a:solidFill>
                  <a:srgbClr val="333333"/>
                </a:solidFill>
              </a:rPr>
              <a:t>The Normal Distribution</a:t>
            </a:r>
            <a:endParaRPr lang="en-US" sz="1193" dirty="0"/>
          </a:p>
        </p:txBody>
      </p:sp>
      <p:sp>
        <p:nvSpPr>
          <p:cNvPr id="6" name="Text 3"/>
          <p:cNvSpPr/>
          <p:nvPr/>
        </p:nvSpPr>
        <p:spPr>
          <a:xfrm>
            <a:off x="285750" y="1000125"/>
            <a:ext cx="4000500" cy="891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602" b="1" dirty="0">
                <a:solidFill>
                  <a:srgbClr val="0047AB"/>
                </a:solidFill>
              </a:rPr>
              <a:t>The foundation for statistical testing, characterized by Mean (μ) and Standard Deviation (σ).</a:t>
            </a:r>
            <a:endParaRPr lang="en-US" sz="1602" dirty="0"/>
          </a:p>
        </p:txBody>
      </p:sp>
      <p:sp>
        <p:nvSpPr>
          <p:cNvPr id="7" name="Text 4"/>
          <p:cNvSpPr/>
          <p:nvPr/>
        </p:nvSpPr>
        <p:spPr>
          <a:xfrm>
            <a:off x="457200" y="1988055"/>
            <a:ext cx="1208745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090" b="1" dirty="0">
                <a:solidFill>
                  <a:srgbClr val="000000"/>
                </a:solidFill>
              </a:rPr>
              <a:t>68-95-99.7 Rule:</a:t>
            </a:r>
            <a:endParaRPr lang="en-US" sz="1090" dirty="0"/>
          </a:p>
        </p:txBody>
      </p:sp>
      <p:sp>
        <p:nvSpPr>
          <p:cNvPr id="8" name="Text 5"/>
          <p:cNvSpPr/>
          <p:nvPr/>
        </p:nvSpPr>
        <p:spPr>
          <a:xfrm>
            <a:off x="457200" y="1988055"/>
            <a:ext cx="3520473" cy="465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endParaRPr lang="en-US" sz="1159" dirty="0">
              <a:solidFill>
                <a:srgbClr val="333333"/>
              </a:solidFill>
            </a:endParaRPr>
          </a:p>
          <a:p>
            <a:pPr marL="0" indent="0" algn="l">
              <a:lnSpc>
                <a:spcPts val="1900"/>
              </a:lnSpc>
              <a:buNone/>
            </a:pPr>
            <a:r>
              <a:rPr lang="en-US" sz="1159" dirty="0">
                <a:solidFill>
                  <a:srgbClr val="333333"/>
                </a:solidFill>
              </a:rPr>
              <a:t>Data falls within 1σ, 2σ, and 3σ respectively.</a:t>
            </a:r>
            <a:endParaRPr lang="en-US" sz="1159" dirty="0"/>
          </a:p>
        </p:txBody>
      </p:sp>
      <p:sp>
        <p:nvSpPr>
          <p:cNvPr id="9" name="Text 6"/>
          <p:cNvSpPr/>
          <p:nvPr/>
        </p:nvSpPr>
        <p:spPr>
          <a:xfrm>
            <a:off x="285750" y="2534552"/>
            <a:ext cx="4000500" cy="471488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159" dirty="0">
                <a:solidFill>
                  <a:srgbClr val="333333"/>
                </a:solidFill>
              </a:rPr>
              <a:t>Many biological measurements, including protein abundance, approximate this distribution (or the log of the measurements).</a:t>
            </a:r>
            <a:endParaRPr lang="en-US" sz="1159" dirty="0"/>
          </a:p>
        </p:txBody>
      </p:sp>
      <p:sp>
        <p:nvSpPr>
          <p:cNvPr id="10" name="Text 7"/>
          <p:cNvSpPr/>
          <p:nvPr/>
        </p:nvSpPr>
        <p:spPr>
          <a:xfrm>
            <a:off x="285750" y="3091765"/>
            <a:ext cx="4000500" cy="471488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159" dirty="0">
                <a:solidFill>
                  <a:srgbClr val="333333"/>
                </a:solidFill>
              </a:rPr>
              <a:t>Essential for modeling noise and calculating probabilities in proteomics.</a:t>
            </a:r>
            <a:endParaRPr lang="en-US" sz="1159" dirty="0"/>
          </a:p>
        </p:txBody>
      </p:sp>
      <p:sp>
        <p:nvSpPr>
          <p:cNvPr id="11" name="Shape 8"/>
          <p:cNvSpPr/>
          <p:nvPr/>
        </p:nvSpPr>
        <p:spPr>
          <a:xfrm>
            <a:off x="285750" y="3734702"/>
            <a:ext cx="4000500" cy="943673"/>
          </a:xfrm>
          <a:prstGeom prst="rect">
            <a:avLst/>
          </a:prstGeom>
          <a:solidFill>
            <a:srgbClr val="33333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371475" y="3820427"/>
            <a:ext cx="3829050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F3B30"/>
                </a:solidFill>
              </a:rPr>
              <a:t>Central Limit Theorem</a:t>
            </a:r>
            <a:endParaRPr lang="en-US" sz="885" dirty="0"/>
          </a:p>
        </p:txBody>
      </p:sp>
      <p:sp>
        <p:nvSpPr>
          <p:cNvPr id="13" name="Text 10"/>
          <p:cNvSpPr/>
          <p:nvPr/>
        </p:nvSpPr>
        <p:spPr>
          <a:xfrm>
            <a:off x="371475" y="4052599"/>
            <a:ext cx="3829050" cy="5400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FFFFFF"/>
                </a:solidFill>
              </a:rPr>
              <a:t>Sample means follow a normal distribution regardless of the underlying data distribution, enabling robust statistical inference.</a:t>
            </a:r>
            <a:endParaRPr lang="en-US" sz="942" dirty="0"/>
          </a:p>
        </p:txBody>
      </p:sp>
      <p:sp>
        <p:nvSpPr>
          <p:cNvPr id="14" name="Shape 11"/>
          <p:cNvSpPr/>
          <p:nvPr/>
        </p:nvSpPr>
        <p:spPr>
          <a:xfrm>
            <a:off x="4572000" y="857250"/>
            <a:ext cx="4572000" cy="428625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Shape 12"/>
          <p:cNvSpPr/>
          <p:nvPr/>
        </p:nvSpPr>
        <p:spPr>
          <a:xfrm>
            <a:off x="4714875" y="1000125"/>
            <a:ext cx="4286250" cy="4000500"/>
          </a:xfrm>
          <a:prstGeom prst="rect">
            <a:avLst/>
          </a:prstGeom>
          <a:solidFill>
            <a:srgbClr val="FFFFFF"/>
          </a:solidFill>
          <a:ln w="9144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4875" y="1393031"/>
            <a:ext cx="4286250" cy="321468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68503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85750"/>
            <a:ext cx="9144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0" y="828675"/>
            <a:ext cx="9144000" cy="28575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428625" y="454521"/>
            <a:ext cx="4347586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kern="0" spc="1" dirty="0">
                <a:solidFill>
                  <a:srgbClr val="333333"/>
                </a:solidFill>
              </a:rPr>
              <a:t>Statistical Hypothesis Testing Framework</a:t>
            </a:r>
            <a:endParaRPr lang="en-US" sz="1193" dirty="0"/>
          </a:p>
        </p:txBody>
      </p:sp>
      <p:sp>
        <p:nvSpPr>
          <p:cNvPr id="6" name="Shape 3"/>
          <p:cNvSpPr/>
          <p:nvPr/>
        </p:nvSpPr>
        <p:spPr>
          <a:xfrm>
            <a:off x="0" y="857250"/>
            <a:ext cx="4572000" cy="2155627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Shape 4"/>
          <p:cNvSpPr/>
          <p:nvPr/>
        </p:nvSpPr>
        <p:spPr>
          <a:xfrm>
            <a:off x="4564856" y="857250"/>
            <a:ext cx="7144" cy="2155627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5"/>
          <p:cNvSpPr/>
          <p:nvPr/>
        </p:nvSpPr>
        <p:spPr>
          <a:xfrm>
            <a:off x="428625" y="1000125"/>
            <a:ext cx="371475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294" b="1" kern="0" spc="-2" dirty="0">
                <a:solidFill>
                  <a:srgbClr val="333333"/>
                </a:solidFill>
              </a:rPr>
              <a:t>H₀</a:t>
            </a:r>
            <a:endParaRPr lang="en-US" sz="3294" dirty="0"/>
          </a:p>
        </p:txBody>
      </p:sp>
      <p:sp>
        <p:nvSpPr>
          <p:cNvPr id="9" name="Text 6"/>
          <p:cNvSpPr/>
          <p:nvPr/>
        </p:nvSpPr>
        <p:spPr>
          <a:xfrm>
            <a:off x="428625" y="1564481"/>
            <a:ext cx="371475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kern="0" spc="1" dirty="0">
                <a:solidFill>
                  <a:srgbClr val="333333"/>
                </a:solidFill>
              </a:rPr>
              <a:t>Null Hypothesis</a:t>
            </a:r>
            <a:endParaRPr lang="en-US" sz="1193" dirty="0"/>
          </a:p>
        </p:txBody>
      </p:sp>
      <p:sp>
        <p:nvSpPr>
          <p:cNvPr id="10" name="Text 7"/>
          <p:cNvSpPr/>
          <p:nvPr/>
        </p:nvSpPr>
        <p:spPr>
          <a:xfrm>
            <a:off x="428625" y="1869877"/>
            <a:ext cx="3214688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</a:rPr>
              <a:t>The default assumption of no effect or no difference.
</a:t>
            </a:r>
            <a:r>
              <a:rPr lang="en-US" sz="1050" i="1" dirty="0">
                <a:solidFill>
                  <a:srgbClr val="333333"/>
                </a:solidFill>
              </a:rPr>
              <a:t>Example: Protein abundance is equal between conditions.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0" y="3012877"/>
            <a:ext cx="4572000" cy="2155627"/>
          </a:xfrm>
          <a:prstGeom prst="rect">
            <a:avLst/>
          </a:prstGeom>
          <a:solidFill>
            <a:srgbClr val="0047A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428625" y="3255764"/>
            <a:ext cx="371475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294" b="1" kern="0" spc="-2" dirty="0">
                <a:solidFill>
                  <a:srgbClr val="FFFFFF"/>
                </a:solidFill>
              </a:rPr>
              <a:t>H₁</a:t>
            </a:r>
            <a:endParaRPr lang="en-US" sz="3294" dirty="0"/>
          </a:p>
        </p:txBody>
      </p:sp>
      <p:sp>
        <p:nvSpPr>
          <p:cNvPr id="13" name="Text 10"/>
          <p:cNvSpPr/>
          <p:nvPr/>
        </p:nvSpPr>
        <p:spPr>
          <a:xfrm>
            <a:off x="428625" y="3820120"/>
            <a:ext cx="371475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kern="0" spc="1" dirty="0">
                <a:solidFill>
                  <a:srgbClr val="FFFFFF"/>
                </a:solidFill>
              </a:rPr>
              <a:t>Alternative Hypothesis</a:t>
            </a:r>
            <a:endParaRPr lang="en-US" sz="1193" dirty="0"/>
          </a:p>
        </p:txBody>
      </p:sp>
      <p:sp>
        <p:nvSpPr>
          <p:cNvPr id="14" name="Text 11"/>
          <p:cNvSpPr/>
          <p:nvPr/>
        </p:nvSpPr>
        <p:spPr>
          <a:xfrm>
            <a:off x="428625" y="4125516"/>
            <a:ext cx="3214688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FFFFFF"/>
                </a:solidFill>
              </a:rPr>
              <a:t>The effect we want to detect.
</a:t>
            </a:r>
            <a:r>
              <a:rPr lang="en-US" sz="1050" i="1" dirty="0">
                <a:solidFill>
                  <a:srgbClr val="FFFFFF"/>
                </a:solidFill>
              </a:rPr>
              <a:t>Example: Protein abundance differs between conditions.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786313" y="1085850"/>
            <a:ext cx="147117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F3B30"/>
                </a:solidFill>
              </a:rPr>
              <a:t>01</a:t>
            </a:r>
            <a:endParaRPr lang="en-US" sz="885" dirty="0"/>
          </a:p>
        </p:txBody>
      </p:sp>
      <p:sp>
        <p:nvSpPr>
          <p:cNvPr id="16" name="Text 13"/>
          <p:cNvSpPr/>
          <p:nvPr/>
        </p:nvSpPr>
        <p:spPr>
          <a:xfrm>
            <a:off x="5033442" y="1071563"/>
            <a:ext cx="3896246" cy="4457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69" dirty="0">
                <a:solidFill>
                  <a:srgbClr val="000000"/>
                </a:solidFill>
              </a:rPr>
              <a:t>Collect data and calculate a </a:t>
            </a:r>
            <a:r>
              <a:rPr lang="en-US" sz="1193" b="1" dirty="0">
                <a:solidFill>
                  <a:srgbClr val="000000"/>
                </a:solidFill>
              </a:rPr>
              <a:t>test statistic</a:t>
            </a:r>
            <a:r>
              <a:rPr lang="en-US" sz="1269" dirty="0">
                <a:solidFill>
                  <a:srgbClr val="000000"/>
                </a:solidFill>
              </a:rPr>
              <a:t> that measures evidence against H₀.</a:t>
            </a:r>
            <a:endParaRPr lang="en-US" sz="1269" dirty="0"/>
          </a:p>
        </p:txBody>
      </p:sp>
      <p:sp>
        <p:nvSpPr>
          <p:cNvPr id="17" name="Text 14"/>
          <p:cNvSpPr/>
          <p:nvPr/>
        </p:nvSpPr>
        <p:spPr>
          <a:xfrm>
            <a:off x="4786313" y="1660196"/>
            <a:ext cx="147117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F3B30"/>
                </a:solidFill>
              </a:rPr>
              <a:t>02</a:t>
            </a:r>
            <a:endParaRPr lang="en-US" sz="885" dirty="0"/>
          </a:p>
        </p:txBody>
      </p:sp>
      <p:sp>
        <p:nvSpPr>
          <p:cNvPr id="18" name="Text 15"/>
          <p:cNvSpPr/>
          <p:nvPr/>
        </p:nvSpPr>
        <p:spPr>
          <a:xfrm>
            <a:off x="5033442" y="1645909"/>
            <a:ext cx="3896246" cy="4457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69" dirty="0">
                <a:solidFill>
                  <a:srgbClr val="000000"/>
                </a:solidFill>
              </a:rPr>
              <a:t>Compare the statistic to a known distribution (e.g., Normal, t-distribution).</a:t>
            </a:r>
            <a:endParaRPr lang="en-US" sz="1269" dirty="0"/>
          </a:p>
        </p:txBody>
      </p:sp>
      <p:sp>
        <p:nvSpPr>
          <p:cNvPr id="19" name="Text 16"/>
          <p:cNvSpPr/>
          <p:nvPr/>
        </p:nvSpPr>
        <p:spPr>
          <a:xfrm>
            <a:off x="4786313" y="2234543"/>
            <a:ext cx="147117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F3B30"/>
                </a:solidFill>
              </a:rPr>
              <a:t>03</a:t>
            </a:r>
            <a:endParaRPr lang="en-US" sz="885" dirty="0"/>
          </a:p>
        </p:txBody>
      </p:sp>
      <p:sp>
        <p:nvSpPr>
          <p:cNvPr id="20" name="Text 17"/>
          <p:cNvSpPr/>
          <p:nvPr/>
        </p:nvSpPr>
        <p:spPr>
          <a:xfrm>
            <a:off x="5033442" y="2220255"/>
            <a:ext cx="3896246" cy="4457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69" dirty="0">
                <a:solidFill>
                  <a:srgbClr val="000000"/>
                </a:solidFill>
              </a:rPr>
              <a:t>If evidence is strong enough (p &lt; α), </a:t>
            </a:r>
            <a:r>
              <a:rPr lang="en-US" sz="1193" b="1" dirty="0">
                <a:solidFill>
                  <a:srgbClr val="000000"/>
                </a:solidFill>
              </a:rPr>
              <a:t>reject H₀</a:t>
            </a:r>
            <a:r>
              <a:rPr lang="en-US" sz="1269" dirty="0">
                <a:solidFill>
                  <a:srgbClr val="000000"/>
                </a:solidFill>
              </a:rPr>
              <a:t> in favor of H₁.</a:t>
            </a:r>
            <a:endParaRPr lang="en-US" sz="1269" dirty="0"/>
          </a:p>
        </p:txBody>
      </p:sp>
      <p:sp>
        <p:nvSpPr>
          <p:cNvPr id="21" name="Text 18"/>
          <p:cNvSpPr/>
          <p:nvPr/>
        </p:nvSpPr>
        <p:spPr>
          <a:xfrm>
            <a:off x="4786313" y="2908902"/>
            <a:ext cx="414337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3B30"/>
                </a:solidFill>
              </a:rPr>
              <a:t>Key Principle</a:t>
            </a:r>
            <a:endParaRPr lang="en-US" sz="784" dirty="0"/>
          </a:p>
        </p:txBody>
      </p:sp>
      <p:sp>
        <p:nvSpPr>
          <p:cNvPr id="22" name="Text 19"/>
          <p:cNvSpPr/>
          <p:nvPr/>
        </p:nvSpPr>
        <p:spPr>
          <a:xfrm>
            <a:off x="4786313" y="3135716"/>
            <a:ext cx="4143375" cy="4800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000000"/>
                </a:solidFill>
              </a:rPr>
              <a:t>We never "prove" H₁ is true, we only reject or fail to reject H₀.</a:t>
            </a:r>
            <a:endParaRPr lang="en-US" sz="1397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85750"/>
            <a:ext cx="9144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0" y="828675"/>
            <a:ext cx="9144000" cy="28575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285750" y="454521"/>
            <a:ext cx="2504331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kern="0" spc="1" dirty="0">
                <a:solidFill>
                  <a:srgbClr val="333333"/>
                </a:solidFill>
              </a:rPr>
              <a:t>Understanding P-values</a:t>
            </a:r>
            <a:endParaRPr lang="en-US" sz="1193" dirty="0"/>
          </a:p>
        </p:txBody>
      </p:sp>
      <p:sp>
        <p:nvSpPr>
          <p:cNvPr id="6" name="Text 3"/>
          <p:cNvSpPr/>
          <p:nvPr/>
        </p:nvSpPr>
        <p:spPr>
          <a:xfrm>
            <a:off x="357188" y="1000125"/>
            <a:ext cx="3850481" cy="3500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808" b="1" dirty="0">
                <a:solidFill>
                  <a:srgbClr val="0047AB"/>
                </a:solidFill>
              </a:rPr>
              <a:t>P-value = P(Data | H₀)</a:t>
            </a:r>
            <a:endParaRPr lang="en-US" sz="1808" dirty="0"/>
          </a:p>
        </p:txBody>
      </p:sp>
      <p:sp>
        <p:nvSpPr>
          <p:cNvPr id="7" name="Text 4"/>
          <p:cNvSpPr/>
          <p:nvPr/>
        </p:nvSpPr>
        <p:spPr>
          <a:xfrm>
            <a:off x="357188" y="1421606"/>
            <a:ext cx="3850481" cy="7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269" dirty="0">
                <a:solidFill>
                  <a:srgbClr val="000000"/>
                </a:solidFill>
              </a:rPr>
              <a:t>The probability of observing data as extreme or more extreme than what was observed, assuming the null hypothesis is true.</a:t>
            </a:r>
            <a:endParaRPr lang="en-US" sz="1269" dirty="0"/>
          </a:p>
        </p:txBody>
      </p:sp>
      <p:sp>
        <p:nvSpPr>
          <p:cNvPr id="8" name="Text 5"/>
          <p:cNvSpPr/>
          <p:nvPr/>
        </p:nvSpPr>
        <p:spPr>
          <a:xfrm>
            <a:off x="485775" y="2320240"/>
            <a:ext cx="3721894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F3B30"/>
                </a:solidFill>
              </a:rPr>
              <a:t>Common Misconception</a:t>
            </a:r>
            <a:endParaRPr lang="en-US" sz="885" dirty="0"/>
          </a:p>
        </p:txBody>
      </p:sp>
      <p:sp>
        <p:nvSpPr>
          <p:cNvPr id="9" name="Text 6"/>
          <p:cNvSpPr/>
          <p:nvPr/>
        </p:nvSpPr>
        <p:spPr>
          <a:xfrm>
            <a:off x="485775" y="2530980"/>
            <a:ext cx="372189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333333"/>
                </a:solidFill>
              </a:rPr>
              <a:t>It is NOT the probability that the null hypothesis is true.</a:t>
            </a:r>
            <a:endParaRPr lang="en-US" sz="1090" dirty="0"/>
          </a:p>
        </p:txBody>
      </p:sp>
      <p:sp>
        <p:nvSpPr>
          <p:cNvPr id="10" name="Text 7"/>
          <p:cNvSpPr/>
          <p:nvPr/>
        </p:nvSpPr>
        <p:spPr>
          <a:xfrm>
            <a:off x="571500" y="3138199"/>
            <a:ext cx="751098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987" b="1" dirty="0">
                <a:solidFill>
                  <a:srgbClr val="555555"/>
                </a:solidFill>
              </a:rPr>
              <a:t>Threshold:</a:t>
            </a:r>
            <a:endParaRPr lang="en-US" sz="987" dirty="0"/>
          </a:p>
        </p:txBody>
      </p:sp>
      <p:sp>
        <p:nvSpPr>
          <p:cNvPr id="11" name="Text 8"/>
          <p:cNvSpPr/>
          <p:nvPr/>
        </p:nvSpPr>
        <p:spPr>
          <a:xfrm>
            <a:off x="1322598" y="3138199"/>
            <a:ext cx="2838497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555555"/>
                </a:solidFill>
              </a:rPr>
              <a:t>p &lt; 0.05 (5% significance level) is standard.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71500" y="3409662"/>
            <a:ext cx="644807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987" b="1" dirty="0">
                <a:solidFill>
                  <a:srgbClr val="555555"/>
                </a:solidFill>
              </a:rPr>
              <a:t>Decision:</a:t>
            </a:r>
            <a:endParaRPr lang="en-US" sz="987" dirty="0"/>
          </a:p>
        </p:txBody>
      </p:sp>
      <p:sp>
        <p:nvSpPr>
          <p:cNvPr id="13" name="Text 10"/>
          <p:cNvSpPr/>
          <p:nvPr/>
        </p:nvSpPr>
        <p:spPr>
          <a:xfrm>
            <a:off x="1216307" y="3409662"/>
            <a:ext cx="299136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555555"/>
                </a:solidFill>
              </a:rPr>
              <a:t>Small p-value suggests data is unlikely under H₀ → Reject H₀.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71500" y="3881149"/>
            <a:ext cx="648379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987" b="1" dirty="0">
                <a:solidFill>
                  <a:srgbClr val="555555"/>
                </a:solidFill>
              </a:rPr>
              <a:t>Example:</a:t>
            </a:r>
            <a:endParaRPr lang="en-US" sz="987" dirty="0"/>
          </a:p>
        </p:txBody>
      </p:sp>
      <p:sp>
        <p:nvSpPr>
          <p:cNvPr id="15" name="Text 12"/>
          <p:cNvSpPr/>
          <p:nvPr/>
        </p:nvSpPr>
        <p:spPr>
          <a:xfrm>
            <a:off x="1219879" y="3881149"/>
            <a:ext cx="2987790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555555"/>
                </a:solidFill>
              </a:rPr>
              <a:t>p = 0.03 means there is a 3% chance of seeing this difference by random noise alone.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572000" y="857250"/>
            <a:ext cx="4572000" cy="4286250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Shape 14"/>
          <p:cNvSpPr/>
          <p:nvPr/>
        </p:nvSpPr>
        <p:spPr>
          <a:xfrm>
            <a:off x="4714875" y="1522512"/>
            <a:ext cx="4286250" cy="2714625"/>
          </a:xfrm>
          <a:prstGeom prst="rect">
            <a:avLst/>
          </a:prstGeom>
          <a:solidFill>
            <a:srgbClr val="FFFFFF"/>
          </a:solidFill>
          <a:ln w="9144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8259" y="1522512"/>
            <a:ext cx="3619481" cy="2714597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5048901" y="4322862"/>
            <a:ext cx="361817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834" i="1" dirty="0">
                <a:solidFill>
                  <a:srgbClr val="666666"/>
                </a:solidFill>
              </a:rPr>
              <a:t>Visualizing the p-value as the tail area under the null distribution curve.</a:t>
            </a:r>
            <a:endParaRPr lang="en-US" sz="834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85750"/>
            <a:ext cx="9144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0" y="828675"/>
            <a:ext cx="9144000" cy="28575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428625" y="454521"/>
            <a:ext cx="2472435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kern="0" spc="1" dirty="0">
                <a:solidFill>
                  <a:srgbClr val="333333"/>
                </a:solidFill>
              </a:rPr>
              <a:t>Type I and Type II Errors</a:t>
            </a:r>
            <a:endParaRPr lang="en-US" sz="1193" dirty="0"/>
          </a:p>
        </p:txBody>
      </p:sp>
      <p:sp>
        <p:nvSpPr>
          <p:cNvPr id="6" name="Shape 3"/>
          <p:cNvSpPr/>
          <p:nvPr/>
        </p:nvSpPr>
        <p:spPr>
          <a:xfrm>
            <a:off x="0" y="857250"/>
            <a:ext cx="3809991" cy="428625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71488" y="1483054"/>
            <a:ext cx="3052753" cy="2518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95" b="1" dirty="0">
                <a:solidFill>
                  <a:srgbClr val="FF3B30"/>
                </a:solidFill>
              </a:rPr>
              <a:t>Type I Error (α)</a:t>
            </a:r>
            <a:endParaRPr lang="en-US" sz="1295" dirty="0"/>
          </a:p>
        </p:txBody>
      </p:sp>
      <p:sp>
        <p:nvSpPr>
          <p:cNvPr id="8" name="Text 5"/>
          <p:cNvSpPr/>
          <p:nvPr/>
        </p:nvSpPr>
        <p:spPr>
          <a:xfrm>
            <a:off x="471488" y="1749158"/>
            <a:ext cx="3052753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FF3B30"/>
                </a:solidFill>
              </a:rPr>
              <a:t>False Positive</a:t>
            </a:r>
            <a:endParaRPr lang="en-US" sz="942" dirty="0"/>
          </a:p>
        </p:txBody>
      </p:sp>
      <p:sp>
        <p:nvSpPr>
          <p:cNvPr id="9" name="Text 6"/>
          <p:cNvSpPr/>
          <p:nvPr/>
        </p:nvSpPr>
        <p:spPr>
          <a:xfrm>
            <a:off x="471488" y="1981330"/>
            <a:ext cx="1768113" cy="16652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Rejecting H₀ when it is actually true.</a:t>
            </a:r>
            <a:endParaRPr lang="en-US" sz="942" dirty="0"/>
          </a:p>
        </p:txBody>
      </p:sp>
      <p:sp>
        <p:nvSpPr>
          <p:cNvPr id="10" name="Shape 7"/>
          <p:cNvSpPr/>
          <p:nvPr/>
        </p:nvSpPr>
        <p:spPr>
          <a:xfrm>
            <a:off x="471488" y="2232785"/>
            <a:ext cx="3052753" cy="425053"/>
          </a:xfrm>
          <a:prstGeom prst="rect">
            <a:avLst/>
          </a:prstGeom>
          <a:solidFill>
            <a:srgbClr val="FFFFFF">
              <a:alpha val="50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8"/>
          <p:cNvSpPr/>
          <p:nvPr/>
        </p:nvSpPr>
        <p:spPr>
          <a:xfrm>
            <a:off x="471488" y="2232785"/>
            <a:ext cx="3052753" cy="425053"/>
          </a:xfrm>
          <a:prstGeom prst="rect">
            <a:avLst/>
          </a:prstGeom>
          <a:noFill/>
          <a:ln/>
        </p:spPr>
        <p:txBody>
          <a:bodyPr wrap="square" lIns="68072" tIns="68072" rIns="68072" bIns="68072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i="1" dirty="0">
                <a:solidFill>
                  <a:srgbClr val="555555"/>
                </a:solidFill>
              </a:rPr>
              <a:t>"Claiming a protein is differentially expressed when it's not."</a:t>
            </a:r>
            <a:endParaRPr lang="en-US" sz="834" dirty="0"/>
          </a:p>
        </p:txBody>
      </p:sp>
      <p:sp>
        <p:nvSpPr>
          <p:cNvPr id="12" name="Text 9"/>
          <p:cNvSpPr/>
          <p:nvPr/>
        </p:nvSpPr>
        <p:spPr>
          <a:xfrm>
            <a:off x="471488" y="2743563"/>
            <a:ext cx="3052753" cy="2518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95" b="1" dirty="0">
                <a:solidFill>
                  <a:srgbClr val="0047AB"/>
                </a:solidFill>
              </a:rPr>
              <a:t>Type II Error (β)</a:t>
            </a:r>
            <a:endParaRPr lang="en-US" sz="1295" dirty="0"/>
          </a:p>
        </p:txBody>
      </p:sp>
      <p:sp>
        <p:nvSpPr>
          <p:cNvPr id="13" name="Text 10"/>
          <p:cNvSpPr/>
          <p:nvPr/>
        </p:nvSpPr>
        <p:spPr>
          <a:xfrm>
            <a:off x="471488" y="3009667"/>
            <a:ext cx="3052753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0047AB"/>
                </a:solidFill>
              </a:rPr>
              <a:t>False Negative</a:t>
            </a:r>
            <a:endParaRPr lang="en-US" sz="942" dirty="0"/>
          </a:p>
        </p:txBody>
      </p:sp>
      <p:sp>
        <p:nvSpPr>
          <p:cNvPr id="14" name="Text 11"/>
          <p:cNvSpPr/>
          <p:nvPr/>
        </p:nvSpPr>
        <p:spPr>
          <a:xfrm>
            <a:off x="471488" y="3241839"/>
            <a:ext cx="3052753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Failing to reject H₀ when H₁ is true.</a:t>
            </a:r>
            <a:endParaRPr lang="en-US" sz="942" dirty="0"/>
          </a:p>
        </p:txBody>
      </p:sp>
      <p:sp>
        <p:nvSpPr>
          <p:cNvPr id="15" name="Shape 12"/>
          <p:cNvSpPr/>
          <p:nvPr/>
        </p:nvSpPr>
        <p:spPr>
          <a:xfrm>
            <a:off x="471488" y="3493294"/>
            <a:ext cx="3052753" cy="269677"/>
          </a:xfrm>
          <a:prstGeom prst="rect">
            <a:avLst/>
          </a:prstGeom>
          <a:solidFill>
            <a:srgbClr val="FFFFFF">
              <a:alpha val="50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471488" y="3493294"/>
            <a:ext cx="3052753" cy="269677"/>
          </a:xfrm>
          <a:prstGeom prst="rect">
            <a:avLst/>
          </a:prstGeom>
          <a:noFill/>
          <a:ln/>
        </p:spPr>
        <p:txBody>
          <a:bodyPr wrap="square" lIns="68072" tIns="68072" rIns="68072" bIns="68072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i="1" dirty="0">
                <a:solidFill>
                  <a:srgbClr val="555555"/>
                </a:solidFill>
              </a:rPr>
              <a:t>"Missing a truly differentially expressed protein."</a:t>
            </a:r>
            <a:endParaRPr lang="en-US" sz="834" dirty="0"/>
          </a:p>
        </p:txBody>
      </p:sp>
      <p:sp>
        <p:nvSpPr>
          <p:cNvPr id="17" name="Text 14"/>
          <p:cNvSpPr/>
          <p:nvPr/>
        </p:nvSpPr>
        <p:spPr>
          <a:xfrm>
            <a:off x="471488" y="3848695"/>
            <a:ext cx="3052753" cy="2518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95" b="1" dirty="0">
                <a:solidFill>
                  <a:srgbClr val="000000"/>
                </a:solidFill>
              </a:rPr>
              <a:t>The Trade-off</a:t>
            </a:r>
            <a:endParaRPr lang="en-US" sz="1295" dirty="0"/>
          </a:p>
        </p:txBody>
      </p:sp>
      <p:sp>
        <p:nvSpPr>
          <p:cNvPr id="18" name="Text 15"/>
          <p:cNvSpPr/>
          <p:nvPr/>
        </p:nvSpPr>
        <p:spPr>
          <a:xfrm>
            <a:off x="471488" y="4157663"/>
            <a:ext cx="3052753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Reducing Type I errors (stricter α) inevitably increases Type II errors (lower power).</a:t>
            </a:r>
            <a:endParaRPr lang="en-US" sz="942" dirty="0"/>
          </a:p>
        </p:txBody>
      </p:sp>
      <p:sp>
        <p:nvSpPr>
          <p:cNvPr id="19" name="Shape 16"/>
          <p:cNvSpPr/>
          <p:nvPr/>
        </p:nvSpPr>
        <p:spPr>
          <a:xfrm>
            <a:off x="3809991" y="857250"/>
            <a:ext cx="5333981" cy="42862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2866" y="1197080"/>
            <a:ext cx="5048231" cy="336548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4456249" y="4680049"/>
            <a:ext cx="4041437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666666"/>
                </a:solidFill>
              </a:rPr>
              <a:t>Visualizing the overlap between Null (H₀) and Alternative (H₁) distributions</a:t>
            </a:r>
            <a:endParaRPr lang="en-US" sz="784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6236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85750"/>
            <a:ext cx="9144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0" y="828675"/>
            <a:ext cx="9144000" cy="28575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428625" y="454521"/>
            <a:ext cx="3057776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kern="0" spc="1" dirty="0">
                <a:solidFill>
                  <a:srgbClr val="333333"/>
                </a:solidFill>
              </a:rPr>
              <a:t>The Multiple Testing Problem</a:t>
            </a:r>
            <a:endParaRPr lang="en-US" sz="1193" dirty="0"/>
          </a:p>
        </p:txBody>
      </p:sp>
      <p:sp>
        <p:nvSpPr>
          <p:cNvPr id="6" name="Text 3"/>
          <p:cNvSpPr/>
          <p:nvPr/>
        </p:nvSpPr>
        <p:spPr>
          <a:xfrm>
            <a:off x="428625" y="1143000"/>
            <a:ext cx="3714750" cy="11886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602" b="1" dirty="0">
                <a:solidFill>
                  <a:srgbClr val="000000"/>
                </a:solidFill>
              </a:rPr>
              <a:t>Testing thousands of proteins simultaneously inflates false positive rates dramatically without correction.</a:t>
            </a:r>
            <a:endParaRPr lang="en-US" sz="1602" dirty="0"/>
          </a:p>
        </p:txBody>
      </p:sp>
      <p:sp>
        <p:nvSpPr>
          <p:cNvPr id="7" name="Shape 4"/>
          <p:cNvSpPr/>
          <p:nvPr/>
        </p:nvSpPr>
        <p:spPr>
          <a:xfrm>
            <a:off x="428625" y="2545966"/>
            <a:ext cx="3714750" cy="1214438"/>
          </a:xfrm>
          <a:prstGeom prst="rect">
            <a:avLst/>
          </a:prstGeom>
          <a:solidFill>
            <a:srgbClr val="FFF0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Shape 5"/>
          <p:cNvSpPr/>
          <p:nvPr/>
        </p:nvSpPr>
        <p:spPr>
          <a:xfrm>
            <a:off x="428625" y="2545966"/>
            <a:ext cx="42863" cy="1214438"/>
          </a:xfrm>
          <a:prstGeom prst="rect">
            <a:avLst/>
          </a:prstGeom>
          <a:solidFill>
            <a:srgbClr val="FF3B3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571500" y="2688841"/>
            <a:ext cx="34290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3B30"/>
                </a:solidFill>
              </a:rPr>
              <a:t>The Numbers Game</a:t>
            </a:r>
            <a:endParaRPr lang="en-US" sz="784" dirty="0"/>
          </a:p>
        </p:txBody>
      </p:sp>
      <p:sp>
        <p:nvSpPr>
          <p:cNvPr id="10" name="Text 7"/>
          <p:cNvSpPr/>
          <p:nvPr/>
        </p:nvSpPr>
        <p:spPr>
          <a:xfrm>
            <a:off x="571500" y="2915655"/>
            <a:ext cx="3429000" cy="7018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33333"/>
                </a:solidFill>
              </a:rPr>
              <a:t>10,000 Proteins
 × 0.05 (α)
 = 500 False Positives</a:t>
            </a:r>
            <a:endParaRPr lang="en-US" sz="1193" dirty="0"/>
          </a:p>
        </p:txBody>
      </p:sp>
      <p:sp>
        <p:nvSpPr>
          <p:cNvPr id="11" name="Text 8"/>
          <p:cNvSpPr/>
          <p:nvPr/>
        </p:nvSpPr>
        <p:spPr>
          <a:xfrm>
            <a:off x="428625" y="4046153"/>
            <a:ext cx="3714750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47AB"/>
                </a:solidFill>
              </a:rPr>
              <a:t>Family-Wise Error Rate (FWER)</a:t>
            </a:r>
            <a:endParaRPr lang="en-US" sz="987" dirty="0"/>
          </a:p>
        </p:txBody>
      </p:sp>
      <p:sp>
        <p:nvSpPr>
          <p:cNvPr id="12" name="Text 9"/>
          <p:cNvSpPr/>
          <p:nvPr/>
        </p:nvSpPr>
        <p:spPr>
          <a:xfrm>
            <a:off x="428625" y="4276539"/>
            <a:ext cx="3714750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555555"/>
                </a:solidFill>
              </a:rPr>
              <a:t>The probability of making at least one Type I error. Without correction, FWER approaches 100% as the number of tests increases.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572000" y="857250"/>
            <a:ext cx="4572000" cy="4305114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Shape 11"/>
          <p:cNvSpPr/>
          <p:nvPr/>
        </p:nvSpPr>
        <p:spPr>
          <a:xfrm>
            <a:off x="4857750" y="1175649"/>
            <a:ext cx="4000500" cy="3214688"/>
          </a:xfrm>
          <a:prstGeom prst="rect">
            <a:avLst/>
          </a:prstGeom>
          <a:solidFill>
            <a:srgbClr val="FFFFFF"/>
          </a:solidFill>
          <a:ln w="9144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7750" y="1282805"/>
            <a:ext cx="4000500" cy="3000375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857750" y="4533212"/>
            <a:ext cx="4000500" cy="3107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834" i="1" dirty="0">
                <a:solidFill>
                  <a:srgbClr val="666666"/>
                </a:solidFill>
              </a:rPr>
              <a:t>Even with just 20 tests, the probability of at least one false positive exceeds 60%.</a:t>
            </a:r>
            <a:endParaRPr lang="en-US" sz="834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85750"/>
            <a:ext cx="9144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0" y="828675"/>
            <a:ext cx="9144000" cy="28575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428625" y="454521"/>
            <a:ext cx="2460324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kern="0" spc="1" dirty="0">
                <a:solidFill>
                  <a:srgbClr val="333333"/>
                </a:solidFill>
              </a:rPr>
              <a:t>Bonferroni Correction</a:t>
            </a:r>
            <a:endParaRPr lang="en-US" sz="1193" dirty="0"/>
          </a:p>
        </p:txBody>
      </p:sp>
      <p:sp>
        <p:nvSpPr>
          <p:cNvPr id="6" name="Shape 3"/>
          <p:cNvSpPr/>
          <p:nvPr/>
        </p:nvSpPr>
        <p:spPr>
          <a:xfrm>
            <a:off x="428625" y="1143000"/>
            <a:ext cx="3250406" cy="1238715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571500" y="1285875"/>
            <a:ext cx="654797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FF3B30"/>
                </a:solidFill>
              </a:rPr>
              <a:t>The Method</a:t>
            </a:r>
            <a:endParaRPr lang="en-US" sz="683" dirty="0"/>
          </a:p>
        </p:txBody>
      </p:sp>
      <p:sp>
        <p:nvSpPr>
          <p:cNvPr id="8" name="Text 5"/>
          <p:cNvSpPr/>
          <p:nvPr/>
        </p:nvSpPr>
        <p:spPr>
          <a:xfrm>
            <a:off x="571500" y="1457325"/>
            <a:ext cx="1524800" cy="3500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808" b="1" dirty="0">
                <a:solidFill>
                  <a:srgbClr val="FFFFFF"/>
                </a:solidFill>
              </a:rPr>
              <a:t>α_adj = α / n</a:t>
            </a:r>
            <a:endParaRPr lang="en-US" sz="1808" dirty="0"/>
          </a:p>
        </p:txBody>
      </p:sp>
      <p:sp>
        <p:nvSpPr>
          <p:cNvPr id="9" name="Text 6"/>
          <p:cNvSpPr/>
          <p:nvPr/>
        </p:nvSpPr>
        <p:spPr>
          <a:xfrm>
            <a:off x="571500" y="1878806"/>
            <a:ext cx="2063316" cy="3460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chemeClr val="bg1">
                    <a:lumMod val="95000"/>
                  </a:schemeClr>
                </a:solidFill>
              </a:rPr>
              <a:t>Example: 10,000 proteins, α = 0.05
 Threshold = 0.000005</a:t>
            </a:r>
          </a:p>
        </p:txBody>
      </p:sp>
      <p:sp>
        <p:nvSpPr>
          <p:cNvPr id="10" name="Text 7"/>
          <p:cNvSpPr/>
          <p:nvPr/>
        </p:nvSpPr>
        <p:spPr>
          <a:xfrm>
            <a:off x="428625" y="2596028"/>
            <a:ext cx="3250406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0047AB"/>
                </a:solidFill>
              </a:rPr>
              <a:t>Advantage</a:t>
            </a:r>
            <a:endParaRPr lang="en-US" sz="885" dirty="0"/>
          </a:p>
        </p:txBody>
      </p:sp>
      <p:sp>
        <p:nvSpPr>
          <p:cNvPr id="11" name="Text 8"/>
          <p:cNvSpPr/>
          <p:nvPr/>
        </p:nvSpPr>
        <p:spPr>
          <a:xfrm>
            <a:off x="428625" y="2806768"/>
            <a:ext cx="3250406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</a:rPr>
              <a:t>Simple to implement and strictly guarantees Family-Wise Error Rate (FWER) ≤ α.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28625" y="3349693"/>
            <a:ext cx="3250406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F3B30"/>
                </a:solidFill>
              </a:rPr>
              <a:t>Disadvantage</a:t>
            </a:r>
            <a:endParaRPr lang="en-US" sz="885" dirty="0"/>
          </a:p>
        </p:txBody>
      </p:sp>
      <p:sp>
        <p:nvSpPr>
          <p:cNvPr id="13" name="Text 10"/>
          <p:cNvSpPr/>
          <p:nvPr/>
        </p:nvSpPr>
        <p:spPr>
          <a:xfrm>
            <a:off x="428625" y="3560434"/>
            <a:ext cx="3250406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</a:rPr>
              <a:t>Extremely conservative. Drastically reduces statistical power and increases Type II errors (missed discoveries).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114800" y="857250"/>
            <a:ext cx="5029200" cy="4286250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Shape 12"/>
          <p:cNvSpPr/>
          <p:nvPr/>
        </p:nvSpPr>
        <p:spPr>
          <a:xfrm>
            <a:off x="4400550" y="1166217"/>
            <a:ext cx="4457700" cy="3214688"/>
          </a:xfrm>
          <a:prstGeom prst="rect">
            <a:avLst/>
          </a:prstGeom>
          <a:solidFill>
            <a:srgbClr val="FFFFFF"/>
          </a:solidFill>
          <a:ln w="9144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0550" y="1287661"/>
            <a:ext cx="4457700" cy="29718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400550" y="4523780"/>
            <a:ext cx="4457700" cy="3107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834" i="1" dirty="0">
                <a:solidFill>
                  <a:srgbClr val="666666"/>
                </a:solidFill>
              </a:rPr>
              <a:t>Comparison showing the strict Bonferroni threshold (red dashed line) vs the more adaptive FDR threshold.</a:t>
            </a:r>
            <a:endParaRPr lang="en-US" sz="834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85750"/>
            <a:ext cx="9144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0" y="828675"/>
            <a:ext cx="9144000" cy="28575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428625" y="454521"/>
            <a:ext cx="2637132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kern="0" spc="1" dirty="0">
                <a:solidFill>
                  <a:srgbClr val="333333"/>
                </a:solidFill>
              </a:rPr>
              <a:t>False Discovery Rate (FDR)</a:t>
            </a:r>
            <a:endParaRPr lang="en-US" sz="1193" dirty="0"/>
          </a:p>
        </p:txBody>
      </p:sp>
      <p:sp>
        <p:nvSpPr>
          <p:cNvPr id="6" name="Text 3"/>
          <p:cNvSpPr/>
          <p:nvPr/>
        </p:nvSpPr>
        <p:spPr>
          <a:xfrm>
            <a:off x="614363" y="1143000"/>
            <a:ext cx="3529013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0047AB"/>
                </a:solidFill>
              </a:rPr>
              <a:t>Definition</a:t>
            </a:r>
            <a:endParaRPr lang="en-US" sz="885" dirty="0"/>
          </a:p>
        </p:txBody>
      </p:sp>
      <p:sp>
        <p:nvSpPr>
          <p:cNvPr id="7" name="Text 4"/>
          <p:cNvSpPr/>
          <p:nvPr/>
        </p:nvSpPr>
        <p:spPr>
          <a:xfrm>
            <a:off x="614363" y="1353741"/>
            <a:ext cx="3529013" cy="780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397" b="1" dirty="0">
                <a:solidFill>
                  <a:srgbClr val="000000"/>
                </a:solidFill>
              </a:rPr>
              <a:t>The expected proportion of false positives among all rejected hypotheses (discoveries).</a:t>
            </a:r>
            <a:endParaRPr lang="en-US" sz="1397" dirty="0"/>
          </a:p>
        </p:txBody>
      </p:sp>
      <p:sp>
        <p:nvSpPr>
          <p:cNvPr id="8" name="Shape 5"/>
          <p:cNvSpPr/>
          <p:nvPr/>
        </p:nvSpPr>
        <p:spPr>
          <a:xfrm>
            <a:off x="428625" y="2348117"/>
            <a:ext cx="3714750" cy="1243013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607219" y="2526711"/>
            <a:ext cx="3357563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333333"/>
                </a:solidFill>
              </a:rPr>
              <a:t>Benjamini-Hochberg (BH) Procedure</a:t>
            </a:r>
            <a:endParaRPr lang="en-US" sz="1090" dirty="0"/>
          </a:p>
        </p:txBody>
      </p:sp>
      <p:sp>
        <p:nvSpPr>
          <p:cNvPr id="10" name="Text 7"/>
          <p:cNvSpPr/>
          <p:nvPr/>
        </p:nvSpPr>
        <p:spPr>
          <a:xfrm>
            <a:off x="607219" y="2812461"/>
            <a:ext cx="3357563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555555"/>
                </a:solidFill>
              </a:rPr>
              <a:t>A step-up procedure that controls FDR. It is less conservative than Bonferroni, offering higher statistical power.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428625" y="3876880"/>
            <a:ext cx="371475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3B30"/>
                </a:solidFill>
              </a:rPr>
              <a:t>Proteomics Standard</a:t>
            </a:r>
            <a:endParaRPr lang="en-US" sz="784" dirty="0"/>
          </a:p>
        </p:txBody>
      </p:sp>
      <p:sp>
        <p:nvSpPr>
          <p:cNvPr id="12" name="Text 9"/>
          <p:cNvSpPr/>
          <p:nvPr/>
        </p:nvSpPr>
        <p:spPr>
          <a:xfrm>
            <a:off x="428625" y="4067975"/>
            <a:ext cx="3714750" cy="660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159" dirty="0">
                <a:solidFill>
                  <a:srgbClr val="000000"/>
                </a:solidFill>
              </a:rPr>
              <a:t>FDR &lt; 0.05 implies we accept that 5% of our "significant" proteins may be noise in exchange for finding more true biological signals.</a:t>
            </a:r>
            <a:endParaRPr lang="en-US" sz="1159" dirty="0"/>
          </a:p>
        </p:txBody>
      </p:sp>
      <p:sp>
        <p:nvSpPr>
          <p:cNvPr id="13" name="Shape 10"/>
          <p:cNvSpPr/>
          <p:nvPr/>
        </p:nvSpPr>
        <p:spPr>
          <a:xfrm>
            <a:off x="4572000" y="857250"/>
            <a:ext cx="4572000" cy="42862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7750" y="1412286"/>
            <a:ext cx="3986213" cy="2657475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857750" y="4505920"/>
            <a:ext cx="4000500" cy="3107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834" i="1" dirty="0">
                <a:solidFill>
                  <a:srgbClr val="666666"/>
                </a:solidFill>
              </a:rPr>
              <a:t>FDR (Blue) adapts the threshold to allow more discoveries than Bonferroni (Red).</a:t>
            </a:r>
            <a:endParaRPr lang="en-US" sz="834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484949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85750"/>
            <a:ext cx="9144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0" y="828675"/>
            <a:ext cx="9144000" cy="28575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428625" y="454521"/>
            <a:ext cx="3684752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kern="0" spc="1" dirty="0">
                <a:solidFill>
                  <a:srgbClr val="333333"/>
                </a:solidFill>
              </a:rPr>
              <a:t>Confusion Matrix in Classification</a:t>
            </a:r>
            <a:endParaRPr lang="en-US" sz="1193" dirty="0"/>
          </a:p>
        </p:txBody>
      </p:sp>
      <p:sp>
        <p:nvSpPr>
          <p:cNvPr id="6" name="Shape 3"/>
          <p:cNvSpPr/>
          <p:nvPr/>
        </p:nvSpPr>
        <p:spPr>
          <a:xfrm>
            <a:off x="0" y="857250"/>
            <a:ext cx="4156351" cy="462769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28625" y="1143000"/>
            <a:ext cx="3299101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47AB"/>
                </a:solidFill>
              </a:rPr>
              <a:t>Precision (PPV)</a:t>
            </a:r>
            <a:endParaRPr lang="en-US" sz="1193" dirty="0"/>
          </a:p>
        </p:txBody>
      </p:sp>
      <p:sp>
        <p:nvSpPr>
          <p:cNvPr id="8" name="Shape 5"/>
          <p:cNvSpPr/>
          <p:nvPr/>
        </p:nvSpPr>
        <p:spPr>
          <a:xfrm>
            <a:off x="428625" y="1412677"/>
            <a:ext cx="1013575" cy="251817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428625" y="1412677"/>
            <a:ext cx="1013575" cy="251817"/>
          </a:xfrm>
          <a:prstGeom prst="rect">
            <a:avLst/>
          </a:prstGeom>
          <a:noFill/>
          <a:ln/>
        </p:spPr>
        <p:txBody>
          <a:bodyPr wrap="none" lIns="68072" tIns="34036" rIns="68072" bIns="34036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333333"/>
                </a:solidFill>
              </a:rPr>
              <a:t>TP / (TP + FP)</a:t>
            </a:r>
            <a:endParaRPr lang="en-US" sz="987" dirty="0"/>
          </a:p>
        </p:txBody>
      </p:sp>
      <p:sp>
        <p:nvSpPr>
          <p:cNvPr id="10" name="Text 7"/>
          <p:cNvSpPr/>
          <p:nvPr/>
        </p:nvSpPr>
        <p:spPr>
          <a:xfrm>
            <a:off x="428625" y="1721644"/>
            <a:ext cx="3299101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Proportion of predicted positives that are actually correct.</a:t>
            </a:r>
            <a:endParaRPr lang="en-US" sz="942" dirty="0"/>
          </a:p>
        </p:txBody>
      </p:sp>
      <p:sp>
        <p:nvSpPr>
          <p:cNvPr id="11" name="Text 8"/>
          <p:cNvSpPr/>
          <p:nvPr/>
        </p:nvSpPr>
        <p:spPr>
          <a:xfrm>
            <a:off x="428625" y="2403146"/>
            <a:ext cx="3299101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FF3B30"/>
                </a:solidFill>
              </a:rPr>
              <a:t>Recall (Sensitivity)</a:t>
            </a:r>
            <a:endParaRPr lang="en-US" sz="1193" dirty="0"/>
          </a:p>
        </p:txBody>
      </p:sp>
      <p:sp>
        <p:nvSpPr>
          <p:cNvPr id="12" name="Shape 9"/>
          <p:cNvSpPr/>
          <p:nvPr/>
        </p:nvSpPr>
        <p:spPr>
          <a:xfrm>
            <a:off x="428625" y="2672823"/>
            <a:ext cx="1040002" cy="251817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0"/>
          <p:cNvSpPr/>
          <p:nvPr/>
        </p:nvSpPr>
        <p:spPr>
          <a:xfrm>
            <a:off x="428625" y="2672823"/>
            <a:ext cx="1040002" cy="251817"/>
          </a:xfrm>
          <a:prstGeom prst="rect">
            <a:avLst/>
          </a:prstGeom>
          <a:noFill/>
          <a:ln/>
        </p:spPr>
        <p:txBody>
          <a:bodyPr wrap="none" lIns="68072" tIns="34036" rIns="68072" bIns="34036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333333"/>
                </a:solidFill>
              </a:rPr>
              <a:t>TP / (TP + FN)</a:t>
            </a:r>
            <a:endParaRPr lang="en-US" sz="987" dirty="0"/>
          </a:p>
        </p:txBody>
      </p:sp>
      <p:sp>
        <p:nvSpPr>
          <p:cNvPr id="14" name="Text 11"/>
          <p:cNvSpPr/>
          <p:nvPr/>
        </p:nvSpPr>
        <p:spPr>
          <a:xfrm>
            <a:off x="428625" y="2981790"/>
            <a:ext cx="3299101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Proportion of actual positives correctly identified.</a:t>
            </a:r>
            <a:endParaRPr lang="en-US" sz="942" dirty="0"/>
          </a:p>
        </p:txBody>
      </p:sp>
      <p:sp>
        <p:nvSpPr>
          <p:cNvPr id="15" name="Text 12"/>
          <p:cNvSpPr/>
          <p:nvPr/>
        </p:nvSpPr>
        <p:spPr>
          <a:xfrm>
            <a:off x="428625" y="3483276"/>
            <a:ext cx="3299101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33333"/>
                </a:solidFill>
              </a:rPr>
              <a:t>Specificity</a:t>
            </a:r>
            <a:endParaRPr lang="en-US" sz="1193" dirty="0"/>
          </a:p>
        </p:txBody>
      </p:sp>
      <p:sp>
        <p:nvSpPr>
          <p:cNvPr id="16" name="Shape 13"/>
          <p:cNvSpPr/>
          <p:nvPr/>
        </p:nvSpPr>
        <p:spPr>
          <a:xfrm>
            <a:off x="428625" y="3752952"/>
            <a:ext cx="1066428" cy="251817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428625" y="3752952"/>
            <a:ext cx="1066428" cy="251817"/>
          </a:xfrm>
          <a:prstGeom prst="rect">
            <a:avLst/>
          </a:prstGeom>
          <a:noFill/>
          <a:ln/>
        </p:spPr>
        <p:txBody>
          <a:bodyPr wrap="none" lIns="68072" tIns="34036" rIns="68072" bIns="34036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333333"/>
                </a:solidFill>
              </a:rPr>
              <a:t>TN / (TN + FP)</a:t>
            </a:r>
            <a:endParaRPr lang="en-US" sz="987" dirty="0"/>
          </a:p>
        </p:txBody>
      </p:sp>
      <p:sp>
        <p:nvSpPr>
          <p:cNvPr id="18" name="Text 15"/>
          <p:cNvSpPr/>
          <p:nvPr/>
        </p:nvSpPr>
        <p:spPr>
          <a:xfrm>
            <a:off x="428625" y="4061920"/>
            <a:ext cx="3299101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Proportion of actual negatives correctly identified.</a:t>
            </a:r>
            <a:endParaRPr lang="en-US" sz="942" dirty="0"/>
          </a:p>
        </p:txBody>
      </p:sp>
      <p:sp>
        <p:nvSpPr>
          <p:cNvPr id="19" name="Shape 16"/>
          <p:cNvSpPr/>
          <p:nvPr/>
        </p:nvSpPr>
        <p:spPr>
          <a:xfrm>
            <a:off x="428625" y="4634843"/>
            <a:ext cx="3299101" cy="564356"/>
          </a:xfrm>
          <a:prstGeom prst="rect">
            <a:avLst/>
          </a:prstGeom>
          <a:solidFill>
            <a:srgbClr val="33333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535781" y="4741999"/>
            <a:ext cx="3084788" cy="3500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FFFFF"/>
                </a:solidFill>
              </a:rPr>
              <a:t>Trade-off: Increasing recall often decreases precision.</a:t>
            </a:r>
            <a:endParaRPr lang="en-US" sz="885" dirty="0"/>
          </a:p>
        </p:txBody>
      </p:sp>
      <p:sp>
        <p:nvSpPr>
          <p:cNvPr id="21" name="Shape 18"/>
          <p:cNvSpPr/>
          <p:nvPr/>
        </p:nvSpPr>
        <p:spPr>
          <a:xfrm>
            <a:off x="4156351" y="857250"/>
            <a:ext cx="4987649" cy="4627699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8289" y="1349443"/>
            <a:ext cx="4163774" cy="364328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85750"/>
            <a:ext cx="9144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0" y="828675"/>
            <a:ext cx="9144000" cy="28575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428625" y="454521"/>
            <a:ext cx="2779282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kern="0" spc="1" dirty="0">
                <a:solidFill>
                  <a:srgbClr val="333333"/>
                </a:solidFill>
              </a:rPr>
              <a:t>Precision-Recall Trade-off</a:t>
            </a:r>
            <a:endParaRPr lang="en-US" sz="1193" dirty="0"/>
          </a:p>
        </p:txBody>
      </p:sp>
      <p:sp>
        <p:nvSpPr>
          <p:cNvPr id="6" name="Shape 3"/>
          <p:cNvSpPr/>
          <p:nvPr/>
        </p:nvSpPr>
        <p:spPr>
          <a:xfrm>
            <a:off x="428625" y="1329826"/>
            <a:ext cx="3299101" cy="968676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Shape 4"/>
          <p:cNvSpPr/>
          <p:nvPr/>
        </p:nvSpPr>
        <p:spPr>
          <a:xfrm>
            <a:off x="428625" y="1329826"/>
            <a:ext cx="42863" cy="968676"/>
          </a:xfrm>
          <a:prstGeom prst="rect">
            <a:avLst/>
          </a:prstGeom>
          <a:solidFill>
            <a:srgbClr val="008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5"/>
          <p:cNvSpPr/>
          <p:nvPr/>
        </p:nvSpPr>
        <p:spPr>
          <a:xfrm>
            <a:off x="700088" y="1415551"/>
            <a:ext cx="1543971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008000"/>
                </a:solidFill>
              </a:rPr>
              <a:t>Strict Threshold</a:t>
            </a:r>
            <a:endParaRPr lang="en-US" sz="1090" dirty="0"/>
          </a:p>
        </p:txBody>
      </p:sp>
      <p:sp>
        <p:nvSpPr>
          <p:cNvPr id="9" name="Text 6"/>
          <p:cNvSpPr/>
          <p:nvPr/>
        </p:nvSpPr>
        <p:spPr>
          <a:xfrm>
            <a:off x="514350" y="1672726"/>
            <a:ext cx="3127651" cy="5400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85" b="1" dirty="0">
                <a:solidFill>
                  <a:srgbClr val="333333"/>
                </a:solidFill>
              </a:rPr>
              <a:t>High Precision, Low Recall.</a:t>
            </a:r>
            <a:r>
              <a:rPr lang="en-US" sz="942" dirty="0">
                <a:solidFill>
                  <a:srgbClr val="333333"/>
                </a:solidFill>
              </a:rPr>
              <a:t>
 Few false positives, but many missed discoveries (False Negatives).</a:t>
            </a:r>
            <a:endParaRPr lang="en-US" sz="885" dirty="0"/>
          </a:p>
        </p:txBody>
      </p:sp>
      <p:sp>
        <p:nvSpPr>
          <p:cNvPr id="10" name="Shape 7"/>
          <p:cNvSpPr/>
          <p:nvPr/>
        </p:nvSpPr>
        <p:spPr>
          <a:xfrm>
            <a:off x="428625" y="2384227"/>
            <a:ext cx="3299101" cy="968676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428625" y="2384227"/>
            <a:ext cx="42863" cy="968676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700088" y="2469952"/>
            <a:ext cx="1678195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FF0000"/>
                </a:solidFill>
              </a:rPr>
              <a:t>Lenient Threshold</a:t>
            </a:r>
            <a:endParaRPr lang="en-US" sz="1090" dirty="0"/>
          </a:p>
        </p:txBody>
      </p:sp>
      <p:sp>
        <p:nvSpPr>
          <p:cNvPr id="13" name="Text 10"/>
          <p:cNvSpPr/>
          <p:nvPr/>
        </p:nvSpPr>
        <p:spPr>
          <a:xfrm>
            <a:off x="514350" y="2727127"/>
            <a:ext cx="3127651" cy="3460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85" b="1" dirty="0">
                <a:solidFill>
                  <a:srgbClr val="333333"/>
                </a:solidFill>
              </a:rPr>
              <a:t>Low Precision, High Recall.</a:t>
            </a:r>
            <a:r>
              <a:rPr lang="en-US" sz="942" dirty="0">
                <a:solidFill>
                  <a:srgbClr val="333333"/>
                </a:solidFill>
              </a:rPr>
              <a:t>
 Captures most true signals, but includes many false positives.</a:t>
            </a:r>
            <a:endParaRPr lang="en-US" sz="885" dirty="0"/>
          </a:p>
        </p:txBody>
      </p:sp>
      <p:sp>
        <p:nvSpPr>
          <p:cNvPr id="14" name="Text 11"/>
          <p:cNvSpPr/>
          <p:nvPr/>
        </p:nvSpPr>
        <p:spPr>
          <a:xfrm>
            <a:off x="528638" y="3595790"/>
            <a:ext cx="3099076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0047AB"/>
                </a:solidFill>
              </a:rPr>
              <a:t>Strategic Application</a:t>
            </a:r>
            <a:endParaRPr lang="en-US" sz="885" dirty="0"/>
          </a:p>
        </p:txBody>
      </p:sp>
      <p:sp>
        <p:nvSpPr>
          <p:cNvPr id="15" name="Text 12"/>
          <p:cNvSpPr/>
          <p:nvPr/>
        </p:nvSpPr>
        <p:spPr>
          <a:xfrm>
            <a:off x="528638" y="3827962"/>
            <a:ext cx="1074995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333333"/>
                </a:solidFill>
              </a:rPr>
              <a:t>Discovery Phase:</a:t>
            </a:r>
            <a:endParaRPr lang="en-US" sz="885" dirty="0"/>
          </a:p>
        </p:txBody>
      </p:sp>
      <p:sp>
        <p:nvSpPr>
          <p:cNvPr id="16" name="Text 13"/>
          <p:cNvSpPr/>
          <p:nvPr/>
        </p:nvSpPr>
        <p:spPr>
          <a:xfrm>
            <a:off x="528638" y="3827962"/>
            <a:ext cx="2929747" cy="3011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endParaRPr lang="en-US" sz="942" dirty="0">
              <a:solidFill>
                <a:srgbClr val="333333"/>
              </a:solidFill>
            </a:endParaRPr>
          </a:p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Favor Recall (Lenient) to cast a wide net.</a:t>
            </a:r>
            <a:endParaRPr lang="en-US" sz="942" dirty="0"/>
          </a:p>
        </p:txBody>
      </p:sp>
      <p:sp>
        <p:nvSpPr>
          <p:cNvPr id="17" name="Text 14"/>
          <p:cNvSpPr/>
          <p:nvPr/>
        </p:nvSpPr>
        <p:spPr>
          <a:xfrm>
            <a:off x="528638" y="4220868"/>
            <a:ext cx="1108174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333333"/>
                </a:solidFill>
              </a:rPr>
              <a:t>Validation Phase:</a:t>
            </a:r>
            <a:endParaRPr lang="en-US" sz="885" dirty="0"/>
          </a:p>
        </p:txBody>
      </p:sp>
      <p:sp>
        <p:nvSpPr>
          <p:cNvPr id="18" name="Text 15"/>
          <p:cNvSpPr/>
          <p:nvPr/>
        </p:nvSpPr>
        <p:spPr>
          <a:xfrm>
            <a:off x="528638" y="4220868"/>
            <a:ext cx="3087160" cy="3011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endParaRPr lang="en-US" sz="942" dirty="0">
              <a:solidFill>
                <a:srgbClr val="333333"/>
              </a:solidFill>
            </a:endParaRPr>
          </a:p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Favor Precision (Strict) to ensure reliability.</a:t>
            </a:r>
            <a:endParaRPr lang="en-US" sz="942" dirty="0"/>
          </a:p>
        </p:txBody>
      </p:sp>
      <p:sp>
        <p:nvSpPr>
          <p:cNvPr id="19" name="Shape 16"/>
          <p:cNvSpPr/>
          <p:nvPr/>
        </p:nvSpPr>
        <p:spPr>
          <a:xfrm>
            <a:off x="4156351" y="857250"/>
            <a:ext cx="4987649" cy="42862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2305" y="1351062"/>
            <a:ext cx="4095741" cy="3071785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4859145" y="4494312"/>
            <a:ext cx="358206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834" i="1" dirty="0">
                <a:solidFill>
                  <a:srgbClr val="666666"/>
                </a:solidFill>
              </a:rPr>
              <a:t>The inverse relationship between Precision (PPV) and Recall (Sensitivity)</a:t>
            </a:r>
            <a:endParaRPr lang="en-US" sz="834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75" y="-23171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85750"/>
            <a:ext cx="9144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0" y="828675"/>
            <a:ext cx="9144000" cy="28575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428625" y="454521"/>
            <a:ext cx="3080965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kern="0" spc="1" dirty="0">
                <a:solidFill>
                  <a:srgbClr val="333333"/>
                </a:solidFill>
              </a:rPr>
              <a:t>Bayes' Theorem Fundamentals</a:t>
            </a:r>
            <a:endParaRPr lang="en-US" sz="1193" dirty="0"/>
          </a:p>
        </p:txBody>
      </p:sp>
      <p:sp>
        <p:nvSpPr>
          <p:cNvPr id="6" name="Shape 3"/>
          <p:cNvSpPr/>
          <p:nvPr/>
        </p:nvSpPr>
        <p:spPr>
          <a:xfrm>
            <a:off x="0" y="857250"/>
            <a:ext cx="3657600" cy="4286250"/>
          </a:xfrm>
          <a:prstGeom prst="rect">
            <a:avLst/>
          </a:prstGeom>
          <a:solidFill>
            <a:srgbClr val="0047A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606246" y="1725216"/>
            <a:ext cx="2445093" cy="6006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5400"/>
              </a:lnSpc>
              <a:buNone/>
            </a:pPr>
            <a:r>
              <a:rPr lang="en-US" sz="2400" i="1" dirty="0">
                <a:solidFill>
                  <a:srgbClr val="FFFFFF"/>
                </a:solidFill>
              </a:rPr>
              <a:t>P(</a:t>
            </a:r>
            <a:r>
              <a:rPr lang="en-US" sz="2400" i="1" dirty="0" err="1">
                <a:solidFill>
                  <a:srgbClr val="FFFFFF"/>
                </a:solidFill>
              </a:rPr>
              <a:t>target|positive</a:t>
            </a:r>
            <a:r>
              <a:rPr lang="en-US" sz="2400" i="1" dirty="0">
                <a:solidFill>
                  <a:srgbClr val="FFFFFF"/>
                </a:solidFill>
              </a:rPr>
              <a:t>) =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25888" y="2380655"/>
            <a:ext cx="3405805" cy="643574"/>
          </a:xfrm>
          <a:prstGeom prst="rect">
            <a:avLst/>
          </a:prstGeom>
          <a:noFill/>
          <a:ln/>
        </p:spPr>
        <p:txBody>
          <a:bodyPr wrap="none" lIns="0" tIns="0" rIns="0" bIns="42545" rtlCol="0" anchor="t">
            <a:spAutoFit/>
          </a:bodyPr>
          <a:lstStyle/>
          <a:p>
            <a:pPr marL="0" indent="0" algn="ctr">
              <a:lnSpc>
                <a:spcPts val="5400"/>
              </a:lnSpc>
              <a:buNone/>
            </a:pPr>
            <a:r>
              <a:rPr lang="en-US" sz="2400" i="1" dirty="0">
                <a:solidFill>
                  <a:srgbClr val="FFFFFF"/>
                </a:solidFill>
              </a:rPr>
              <a:t>P(</a:t>
            </a:r>
            <a:r>
              <a:rPr lang="en-US" sz="2400" i="1" dirty="0" err="1">
                <a:solidFill>
                  <a:srgbClr val="FFFFFF"/>
                </a:solidFill>
              </a:rPr>
              <a:t>positive|target</a:t>
            </a:r>
            <a:r>
              <a:rPr lang="en-US" sz="2400" i="1" dirty="0">
                <a:solidFill>
                  <a:srgbClr val="FFFFFF"/>
                </a:solidFill>
              </a:rPr>
              <a:t>) P(target)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1027636" y="2958425"/>
            <a:ext cx="1311256" cy="643574"/>
          </a:xfrm>
          <a:prstGeom prst="rect">
            <a:avLst/>
          </a:prstGeom>
          <a:noFill/>
          <a:ln/>
        </p:spPr>
        <p:txBody>
          <a:bodyPr wrap="none" lIns="0" tIns="42545" rIns="0" bIns="0" rtlCol="0" anchor="t">
            <a:spAutoFit/>
          </a:bodyPr>
          <a:lstStyle/>
          <a:p>
            <a:pPr marL="0" indent="0" algn="ctr">
              <a:lnSpc>
                <a:spcPts val="5400"/>
              </a:lnSpc>
              <a:buNone/>
            </a:pPr>
            <a:r>
              <a:rPr lang="en-US" sz="2400" i="1" dirty="0">
                <a:solidFill>
                  <a:srgbClr val="FFFFFF"/>
                </a:solidFill>
              </a:rPr>
              <a:t>P(positive)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86160" y="4130873"/>
            <a:ext cx="1885280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kern="0" spc="2" dirty="0">
                <a:solidFill>
                  <a:srgbClr val="FFFFFF">
                    <a:alpha val="80000"/>
                  </a:srgbClr>
                </a:solidFill>
              </a:rPr>
              <a:t>The Logic of Inference</a:t>
            </a:r>
            <a:endParaRPr lang="en-US" sz="942" dirty="0"/>
          </a:p>
        </p:txBody>
      </p:sp>
      <p:sp>
        <p:nvSpPr>
          <p:cNvPr id="11" name="Text 8"/>
          <p:cNvSpPr/>
          <p:nvPr/>
        </p:nvSpPr>
        <p:spPr>
          <a:xfrm>
            <a:off x="3703615" y="1343905"/>
            <a:ext cx="1333571" cy="2299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>
              <a:lnSpc>
                <a:spcPts val="1900"/>
              </a:lnSpc>
              <a:buNone/>
            </a:pPr>
            <a:r>
              <a:rPr lang="en-US" sz="1397" b="1" i="1" dirty="0">
                <a:solidFill>
                  <a:srgbClr val="0047AB"/>
                </a:solidFill>
              </a:rPr>
              <a:t>P(</a:t>
            </a:r>
            <a:r>
              <a:rPr lang="en-US" sz="1397" b="1" i="1" dirty="0" err="1">
                <a:solidFill>
                  <a:srgbClr val="0047AB"/>
                </a:solidFill>
              </a:rPr>
              <a:t>target|positive</a:t>
            </a:r>
            <a:r>
              <a:rPr lang="en-US" sz="1397" b="1" i="1" dirty="0">
                <a:solidFill>
                  <a:srgbClr val="0047AB"/>
                </a:solidFill>
              </a:rPr>
              <a:t>)</a:t>
            </a:r>
            <a:endParaRPr lang="en-US" sz="1397" dirty="0"/>
          </a:p>
        </p:txBody>
      </p:sp>
      <p:sp>
        <p:nvSpPr>
          <p:cNvPr id="12" name="Text 9"/>
          <p:cNvSpPr/>
          <p:nvPr/>
        </p:nvSpPr>
        <p:spPr>
          <a:xfrm>
            <a:off x="5086350" y="1395040"/>
            <a:ext cx="2204130" cy="1680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0000"/>
                </a:solidFill>
              </a:rPr>
              <a:t>Posterior / Positive Predictive Value (PPV)</a:t>
            </a:r>
            <a:endParaRPr lang="en-US" sz="987" dirty="0"/>
          </a:p>
        </p:txBody>
      </p:sp>
      <p:sp>
        <p:nvSpPr>
          <p:cNvPr id="13" name="Text 10"/>
          <p:cNvSpPr/>
          <p:nvPr/>
        </p:nvSpPr>
        <p:spPr>
          <a:xfrm>
            <a:off x="5086350" y="1618283"/>
            <a:ext cx="3629025" cy="16715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Probability of Hypothesis given Data (The Goal).</a:t>
            </a:r>
            <a:endParaRPr lang="en-US" sz="942" dirty="0"/>
          </a:p>
        </p:txBody>
      </p:sp>
      <p:sp>
        <p:nvSpPr>
          <p:cNvPr id="14" name="Text 11"/>
          <p:cNvSpPr/>
          <p:nvPr/>
        </p:nvSpPr>
        <p:spPr>
          <a:xfrm>
            <a:off x="3689775" y="1986184"/>
            <a:ext cx="1333571" cy="2299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>
              <a:lnSpc>
                <a:spcPts val="1900"/>
              </a:lnSpc>
              <a:buNone/>
            </a:pPr>
            <a:r>
              <a:rPr lang="en-US" sz="1397" b="1" i="1" dirty="0">
                <a:solidFill>
                  <a:srgbClr val="0047AB"/>
                </a:solidFill>
              </a:rPr>
              <a:t>P(</a:t>
            </a:r>
            <a:r>
              <a:rPr lang="en-US" sz="1397" b="1" i="1" dirty="0" err="1">
                <a:solidFill>
                  <a:srgbClr val="0047AB"/>
                </a:solidFill>
              </a:rPr>
              <a:t>positive|target</a:t>
            </a:r>
            <a:r>
              <a:rPr lang="en-US" sz="1397" b="1" i="1" dirty="0">
                <a:solidFill>
                  <a:srgbClr val="0047AB"/>
                </a:solidFill>
              </a:rPr>
              <a:t>)</a:t>
            </a:r>
            <a:endParaRPr lang="en-US" sz="1397" dirty="0"/>
          </a:p>
        </p:txBody>
      </p:sp>
      <p:sp>
        <p:nvSpPr>
          <p:cNvPr id="15" name="Text 12"/>
          <p:cNvSpPr/>
          <p:nvPr/>
        </p:nvSpPr>
        <p:spPr>
          <a:xfrm>
            <a:off x="5086350" y="2026537"/>
            <a:ext cx="2393284" cy="1680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0000"/>
                </a:solidFill>
              </a:rPr>
              <a:t>Likelihood / sensitivity of the target detection</a:t>
            </a:r>
            <a:endParaRPr lang="en-US" sz="987" dirty="0"/>
          </a:p>
        </p:txBody>
      </p:sp>
      <p:sp>
        <p:nvSpPr>
          <p:cNvPr id="16" name="Text 13"/>
          <p:cNvSpPr/>
          <p:nvPr/>
        </p:nvSpPr>
        <p:spPr>
          <a:xfrm>
            <a:off x="5086350" y="2249779"/>
            <a:ext cx="3629025" cy="16715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Probability of Data given Hypothesis (The Evidence).</a:t>
            </a:r>
            <a:endParaRPr lang="en-US" sz="942" dirty="0"/>
          </a:p>
        </p:txBody>
      </p:sp>
      <p:sp>
        <p:nvSpPr>
          <p:cNvPr id="17" name="Text 14"/>
          <p:cNvSpPr/>
          <p:nvPr/>
        </p:nvSpPr>
        <p:spPr>
          <a:xfrm>
            <a:off x="4292119" y="2591978"/>
            <a:ext cx="668324" cy="2299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>
              <a:lnSpc>
                <a:spcPts val="1900"/>
              </a:lnSpc>
              <a:buNone/>
            </a:pPr>
            <a:r>
              <a:rPr lang="en-US" sz="1397" b="1" i="1" dirty="0">
                <a:solidFill>
                  <a:srgbClr val="0047AB"/>
                </a:solidFill>
              </a:rPr>
              <a:t>P(target)</a:t>
            </a:r>
            <a:endParaRPr lang="en-US" sz="1397" dirty="0"/>
          </a:p>
        </p:txBody>
      </p:sp>
      <p:sp>
        <p:nvSpPr>
          <p:cNvPr id="18" name="Text 15"/>
          <p:cNvSpPr/>
          <p:nvPr/>
        </p:nvSpPr>
        <p:spPr>
          <a:xfrm>
            <a:off x="5086350" y="2658033"/>
            <a:ext cx="3388748" cy="1680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0000"/>
                </a:solidFill>
              </a:rPr>
              <a:t>Prior / prevalence = fraction of protein whose expression change</a:t>
            </a:r>
            <a:endParaRPr lang="en-US" sz="987" dirty="0"/>
          </a:p>
        </p:txBody>
      </p:sp>
      <p:sp>
        <p:nvSpPr>
          <p:cNvPr id="19" name="Text 16"/>
          <p:cNvSpPr/>
          <p:nvPr/>
        </p:nvSpPr>
        <p:spPr>
          <a:xfrm>
            <a:off x="5086350" y="2881275"/>
            <a:ext cx="3629025" cy="16715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Initial belief about Hypothesis before seeing data.</a:t>
            </a:r>
            <a:endParaRPr lang="en-US" sz="942" dirty="0"/>
          </a:p>
        </p:txBody>
      </p:sp>
      <p:sp>
        <p:nvSpPr>
          <p:cNvPr id="20" name="Text 17"/>
          <p:cNvSpPr/>
          <p:nvPr/>
        </p:nvSpPr>
        <p:spPr>
          <a:xfrm>
            <a:off x="4210637" y="3230117"/>
            <a:ext cx="787075" cy="2299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>
              <a:lnSpc>
                <a:spcPts val="1900"/>
              </a:lnSpc>
              <a:buNone/>
            </a:pPr>
            <a:r>
              <a:rPr lang="en-US" sz="1397" b="1" i="1" dirty="0">
                <a:solidFill>
                  <a:srgbClr val="0047AB"/>
                </a:solidFill>
              </a:rPr>
              <a:t>P(positive)</a:t>
            </a:r>
            <a:endParaRPr lang="en-US" sz="1397" dirty="0"/>
          </a:p>
        </p:txBody>
      </p:sp>
      <p:sp>
        <p:nvSpPr>
          <p:cNvPr id="21" name="Text 18"/>
          <p:cNvSpPr/>
          <p:nvPr/>
        </p:nvSpPr>
        <p:spPr>
          <a:xfrm>
            <a:off x="5086350" y="3289529"/>
            <a:ext cx="3313408" cy="1680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0000"/>
                </a:solidFill>
              </a:rPr>
              <a:t>Marginal / fraction of proteins change detected (correct or not)</a:t>
            </a:r>
            <a:endParaRPr lang="en-US" sz="987" dirty="0"/>
          </a:p>
        </p:txBody>
      </p:sp>
      <p:sp>
        <p:nvSpPr>
          <p:cNvPr id="22" name="Text 19"/>
          <p:cNvSpPr/>
          <p:nvPr/>
        </p:nvSpPr>
        <p:spPr>
          <a:xfrm>
            <a:off x="5086350" y="3512772"/>
            <a:ext cx="3629025" cy="16715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Total probability of observing the Data.</a:t>
            </a:r>
            <a:endParaRPr lang="en-US" sz="942" dirty="0"/>
          </a:p>
        </p:txBody>
      </p:sp>
      <p:sp>
        <p:nvSpPr>
          <p:cNvPr id="23" name="Text 20"/>
          <p:cNvSpPr/>
          <p:nvPr/>
        </p:nvSpPr>
        <p:spPr>
          <a:xfrm>
            <a:off x="4257675" y="4037112"/>
            <a:ext cx="44577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3B30"/>
                </a:solidFill>
              </a:rPr>
              <a:t>Core Concept</a:t>
            </a:r>
            <a:endParaRPr lang="en-US" sz="784" dirty="0"/>
          </a:p>
        </p:txBody>
      </p:sp>
      <p:sp>
        <p:nvSpPr>
          <p:cNvPr id="24" name="Text 21"/>
          <p:cNvSpPr/>
          <p:nvPr/>
        </p:nvSpPr>
        <p:spPr>
          <a:xfrm>
            <a:off x="4257675" y="4228207"/>
            <a:ext cx="4457700" cy="4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090" b="1" dirty="0">
                <a:solidFill>
                  <a:srgbClr val="333333"/>
                </a:solidFill>
              </a:rPr>
              <a:t>Bayes' theorem provides a mathematical way to update our prior beliefs with new experimental evidence.</a:t>
            </a:r>
            <a:endParaRPr lang="en-US" sz="1090" dirty="0"/>
          </a:p>
        </p:txBody>
      </p:sp>
      <p:cxnSp>
        <p:nvCxnSpPr>
          <p:cNvPr id="26" name="Connecteur droit 25">
            <a:extLst>
              <a:ext uri="{FF2B5EF4-FFF2-40B4-BE49-F238E27FC236}">
                <a16:creationId xmlns:a16="http://schemas.microsoft.com/office/drawing/2014/main" id="{37437059-7CF0-4890-AEE5-A73F822BDC7E}"/>
              </a:ext>
            </a:extLst>
          </p:cNvPr>
          <p:cNvCxnSpPr>
            <a:cxnSpLocks/>
          </p:cNvCxnSpPr>
          <p:nvPr/>
        </p:nvCxnSpPr>
        <p:spPr>
          <a:xfrm>
            <a:off x="428625" y="3123605"/>
            <a:ext cx="2791571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 21">
            <a:extLst>
              <a:ext uri="{FF2B5EF4-FFF2-40B4-BE49-F238E27FC236}">
                <a16:creationId xmlns:a16="http://schemas.microsoft.com/office/drawing/2014/main" id="{F91D5F6C-67D9-5B82-D86B-91282098B1EB}"/>
              </a:ext>
            </a:extLst>
          </p:cNvPr>
          <p:cNvSpPr/>
          <p:nvPr/>
        </p:nvSpPr>
        <p:spPr>
          <a:xfrm>
            <a:off x="3762075" y="962492"/>
            <a:ext cx="3265125" cy="200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090" b="1" dirty="0">
                <a:solidFill>
                  <a:srgbClr val="333333"/>
                </a:solidFill>
              </a:rPr>
              <a:t>Target here is a protein that is over- or under-expressed</a:t>
            </a:r>
            <a:endParaRPr lang="en-US" sz="109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85750"/>
            <a:ext cx="9144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0" y="828675"/>
            <a:ext cx="9144000" cy="28575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428625" y="454521"/>
            <a:ext cx="3575363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kern="0" spc="1" dirty="0">
                <a:solidFill>
                  <a:srgbClr val="333333"/>
                </a:solidFill>
              </a:rPr>
              <a:t>Bayes' Theorem and False Positives</a:t>
            </a:r>
            <a:endParaRPr lang="en-US" sz="1193" dirty="0"/>
          </a:p>
        </p:txBody>
      </p:sp>
      <p:sp>
        <p:nvSpPr>
          <p:cNvPr id="6" name="Text 3"/>
          <p:cNvSpPr/>
          <p:nvPr/>
        </p:nvSpPr>
        <p:spPr>
          <a:xfrm>
            <a:off x="342900" y="1028700"/>
            <a:ext cx="3470551" cy="10400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397" b="1" dirty="0">
                <a:solidFill>
                  <a:srgbClr val="0047AB"/>
                </a:solidFill>
              </a:rPr>
              <a:t>Low prevalence of true positives dramatically increases false positive rates, even with accurate tests.</a:t>
            </a:r>
            <a:endParaRPr lang="en-US" sz="1397" dirty="0"/>
          </a:p>
        </p:txBody>
      </p:sp>
      <p:sp>
        <p:nvSpPr>
          <p:cNvPr id="7" name="Shape 4"/>
          <p:cNvSpPr/>
          <p:nvPr/>
        </p:nvSpPr>
        <p:spPr>
          <a:xfrm>
            <a:off x="342900" y="2197373"/>
            <a:ext cx="3470551" cy="1689497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Shape 5"/>
          <p:cNvSpPr/>
          <p:nvPr/>
        </p:nvSpPr>
        <p:spPr>
          <a:xfrm>
            <a:off x="342900" y="2197373"/>
            <a:ext cx="42863" cy="1689497"/>
          </a:xfrm>
          <a:prstGeom prst="rect">
            <a:avLst/>
          </a:prstGeom>
          <a:solidFill>
            <a:srgbClr val="FF3B3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457200" y="2311673"/>
            <a:ext cx="3241951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333333"/>
                </a:solidFill>
              </a:rPr>
              <a:t>The 1% Prevalence Problem</a:t>
            </a:r>
            <a:endParaRPr lang="en-US" sz="885" dirty="0"/>
          </a:p>
        </p:txBody>
      </p:sp>
      <p:sp>
        <p:nvSpPr>
          <p:cNvPr id="10" name="Text 7"/>
          <p:cNvSpPr/>
          <p:nvPr/>
        </p:nvSpPr>
        <p:spPr>
          <a:xfrm>
            <a:off x="457200" y="2572420"/>
            <a:ext cx="1592387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Sensitivity: </a:t>
            </a:r>
            <a:r>
              <a:rPr lang="en-US" sz="885" b="1" dirty="0">
                <a:solidFill>
                  <a:srgbClr val="000000"/>
                </a:solidFill>
              </a:rPr>
              <a:t>95%</a:t>
            </a:r>
            <a:endParaRPr lang="en-US" sz="942" dirty="0"/>
          </a:p>
        </p:txBody>
      </p:sp>
      <p:sp>
        <p:nvSpPr>
          <p:cNvPr id="11" name="Text 8"/>
          <p:cNvSpPr/>
          <p:nvPr/>
        </p:nvSpPr>
        <p:spPr>
          <a:xfrm>
            <a:off x="2106737" y="2572420"/>
            <a:ext cx="1592414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Specificity: </a:t>
            </a:r>
            <a:r>
              <a:rPr lang="en-US" sz="885" b="1" dirty="0">
                <a:solidFill>
                  <a:srgbClr val="000000"/>
                </a:solidFill>
              </a:rPr>
              <a:t>95%</a:t>
            </a:r>
            <a:endParaRPr lang="en-US" sz="942" dirty="0"/>
          </a:p>
        </p:txBody>
      </p:sp>
      <p:sp>
        <p:nvSpPr>
          <p:cNvPr id="12" name="Text 9"/>
          <p:cNvSpPr/>
          <p:nvPr/>
        </p:nvSpPr>
        <p:spPr>
          <a:xfrm>
            <a:off x="457200" y="2804592"/>
            <a:ext cx="1592387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Prevalence: </a:t>
            </a:r>
            <a:r>
              <a:rPr lang="en-US" sz="885" b="1" dirty="0">
                <a:solidFill>
                  <a:srgbClr val="000000"/>
                </a:solidFill>
              </a:rPr>
              <a:t>1%</a:t>
            </a:r>
            <a:endParaRPr lang="en-US" sz="942" dirty="0"/>
          </a:p>
        </p:txBody>
      </p:sp>
      <p:sp>
        <p:nvSpPr>
          <p:cNvPr id="13" name="Text 10"/>
          <p:cNvSpPr/>
          <p:nvPr/>
        </p:nvSpPr>
        <p:spPr>
          <a:xfrm>
            <a:off x="457200" y="3272507"/>
            <a:ext cx="2157859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333333"/>
                </a:solidFill>
              </a:rPr>
              <a:t>Positive Predictive Value (PPV)</a:t>
            </a:r>
            <a:endParaRPr lang="en-US" sz="987" dirty="0"/>
          </a:p>
        </p:txBody>
      </p:sp>
      <p:sp>
        <p:nvSpPr>
          <p:cNvPr id="14" name="Text 11"/>
          <p:cNvSpPr/>
          <p:nvPr/>
        </p:nvSpPr>
        <p:spPr>
          <a:xfrm>
            <a:off x="3063050" y="3165351"/>
            <a:ext cx="636101" cy="4089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121" b="1" dirty="0">
                <a:solidFill>
                  <a:srgbClr val="FF3B30"/>
                </a:solidFill>
              </a:rPr>
              <a:t>16%</a:t>
            </a:r>
            <a:endParaRPr lang="en-US" sz="2121" dirty="0"/>
          </a:p>
        </p:txBody>
      </p:sp>
      <p:sp>
        <p:nvSpPr>
          <p:cNvPr id="15" name="Text 12"/>
          <p:cNvSpPr/>
          <p:nvPr/>
        </p:nvSpPr>
        <p:spPr>
          <a:xfrm>
            <a:off x="457200" y="3617193"/>
            <a:ext cx="3241951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r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3B30"/>
                </a:solidFill>
              </a:rPr>
              <a:t>84% False Positives!</a:t>
            </a:r>
            <a:endParaRPr lang="en-US" sz="784" dirty="0"/>
          </a:p>
        </p:txBody>
      </p:sp>
      <p:sp>
        <p:nvSpPr>
          <p:cNvPr id="16" name="Text 13"/>
          <p:cNvSpPr/>
          <p:nvPr/>
        </p:nvSpPr>
        <p:spPr>
          <a:xfrm>
            <a:off x="342900" y="4015457"/>
            <a:ext cx="3470551" cy="5997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i="1" dirty="0">
                <a:solidFill>
                  <a:srgbClr val="333333"/>
                </a:solidFill>
              </a:rPr>
              <a:t>"In proteomics, if only 1% of proteins are truly changing, standard p-value thresholds will flood your results with noise. You need stricter controls (low FDR)."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156351" y="857250"/>
            <a:ext cx="4987649" cy="3584377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Shape 15"/>
          <p:cNvSpPr/>
          <p:nvPr/>
        </p:nvSpPr>
        <p:spPr>
          <a:xfrm>
            <a:off x="4327801" y="1028700"/>
            <a:ext cx="4644749" cy="3000375"/>
          </a:xfrm>
          <a:prstGeom prst="rect">
            <a:avLst/>
          </a:prstGeom>
          <a:solidFill>
            <a:srgbClr val="FFFFFF"/>
          </a:solidFill>
          <a:ln w="9144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9912" y="1028700"/>
            <a:ext cx="4000500" cy="3000375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4641847" y="4114800"/>
            <a:ext cx="4016629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834" i="1" dirty="0">
                <a:solidFill>
                  <a:srgbClr val="666666"/>
                </a:solidFill>
              </a:rPr>
              <a:t>As prevalence drops (x-axis), the reliability of a positive result (y-axis) plummets.</a:t>
            </a:r>
            <a:endParaRPr lang="en-US" sz="834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85750"/>
            <a:ext cx="9144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0" y="828675"/>
            <a:ext cx="9144000" cy="28575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428625" y="454521"/>
            <a:ext cx="4925532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kern="0" spc="1" dirty="0">
                <a:solidFill>
                  <a:srgbClr val="333333"/>
                </a:solidFill>
              </a:rPr>
              <a:t>Differential Expression Analysis in Proteomics</a:t>
            </a:r>
            <a:endParaRPr lang="en-US" sz="1193" dirty="0"/>
          </a:p>
        </p:txBody>
      </p:sp>
      <p:sp>
        <p:nvSpPr>
          <p:cNvPr id="6" name="Shape 3"/>
          <p:cNvSpPr/>
          <p:nvPr/>
        </p:nvSpPr>
        <p:spPr>
          <a:xfrm>
            <a:off x="0" y="857250"/>
            <a:ext cx="4156351" cy="428625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Shape 4"/>
          <p:cNvSpPr/>
          <p:nvPr/>
        </p:nvSpPr>
        <p:spPr>
          <a:xfrm>
            <a:off x="285750" y="1028700"/>
            <a:ext cx="3584851" cy="59828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Shape 5"/>
          <p:cNvSpPr/>
          <p:nvPr/>
        </p:nvSpPr>
        <p:spPr>
          <a:xfrm>
            <a:off x="285750" y="1028700"/>
            <a:ext cx="42863" cy="598289"/>
          </a:xfrm>
          <a:prstGeom prst="rect">
            <a:avLst/>
          </a:prstGeom>
          <a:solidFill>
            <a:srgbClr val="0047A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385763" y="1128713"/>
            <a:ext cx="3384826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47AB"/>
                </a:solidFill>
              </a:rPr>
              <a:t>01. Quantify</a:t>
            </a:r>
            <a:endParaRPr lang="en-US" sz="987" dirty="0"/>
          </a:p>
        </p:txBody>
      </p:sp>
      <p:sp>
        <p:nvSpPr>
          <p:cNvPr id="10" name="Text 7"/>
          <p:cNvSpPr/>
          <p:nvPr/>
        </p:nvSpPr>
        <p:spPr>
          <a:xfrm>
            <a:off x="385763" y="1351955"/>
            <a:ext cx="3384826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Measure protein abundance.</a:t>
            </a:r>
            <a:endParaRPr lang="en-US" sz="942" dirty="0"/>
          </a:p>
        </p:txBody>
      </p:sp>
      <p:sp>
        <p:nvSpPr>
          <p:cNvPr id="11" name="Shape 8"/>
          <p:cNvSpPr/>
          <p:nvPr/>
        </p:nvSpPr>
        <p:spPr>
          <a:xfrm>
            <a:off x="285750" y="1798439"/>
            <a:ext cx="3584851" cy="59828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Shape 9"/>
          <p:cNvSpPr/>
          <p:nvPr/>
        </p:nvSpPr>
        <p:spPr>
          <a:xfrm>
            <a:off x="285750" y="1798439"/>
            <a:ext cx="42863" cy="598289"/>
          </a:xfrm>
          <a:prstGeom prst="rect">
            <a:avLst/>
          </a:prstGeom>
          <a:solidFill>
            <a:srgbClr val="0047A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0"/>
          <p:cNvSpPr/>
          <p:nvPr/>
        </p:nvSpPr>
        <p:spPr>
          <a:xfrm>
            <a:off x="385763" y="1898452"/>
            <a:ext cx="3384826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47AB"/>
                </a:solidFill>
              </a:rPr>
              <a:t>02. Normalize</a:t>
            </a:r>
            <a:endParaRPr lang="en-US" sz="987" dirty="0"/>
          </a:p>
        </p:txBody>
      </p:sp>
      <p:sp>
        <p:nvSpPr>
          <p:cNvPr id="14" name="Text 11"/>
          <p:cNvSpPr/>
          <p:nvPr/>
        </p:nvSpPr>
        <p:spPr>
          <a:xfrm>
            <a:off x="385763" y="2121694"/>
            <a:ext cx="3384826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Remove technical bias.</a:t>
            </a:r>
            <a:endParaRPr lang="en-US" sz="942" dirty="0"/>
          </a:p>
        </p:txBody>
      </p:sp>
      <p:sp>
        <p:nvSpPr>
          <p:cNvPr id="15" name="Shape 12"/>
          <p:cNvSpPr/>
          <p:nvPr/>
        </p:nvSpPr>
        <p:spPr>
          <a:xfrm>
            <a:off x="285750" y="2568178"/>
            <a:ext cx="3584851" cy="59828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Shape 13"/>
          <p:cNvSpPr/>
          <p:nvPr/>
        </p:nvSpPr>
        <p:spPr>
          <a:xfrm>
            <a:off x="285750" y="2568178"/>
            <a:ext cx="42863" cy="598289"/>
          </a:xfrm>
          <a:prstGeom prst="rect">
            <a:avLst/>
          </a:prstGeom>
          <a:solidFill>
            <a:srgbClr val="0047A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385763" y="2668191"/>
            <a:ext cx="3384826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47AB"/>
                </a:solidFill>
              </a:rPr>
              <a:t>03. Statistical Testing</a:t>
            </a:r>
            <a:endParaRPr lang="en-US" sz="987" dirty="0"/>
          </a:p>
        </p:txBody>
      </p:sp>
      <p:sp>
        <p:nvSpPr>
          <p:cNvPr id="18" name="Text 15"/>
          <p:cNvSpPr/>
          <p:nvPr/>
        </p:nvSpPr>
        <p:spPr>
          <a:xfrm>
            <a:off x="385763" y="2891433"/>
            <a:ext cx="3384826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Compute p-values per protein.</a:t>
            </a:r>
            <a:endParaRPr lang="en-US" sz="942" dirty="0"/>
          </a:p>
        </p:txBody>
      </p:sp>
      <p:sp>
        <p:nvSpPr>
          <p:cNvPr id="19" name="Shape 16"/>
          <p:cNvSpPr/>
          <p:nvPr/>
        </p:nvSpPr>
        <p:spPr>
          <a:xfrm>
            <a:off x="285750" y="3337917"/>
            <a:ext cx="3584851" cy="59828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Shape 17"/>
          <p:cNvSpPr/>
          <p:nvPr/>
        </p:nvSpPr>
        <p:spPr>
          <a:xfrm>
            <a:off x="285750" y="3337917"/>
            <a:ext cx="42863" cy="598289"/>
          </a:xfrm>
          <a:prstGeom prst="rect">
            <a:avLst/>
          </a:prstGeom>
          <a:solidFill>
            <a:srgbClr val="0047A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8"/>
          <p:cNvSpPr/>
          <p:nvPr/>
        </p:nvSpPr>
        <p:spPr>
          <a:xfrm>
            <a:off x="385763" y="3437930"/>
            <a:ext cx="3384826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47AB"/>
                </a:solidFill>
              </a:rPr>
              <a:t>04. Correction</a:t>
            </a:r>
            <a:endParaRPr lang="en-US" sz="987" dirty="0"/>
          </a:p>
        </p:txBody>
      </p:sp>
      <p:sp>
        <p:nvSpPr>
          <p:cNvPr id="22" name="Text 19"/>
          <p:cNvSpPr/>
          <p:nvPr/>
        </p:nvSpPr>
        <p:spPr>
          <a:xfrm>
            <a:off x="385763" y="3661172"/>
            <a:ext cx="3384826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333333"/>
                </a:solidFill>
              </a:rPr>
              <a:t>Adjust p-values (FDR).</a:t>
            </a:r>
            <a:endParaRPr lang="en-US" sz="942" dirty="0"/>
          </a:p>
        </p:txBody>
      </p:sp>
      <p:sp>
        <p:nvSpPr>
          <p:cNvPr id="23" name="Text 20"/>
          <p:cNvSpPr/>
          <p:nvPr/>
        </p:nvSpPr>
        <p:spPr>
          <a:xfrm>
            <a:off x="4442101" y="1028700"/>
            <a:ext cx="2225083" cy="291108"/>
          </a:xfrm>
          <a:prstGeom prst="rect">
            <a:avLst/>
          </a:prstGeom>
          <a:noFill/>
          <a:ln/>
        </p:spPr>
        <p:txBody>
          <a:bodyPr wrap="none" lIns="0" tIns="0" rIns="0" bIns="51054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0000"/>
                </a:solidFill>
              </a:rPr>
              <a:t>Common Statistical Tests</a:t>
            </a:r>
            <a:endParaRPr lang="en-US" sz="1193" dirty="0"/>
          </a:p>
        </p:txBody>
      </p:sp>
      <p:sp>
        <p:nvSpPr>
          <p:cNvPr id="24" name="Text 21"/>
          <p:cNvSpPr/>
          <p:nvPr/>
        </p:nvSpPr>
        <p:spPr>
          <a:xfrm>
            <a:off x="4581572" y="1391245"/>
            <a:ext cx="428206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987" b="1" dirty="0">
                <a:solidFill>
                  <a:srgbClr val="333333"/>
                </a:solidFill>
              </a:rPr>
              <a:t>t-test:</a:t>
            </a:r>
            <a:endParaRPr lang="en-US" sz="987" dirty="0"/>
          </a:p>
        </p:txBody>
      </p:sp>
      <p:sp>
        <p:nvSpPr>
          <p:cNvPr id="25" name="Text 22"/>
          <p:cNvSpPr/>
          <p:nvPr/>
        </p:nvSpPr>
        <p:spPr>
          <a:xfrm>
            <a:off x="5009778" y="1391245"/>
            <a:ext cx="1405477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</a:rPr>
              <a:t>2-group comparison.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4581572" y="1648420"/>
            <a:ext cx="553501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987" b="1" dirty="0">
                <a:solidFill>
                  <a:srgbClr val="333333"/>
                </a:solidFill>
              </a:rPr>
              <a:t>ANOVA:</a:t>
            </a:r>
            <a:endParaRPr lang="en-US" sz="987" dirty="0"/>
          </a:p>
        </p:txBody>
      </p:sp>
      <p:sp>
        <p:nvSpPr>
          <p:cNvPr id="27" name="Text 24"/>
          <p:cNvSpPr/>
          <p:nvPr/>
        </p:nvSpPr>
        <p:spPr>
          <a:xfrm>
            <a:off x="5135073" y="1648420"/>
            <a:ext cx="713956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</a:rPr>
              <a:t>&gt;2 groups.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581572" y="1905595"/>
            <a:ext cx="494788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987" b="1" dirty="0">
                <a:solidFill>
                  <a:srgbClr val="333333"/>
                </a:solidFill>
              </a:rPr>
              <a:t>limma:</a:t>
            </a:r>
            <a:endParaRPr lang="en-US" sz="987" dirty="0"/>
          </a:p>
        </p:txBody>
      </p:sp>
      <p:sp>
        <p:nvSpPr>
          <p:cNvPr id="29" name="Text 26"/>
          <p:cNvSpPr/>
          <p:nvPr/>
        </p:nvSpPr>
        <p:spPr>
          <a:xfrm>
            <a:off x="5076360" y="1905595"/>
            <a:ext cx="2380013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</a:rPr>
              <a:t>Linear models for complex designs.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4442101" y="2248495"/>
            <a:ext cx="1515117" cy="291108"/>
          </a:xfrm>
          <a:prstGeom prst="rect">
            <a:avLst/>
          </a:prstGeom>
          <a:noFill/>
          <a:ln/>
        </p:spPr>
        <p:txBody>
          <a:bodyPr wrap="none" lIns="0" tIns="0" rIns="0" bIns="51054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0000"/>
                </a:solidFill>
              </a:rPr>
              <a:t>Key Assumptions</a:t>
            </a:r>
            <a:endParaRPr lang="en-US" sz="1193" dirty="0"/>
          </a:p>
        </p:txBody>
      </p:sp>
      <p:sp>
        <p:nvSpPr>
          <p:cNvPr id="31" name="Text 28"/>
          <p:cNvSpPr/>
          <p:nvPr/>
        </p:nvSpPr>
        <p:spPr>
          <a:xfrm>
            <a:off x="4442101" y="2611041"/>
            <a:ext cx="4416149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</a:rPr>
              <a:t>Data ~ normal (often log-transformed).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4442101" y="2868216"/>
            <a:ext cx="4416149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</a:rPr>
              <a:t>Independent samples.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4442101" y="3125391"/>
            <a:ext cx="4416149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</a:rPr>
              <a:t>Comparable group variances.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4442101" y="3468291"/>
            <a:ext cx="4416149" cy="909712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5" name="Text 32"/>
          <p:cNvSpPr/>
          <p:nvPr/>
        </p:nvSpPr>
        <p:spPr>
          <a:xfrm>
            <a:off x="4570688" y="3596878"/>
            <a:ext cx="4158974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3B30"/>
                </a:solidFill>
              </a:rPr>
              <a:t>The Goal</a:t>
            </a:r>
            <a:endParaRPr lang="en-US" sz="784" dirty="0"/>
          </a:p>
        </p:txBody>
      </p:sp>
      <p:sp>
        <p:nvSpPr>
          <p:cNvPr id="36" name="Text 33"/>
          <p:cNvSpPr/>
          <p:nvPr/>
        </p:nvSpPr>
        <p:spPr>
          <a:xfrm>
            <a:off x="4570688" y="3809405"/>
            <a:ext cx="4158974" cy="4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159" dirty="0">
                <a:solidFill>
                  <a:srgbClr val="FFFFFF"/>
                </a:solidFill>
              </a:rPr>
              <a:t>List proteins with significant fold changes and adjusted p-values to identify candidates.</a:t>
            </a:r>
            <a:endParaRPr lang="en-US" sz="1159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85750"/>
            <a:ext cx="9144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0" y="828675"/>
            <a:ext cx="9144000" cy="28575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428625" y="454521"/>
            <a:ext cx="4291803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kern="0" spc="1" dirty="0">
                <a:solidFill>
                  <a:srgbClr val="333333"/>
                </a:solidFill>
              </a:rPr>
              <a:t>Practical Example - Data Preparation in R</a:t>
            </a:r>
            <a:endParaRPr lang="en-US" sz="1193" dirty="0"/>
          </a:p>
        </p:txBody>
      </p:sp>
      <p:sp>
        <p:nvSpPr>
          <p:cNvPr id="6" name="Text 3"/>
          <p:cNvSpPr/>
          <p:nvPr/>
        </p:nvSpPr>
        <p:spPr>
          <a:xfrm>
            <a:off x="428625" y="1143000"/>
            <a:ext cx="2793206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kern="0" spc="1" dirty="0">
                <a:solidFill>
                  <a:srgbClr val="0047AB"/>
                </a:solidFill>
              </a:rPr>
              <a:t>Essential Packages</a:t>
            </a:r>
            <a:endParaRPr lang="en-US" sz="885" dirty="0"/>
          </a:p>
        </p:txBody>
      </p:sp>
      <p:sp>
        <p:nvSpPr>
          <p:cNvPr id="7" name="Shape 4"/>
          <p:cNvSpPr/>
          <p:nvPr/>
        </p:nvSpPr>
        <p:spPr>
          <a:xfrm>
            <a:off x="428625" y="1425178"/>
            <a:ext cx="568375" cy="223242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5"/>
          <p:cNvSpPr/>
          <p:nvPr/>
        </p:nvSpPr>
        <p:spPr>
          <a:xfrm>
            <a:off x="428625" y="1425178"/>
            <a:ext cx="568375" cy="223242"/>
          </a:xfrm>
          <a:prstGeom prst="rect">
            <a:avLst/>
          </a:prstGeom>
          <a:noFill/>
          <a:ln/>
        </p:spPr>
        <p:txBody>
          <a:bodyPr wrap="none" lIns="68072" tIns="17018" rIns="68072" bIns="17018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0000"/>
                </a:solidFill>
              </a:rPr>
              <a:t>limma</a:t>
            </a:r>
            <a:endParaRPr lang="en-US" sz="987" dirty="0"/>
          </a:p>
        </p:txBody>
      </p:sp>
      <p:sp>
        <p:nvSpPr>
          <p:cNvPr id="9" name="Text 6"/>
          <p:cNvSpPr/>
          <p:nvPr/>
        </p:nvSpPr>
        <p:spPr>
          <a:xfrm>
            <a:off x="1068437" y="1439466"/>
            <a:ext cx="946714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333333"/>
                </a:solidFill>
              </a:rPr>
              <a:t>Linear Models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28625" y="1719858"/>
            <a:ext cx="603954" cy="223242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8"/>
          <p:cNvSpPr/>
          <p:nvPr/>
        </p:nvSpPr>
        <p:spPr>
          <a:xfrm>
            <a:off x="428625" y="1719858"/>
            <a:ext cx="603954" cy="223242"/>
          </a:xfrm>
          <a:prstGeom prst="rect">
            <a:avLst/>
          </a:prstGeom>
          <a:noFill/>
          <a:ln/>
        </p:spPr>
        <p:txBody>
          <a:bodyPr wrap="none" lIns="68072" tIns="17018" rIns="68072" bIns="17018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0000"/>
                </a:solidFill>
              </a:rPr>
              <a:t>DEqMS</a:t>
            </a:r>
            <a:endParaRPr lang="en-US" sz="987" dirty="0"/>
          </a:p>
        </p:txBody>
      </p:sp>
      <p:sp>
        <p:nvSpPr>
          <p:cNvPr id="12" name="Text 9"/>
          <p:cNvSpPr/>
          <p:nvPr/>
        </p:nvSpPr>
        <p:spPr>
          <a:xfrm>
            <a:off x="1104016" y="1734145"/>
            <a:ext cx="1248035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333333"/>
                </a:solidFill>
              </a:rPr>
              <a:t>Variance Modeling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28625" y="2014538"/>
            <a:ext cx="661383" cy="223242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428625" y="2014538"/>
            <a:ext cx="661383" cy="223242"/>
          </a:xfrm>
          <a:prstGeom prst="rect">
            <a:avLst/>
          </a:prstGeom>
          <a:noFill/>
          <a:ln/>
        </p:spPr>
        <p:txBody>
          <a:bodyPr wrap="none" lIns="68072" tIns="17018" rIns="68072" bIns="17018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0000"/>
                </a:solidFill>
              </a:rPr>
              <a:t>ggplot2</a:t>
            </a:r>
            <a:endParaRPr lang="en-US" sz="987" dirty="0"/>
          </a:p>
        </p:txBody>
      </p:sp>
      <p:sp>
        <p:nvSpPr>
          <p:cNvPr id="15" name="Text 12"/>
          <p:cNvSpPr/>
          <p:nvPr/>
        </p:nvSpPr>
        <p:spPr>
          <a:xfrm>
            <a:off x="1161445" y="2028825"/>
            <a:ext cx="843688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333333"/>
                </a:solidFill>
              </a:rPr>
              <a:t>Visualization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428625" y="2523530"/>
            <a:ext cx="2793206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kern="0" spc="1" dirty="0">
                <a:solidFill>
                  <a:srgbClr val="0047AB"/>
                </a:solidFill>
              </a:rPr>
              <a:t>Data Structure</a:t>
            </a:r>
            <a:endParaRPr lang="en-US" sz="885" dirty="0"/>
          </a:p>
        </p:txBody>
      </p:sp>
      <p:sp>
        <p:nvSpPr>
          <p:cNvPr id="17" name="Text 14"/>
          <p:cNvSpPr/>
          <p:nvPr/>
        </p:nvSpPr>
        <p:spPr>
          <a:xfrm>
            <a:off x="428625" y="2805708"/>
            <a:ext cx="2793206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987" b="1" dirty="0">
                <a:solidFill>
                  <a:srgbClr val="555555"/>
                </a:solidFill>
              </a:rPr>
              <a:t>Expression Matrix:</a:t>
            </a:r>
            <a:r>
              <a:rPr lang="en-US" sz="1050" dirty="0">
                <a:solidFill>
                  <a:srgbClr val="555555"/>
                </a:solidFill>
              </a:rPr>
              <a:t>
 Rows = Proteins
 Columns = Samples (Replicates)</a:t>
            </a:r>
            <a:endParaRPr lang="en-US" sz="987" dirty="0"/>
          </a:p>
        </p:txBody>
      </p:sp>
      <p:sp>
        <p:nvSpPr>
          <p:cNvPr id="18" name="Text 15"/>
          <p:cNvSpPr/>
          <p:nvPr/>
        </p:nvSpPr>
        <p:spPr>
          <a:xfrm>
            <a:off x="428625" y="3691533"/>
            <a:ext cx="2793206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kern="0" spc="1" dirty="0">
                <a:solidFill>
                  <a:srgbClr val="0047AB"/>
                </a:solidFill>
              </a:rPr>
              <a:t>Workflow</a:t>
            </a:r>
            <a:endParaRPr lang="en-US" sz="885" dirty="0"/>
          </a:p>
        </p:txBody>
      </p:sp>
      <p:sp>
        <p:nvSpPr>
          <p:cNvPr id="19" name="Text 16"/>
          <p:cNvSpPr/>
          <p:nvPr/>
        </p:nvSpPr>
        <p:spPr>
          <a:xfrm>
            <a:off x="428625" y="3973711"/>
            <a:ext cx="2793206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555555"/>
                </a:solidFill>
              </a:rPr>
              <a:t>1. Import Data
 2. Filter Missing Values
 3. Normalize (Quantile/Median)
 4. Log Transformation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3650456" y="857250"/>
            <a:ext cx="5486400" cy="4286250"/>
          </a:xfrm>
          <a:prstGeom prst="rect">
            <a:avLst/>
          </a:prstGeom>
          <a:solidFill>
            <a:srgbClr val="1E1E1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8"/>
          <p:cNvSpPr/>
          <p:nvPr/>
        </p:nvSpPr>
        <p:spPr>
          <a:xfrm>
            <a:off x="3997374" y="955795"/>
            <a:ext cx="4914900" cy="3879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942" dirty="0">
                <a:solidFill>
                  <a:srgbClr val="6A9955"/>
                </a:solidFill>
              </a:rPr>
              <a:t># Load required libraries</a:t>
            </a:r>
          </a:p>
          <a:p>
            <a:pPr marL="0" indent="0" algn="l">
              <a:lnSpc>
                <a:spcPts val="1600"/>
              </a:lnSpc>
              <a:buNone/>
            </a:pPr>
            <a:r>
              <a:rPr lang="en-US" sz="942" dirty="0">
                <a:solidFill>
                  <a:srgbClr val="569CD6"/>
                </a:solidFill>
              </a:rPr>
              <a:t>library</a:t>
            </a:r>
            <a:r>
              <a:rPr lang="en-US" sz="942" dirty="0">
                <a:solidFill>
                  <a:srgbClr val="D4D4D4"/>
                </a:solidFill>
              </a:rPr>
              <a:t>(</a:t>
            </a:r>
            <a:r>
              <a:rPr lang="en-US" sz="942" dirty="0" err="1">
                <a:solidFill>
                  <a:srgbClr val="D4D4D4"/>
                </a:solidFill>
              </a:rPr>
              <a:t>limma</a:t>
            </a:r>
            <a:r>
              <a:rPr lang="en-US" sz="942" dirty="0">
                <a:solidFill>
                  <a:srgbClr val="D4D4D4"/>
                </a:solidFill>
              </a:rPr>
              <a:t>)</a:t>
            </a:r>
          </a:p>
          <a:p>
            <a:pPr marL="0" indent="0" algn="l">
              <a:lnSpc>
                <a:spcPts val="1600"/>
              </a:lnSpc>
              <a:buNone/>
            </a:pPr>
            <a:r>
              <a:rPr lang="en-US" sz="942" dirty="0">
                <a:solidFill>
                  <a:srgbClr val="569CD6"/>
                </a:solidFill>
              </a:rPr>
              <a:t>library</a:t>
            </a:r>
            <a:r>
              <a:rPr lang="en-US" sz="942" dirty="0">
                <a:solidFill>
                  <a:srgbClr val="D4D4D4"/>
                </a:solidFill>
              </a:rPr>
              <a:t>(</a:t>
            </a:r>
            <a:r>
              <a:rPr lang="en-US" sz="942" dirty="0" err="1">
                <a:solidFill>
                  <a:srgbClr val="D4D4D4"/>
                </a:solidFill>
              </a:rPr>
              <a:t>DEqMS</a:t>
            </a:r>
            <a:r>
              <a:rPr lang="en-US" sz="942" dirty="0">
                <a:solidFill>
                  <a:srgbClr val="D4D4D4"/>
                </a:solidFill>
              </a:rPr>
              <a:t>)</a:t>
            </a:r>
          </a:p>
          <a:p>
            <a:pPr marL="0" indent="0" algn="l">
              <a:lnSpc>
                <a:spcPts val="1600"/>
              </a:lnSpc>
              <a:buNone/>
            </a:pPr>
            <a:endParaRPr lang="en-US" sz="942" dirty="0">
              <a:solidFill>
                <a:srgbClr val="6A9955"/>
              </a:solidFill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942" dirty="0">
                <a:solidFill>
                  <a:srgbClr val="6A9955"/>
                </a:solidFill>
              </a:rPr>
              <a:t># 1. Load Data (Expression Matrix)</a:t>
            </a:r>
          </a:p>
          <a:p>
            <a:pPr marL="0" indent="0" algn="l">
              <a:lnSpc>
                <a:spcPts val="1600"/>
              </a:lnSpc>
              <a:buNone/>
            </a:pPr>
            <a:r>
              <a:rPr lang="en-US" sz="942" dirty="0">
                <a:solidFill>
                  <a:srgbClr val="6A9955"/>
                </a:solidFill>
              </a:rPr>
              <a:t># Rows = Proteins, Columns = Samples</a:t>
            </a:r>
            <a:endParaRPr lang="en-US" sz="942" dirty="0">
              <a:solidFill>
                <a:srgbClr val="D4D4D4"/>
              </a:solidFill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942" dirty="0">
                <a:solidFill>
                  <a:srgbClr val="D4D4D4"/>
                </a:solidFill>
              </a:rPr>
              <a:t>data &lt;-</a:t>
            </a:r>
            <a:r>
              <a:rPr lang="en-US" sz="942" dirty="0">
                <a:solidFill>
                  <a:srgbClr val="DCDCAA"/>
                </a:solidFill>
              </a:rPr>
              <a:t>read.csv</a:t>
            </a:r>
            <a:r>
              <a:rPr lang="en-US" sz="942" dirty="0">
                <a:solidFill>
                  <a:srgbClr val="D4D4D4"/>
                </a:solidFill>
              </a:rPr>
              <a:t>(</a:t>
            </a:r>
            <a:r>
              <a:rPr lang="en-US" sz="942" dirty="0">
                <a:solidFill>
                  <a:srgbClr val="CE9178"/>
                </a:solidFill>
              </a:rPr>
              <a:t>"protein_abundance.csv"</a:t>
            </a:r>
            <a:r>
              <a:rPr lang="en-US" sz="942" dirty="0">
                <a:solidFill>
                  <a:srgbClr val="D4D4D4"/>
                </a:solidFill>
              </a:rPr>
              <a:t>, row.names=</a:t>
            </a:r>
            <a:r>
              <a:rPr lang="en-US" sz="942" dirty="0">
                <a:solidFill>
                  <a:srgbClr val="B5CEA8"/>
                </a:solidFill>
              </a:rPr>
              <a:t>1</a:t>
            </a:r>
            <a:r>
              <a:rPr lang="en-US" sz="942" dirty="0">
                <a:solidFill>
                  <a:srgbClr val="D4D4D4"/>
                </a:solidFill>
              </a:rPr>
              <a:t>)</a:t>
            </a:r>
          </a:p>
          <a:p>
            <a:pPr marL="0" indent="0" algn="l">
              <a:lnSpc>
                <a:spcPts val="1600"/>
              </a:lnSpc>
              <a:buNone/>
            </a:pPr>
            <a:r>
              <a:rPr lang="en-US" sz="942" dirty="0">
                <a:solidFill>
                  <a:srgbClr val="6A9955"/>
                </a:solidFill>
              </a:rPr>
              <a:t># 2. Quality Control &amp; Filtering</a:t>
            </a:r>
          </a:p>
          <a:p>
            <a:pPr marL="0" indent="0" algn="l">
              <a:lnSpc>
                <a:spcPts val="1600"/>
              </a:lnSpc>
              <a:buNone/>
            </a:pPr>
            <a:endParaRPr lang="en-US" sz="942" dirty="0">
              <a:solidFill>
                <a:srgbClr val="6A9955"/>
              </a:solidFill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942" dirty="0">
                <a:solidFill>
                  <a:srgbClr val="6A9955"/>
                </a:solidFill>
              </a:rPr>
              <a:t># Keep proteins with valid data in at least 3 samples</a:t>
            </a:r>
            <a:endParaRPr lang="en-US" sz="942" dirty="0">
              <a:solidFill>
                <a:srgbClr val="D4D4D4"/>
              </a:solidFill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942" dirty="0" err="1">
                <a:solidFill>
                  <a:srgbClr val="D4D4D4"/>
                </a:solidFill>
              </a:rPr>
              <a:t>valid_rows</a:t>
            </a:r>
            <a:r>
              <a:rPr lang="en-US" sz="942" dirty="0">
                <a:solidFill>
                  <a:srgbClr val="D4D4D4"/>
                </a:solidFill>
              </a:rPr>
              <a:t> &lt;-</a:t>
            </a:r>
            <a:r>
              <a:rPr lang="en-US" sz="942" dirty="0">
                <a:solidFill>
                  <a:srgbClr val="DCDCAA"/>
                </a:solidFill>
              </a:rPr>
              <a:t>rowSums</a:t>
            </a:r>
            <a:r>
              <a:rPr lang="en-US" sz="942" dirty="0">
                <a:solidFill>
                  <a:srgbClr val="D4D4D4"/>
                </a:solidFill>
              </a:rPr>
              <a:t>(!</a:t>
            </a:r>
            <a:r>
              <a:rPr lang="en-US" sz="942" dirty="0">
                <a:solidFill>
                  <a:srgbClr val="DCDCAA"/>
                </a:solidFill>
              </a:rPr>
              <a:t>is.na</a:t>
            </a:r>
            <a:r>
              <a:rPr lang="en-US" sz="942" dirty="0">
                <a:solidFill>
                  <a:srgbClr val="D4D4D4"/>
                </a:solidFill>
              </a:rPr>
              <a:t>(data)) &gt;=</a:t>
            </a:r>
            <a:r>
              <a:rPr lang="en-US" sz="942" dirty="0">
                <a:solidFill>
                  <a:srgbClr val="B5CEA8"/>
                </a:solidFill>
              </a:rPr>
              <a:t>3</a:t>
            </a:r>
            <a:endParaRPr lang="en-US" sz="942" dirty="0">
              <a:solidFill>
                <a:srgbClr val="D4D4D4"/>
              </a:solidFill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942" dirty="0" err="1">
                <a:solidFill>
                  <a:srgbClr val="D4D4D4"/>
                </a:solidFill>
              </a:rPr>
              <a:t>filtered_data</a:t>
            </a:r>
            <a:r>
              <a:rPr lang="en-US" sz="942" dirty="0">
                <a:solidFill>
                  <a:srgbClr val="D4D4D4"/>
                </a:solidFill>
              </a:rPr>
              <a:t> &lt;- data[valid_rows, ]</a:t>
            </a:r>
          </a:p>
          <a:p>
            <a:pPr marL="0" indent="0" algn="l">
              <a:lnSpc>
                <a:spcPts val="1600"/>
              </a:lnSpc>
              <a:buNone/>
            </a:pPr>
            <a:endParaRPr lang="en-US" sz="942" dirty="0">
              <a:solidFill>
                <a:srgbClr val="6A9955"/>
              </a:solidFill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942" dirty="0">
                <a:solidFill>
                  <a:srgbClr val="6A9955"/>
                </a:solidFill>
              </a:rPr>
              <a:t># 3. Normalization (Quantile)</a:t>
            </a:r>
          </a:p>
          <a:p>
            <a:pPr marL="0" indent="0" algn="l">
              <a:lnSpc>
                <a:spcPts val="1600"/>
              </a:lnSpc>
              <a:buNone/>
            </a:pPr>
            <a:r>
              <a:rPr lang="en-US" sz="942" dirty="0">
                <a:solidFill>
                  <a:srgbClr val="6A9955"/>
                </a:solidFill>
              </a:rPr>
              <a:t># Corrects for technical variation between samples</a:t>
            </a:r>
            <a:endParaRPr lang="en-US" sz="942" dirty="0">
              <a:solidFill>
                <a:srgbClr val="D4D4D4"/>
              </a:solidFill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942" dirty="0" err="1">
                <a:solidFill>
                  <a:srgbClr val="D4D4D4"/>
                </a:solidFill>
              </a:rPr>
              <a:t>norm_data</a:t>
            </a:r>
            <a:r>
              <a:rPr lang="en-US" sz="942" dirty="0">
                <a:solidFill>
                  <a:srgbClr val="D4D4D4"/>
                </a:solidFill>
              </a:rPr>
              <a:t> &lt;-</a:t>
            </a:r>
            <a:r>
              <a:rPr lang="en-US" sz="942" dirty="0">
                <a:solidFill>
                  <a:srgbClr val="DCDCAA"/>
                </a:solidFill>
              </a:rPr>
              <a:t>normalizeQuantiles</a:t>
            </a:r>
            <a:r>
              <a:rPr lang="en-US" sz="942" dirty="0">
                <a:solidFill>
                  <a:srgbClr val="D4D4D4"/>
                </a:solidFill>
              </a:rPr>
              <a:t>(</a:t>
            </a:r>
            <a:r>
              <a:rPr lang="en-US" sz="942" dirty="0">
                <a:solidFill>
                  <a:srgbClr val="DCDCAA"/>
                </a:solidFill>
              </a:rPr>
              <a:t>as.matrix</a:t>
            </a:r>
            <a:r>
              <a:rPr lang="en-US" sz="942" dirty="0">
                <a:solidFill>
                  <a:srgbClr val="D4D4D4"/>
                </a:solidFill>
              </a:rPr>
              <a:t>(</a:t>
            </a:r>
            <a:r>
              <a:rPr lang="en-US" sz="942" dirty="0" err="1">
                <a:solidFill>
                  <a:srgbClr val="D4D4D4"/>
                </a:solidFill>
              </a:rPr>
              <a:t>filtered_data</a:t>
            </a:r>
            <a:r>
              <a:rPr lang="en-US" sz="942" dirty="0">
                <a:solidFill>
                  <a:srgbClr val="D4D4D4"/>
                </a:solidFill>
              </a:rPr>
              <a:t>))</a:t>
            </a:r>
          </a:p>
          <a:p>
            <a:pPr marL="0" indent="0" algn="l">
              <a:lnSpc>
                <a:spcPts val="1600"/>
              </a:lnSpc>
              <a:buNone/>
            </a:pPr>
            <a:endParaRPr lang="en-US" sz="942" dirty="0">
              <a:solidFill>
                <a:srgbClr val="6A9955"/>
              </a:solidFill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942" dirty="0">
                <a:solidFill>
                  <a:srgbClr val="6A9955"/>
                </a:solidFill>
              </a:rPr>
              <a:t># 4. Log Transformation</a:t>
            </a:r>
            <a:endParaRPr lang="en-US" sz="942" dirty="0">
              <a:solidFill>
                <a:srgbClr val="D4D4D4"/>
              </a:solidFill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942" dirty="0" err="1">
                <a:solidFill>
                  <a:srgbClr val="D4D4D4"/>
                </a:solidFill>
              </a:rPr>
              <a:t>log_data</a:t>
            </a:r>
            <a:r>
              <a:rPr lang="en-US" sz="942" dirty="0">
                <a:solidFill>
                  <a:srgbClr val="D4D4D4"/>
                </a:solidFill>
              </a:rPr>
              <a:t> &lt;-</a:t>
            </a:r>
            <a:r>
              <a:rPr lang="en-US" sz="942" dirty="0">
                <a:solidFill>
                  <a:srgbClr val="DCDCAA"/>
                </a:solidFill>
              </a:rPr>
              <a:t>log2</a:t>
            </a:r>
            <a:r>
              <a:rPr lang="en-US" sz="942" dirty="0">
                <a:solidFill>
                  <a:srgbClr val="D4D4D4"/>
                </a:solidFill>
              </a:rPr>
              <a:t>(norm_data +</a:t>
            </a:r>
            <a:r>
              <a:rPr lang="en-US" sz="942" dirty="0">
                <a:solidFill>
                  <a:srgbClr val="B5CEA8"/>
                </a:solidFill>
              </a:rPr>
              <a:t>1</a:t>
            </a:r>
            <a:r>
              <a:rPr lang="en-US" sz="942" dirty="0">
                <a:solidFill>
                  <a:srgbClr val="D4D4D4"/>
                </a:solidFill>
              </a:rPr>
              <a:t>)</a:t>
            </a:r>
            <a:endParaRPr lang="en-US" sz="942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85750"/>
            <a:ext cx="9144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0" y="828675"/>
            <a:ext cx="9144000" cy="28575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428625" y="454521"/>
            <a:ext cx="4440455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kern="0" spc="1" dirty="0">
                <a:solidFill>
                  <a:srgbClr val="333333"/>
                </a:solidFill>
              </a:rPr>
              <a:t>Practical Example - Statistical Testing in R</a:t>
            </a:r>
            <a:endParaRPr lang="en-US" sz="1193" dirty="0"/>
          </a:p>
        </p:txBody>
      </p:sp>
      <p:sp>
        <p:nvSpPr>
          <p:cNvPr id="6" name="Shape 3"/>
          <p:cNvSpPr/>
          <p:nvPr/>
        </p:nvSpPr>
        <p:spPr>
          <a:xfrm>
            <a:off x="0" y="857250"/>
            <a:ext cx="3657600" cy="428625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28625" y="1000125"/>
            <a:ext cx="2800350" cy="2400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0047AB"/>
                </a:solidFill>
              </a:rPr>
              <a:t>The limma Package</a:t>
            </a:r>
            <a:endParaRPr lang="en-US" sz="1397" dirty="0"/>
          </a:p>
        </p:txBody>
      </p:sp>
      <p:sp>
        <p:nvSpPr>
          <p:cNvPr id="8" name="Text 5"/>
          <p:cNvSpPr/>
          <p:nvPr/>
        </p:nvSpPr>
        <p:spPr>
          <a:xfrm>
            <a:off x="428625" y="1311576"/>
            <a:ext cx="28003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050" dirty="0">
                <a:solidFill>
                  <a:srgbClr val="333333"/>
                </a:solidFill>
              </a:rPr>
              <a:t>Originally designed for microarrays, </a:t>
            </a:r>
            <a:r>
              <a:rPr lang="en-US" sz="987" b="1" dirty="0">
                <a:solidFill>
                  <a:srgbClr val="333333"/>
                </a:solidFill>
              </a:rPr>
              <a:t>limma</a:t>
            </a:r>
            <a:r>
              <a:rPr lang="en-US" sz="1050" dirty="0">
                <a:solidFill>
                  <a:srgbClr val="333333"/>
                </a:solidFill>
              </a:rPr>
              <a:t> (Linear Models for Microarray Data) is the gold standard for proteomics differential expression.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428625" y="2571750"/>
            <a:ext cx="2800350" cy="4800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0047AB"/>
                </a:solidFill>
              </a:rPr>
              <a:t>Empirical Bayes Moderation</a:t>
            </a:r>
            <a:endParaRPr lang="en-US" sz="1397" dirty="0"/>
          </a:p>
        </p:txBody>
      </p:sp>
      <p:sp>
        <p:nvSpPr>
          <p:cNvPr id="10" name="Text 7"/>
          <p:cNvSpPr/>
          <p:nvPr/>
        </p:nvSpPr>
        <p:spPr>
          <a:xfrm>
            <a:off x="428625" y="2863165"/>
            <a:ext cx="2800350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050" dirty="0">
                <a:solidFill>
                  <a:srgbClr val="333333"/>
                </a:solidFill>
              </a:rPr>
              <a:t>Borrows information across all proteins to stabilize variance estimates. Critical for small-sample proteomics (n = 3 to 6).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00075" y="3734702"/>
            <a:ext cx="26289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3B30"/>
                </a:solidFill>
              </a:rPr>
              <a:t>Why it works</a:t>
            </a:r>
            <a:endParaRPr lang="en-US" sz="784" dirty="0"/>
          </a:p>
        </p:txBody>
      </p:sp>
      <p:sp>
        <p:nvSpPr>
          <p:cNvPr id="12" name="Text 9"/>
          <p:cNvSpPr/>
          <p:nvPr/>
        </p:nvSpPr>
        <p:spPr>
          <a:xfrm>
            <a:off x="600075" y="3925798"/>
            <a:ext cx="2628900" cy="584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0000"/>
                </a:solidFill>
              </a:rPr>
              <a:t>Prevents proteins with artificially low variance from appearing significant by chance.</a:t>
            </a:r>
            <a:endParaRPr lang="en-US" sz="987" dirty="0"/>
          </a:p>
        </p:txBody>
      </p:sp>
      <p:sp>
        <p:nvSpPr>
          <p:cNvPr id="13" name="Shape 10"/>
          <p:cNvSpPr/>
          <p:nvPr/>
        </p:nvSpPr>
        <p:spPr>
          <a:xfrm>
            <a:off x="3657600" y="857250"/>
            <a:ext cx="5486400" cy="4286250"/>
          </a:xfrm>
          <a:prstGeom prst="rect">
            <a:avLst/>
          </a:prstGeom>
          <a:solidFill>
            <a:srgbClr val="1E1E1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3800475" y="1868091"/>
            <a:ext cx="5200650" cy="1593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050" dirty="0">
                <a:solidFill>
                  <a:srgbClr val="6A9955"/>
                </a:solidFill>
              </a:rPr>
              <a:t># Fit linear model and contrasts, then apply </a:t>
            </a:r>
            <a:r>
              <a:rPr lang="en-US" sz="1050" dirty="0" err="1">
                <a:solidFill>
                  <a:srgbClr val="6A9955"/>
                </a:solidFill>
              </a:rPr>
              <a:t>eBayes</a:t>
            </a:r>
            <a:endParaRPr lang="en-US" sz="1050" dirty="0">
              <a:solidFill>
                <a:srgbClr val="6A9955"/>
              </a:solidFill>
            </a:endParaRPr>
          </a:p>
          <a:p>
            <a:pPr marL="0" indent="0" algn="l">
              <a:lnSpc>
                <a:spcPts val="1800"/>
              </a:lnSpc>
              <a:buNone/>
            </a:pPr>
            <a:r>
              <a:rPr lang="en-US" sz="1050" dirty="0">
                <a:solidFill>
                  <a:srgbClr val="9CDCFE"/>
                </a:solidFill>
              </a:rPr>
              <a:t>Fit </a:t>
            </a:r>
            <a:r>
              <a:rPr lang="en-US" sz="1050" dirty="0">
                <a:solidFill>
                  <a:srgbClr val="D4D4D4"/>
                </a:solidFill>
              </a:rPr>
              <a:t>&lt;- </a:t>
            </a:r>
            <a:r>
              <a:rPr lang="en-US" sz="1050" dirty="0" err="1">
                <a:solidFill>
                  <a:srgbClr val="DCDCAA"/>
                </a:solidFill>
              </a:rPr>
              <a:t>lmFit</a:t>
            </a:r>
            <a:r>
              <a:rPr lang="en-US" sz="1050" dirty="0">
                <a:solidFill>
                  <a:srgbClr val="D4D4D4"/>
                </a:solidFill>
              </a:rPr>
              <a:t>(</a:t>
            </a:r>
            <a:r>
              <a:rPr lang="en-US" sz="1050" dirty="0">
                <a:solidFill>
                  <a:srgbClr val="9CDCFE"/>
                </a:solidFill>
              </a:rPr>
              <a:t>expression_data</a:t>
            </a:r>
            <a:r>
              <a:rPr lang="en-US" sz="1050" dirty="0">
                <a:solidFill>
                  <a:srgbClr val="D4D4D4"/>
                </a:solidFill>
              </a:rPr>
              <a:t>, </a:t>
            </a:r>
            <a:r>
              <a:rPr lang="en-US" sz="1050" dirty="0">
                <a:solidFill>
                  <a:srgbClr val="9CDCFE"/>
                </a:solidFill>
              </a:rPr>
              <a:t>design</a:t>
            </a:r>
            <a:r>
              <a:rPr lang="en-US" sz="1050" dirty="0">
                <a:solidFill>
                  <a:srgbClr val="D4D4D4"/>
                </a:solidFill>
              </a:rPr>
              <a:t>)
</a:t>
            </a:r>
            <a:r>
              <a:rPr lang="en-US" sz="1050" dirty="0" err="1">
                <a:solidFill>
                  <a:srgbClr val="9CDCFE"/>
                </a:solidFill>
              </a:rPr>
              <a:t>contrast_matrix</a:t>
            </a:r>
            <a:r>
              <a:rPr lang="en-US" sz="1050" dirty="0">
                <a:solidFill>
                  <a:srgbClr val="9CDCFE"/>
                </a:solidFill>
              </a:rPr>
              <a:t> </a:t>
            </a:r>
            <a:r>
              <a:rPr lang="en-US" sz="1050" dirty="0">
                <a:solidFill>
                  <a:srgbClr val="D4D4D4"/>
                </a:solidFill>
              </a:rPr>
              <a:t>&lt;- </a:t>
            </a:r>
            <a:r>
              <a:rPr lang="en-US" sz="1050" dirty="0" err="1">
                <a:solidFill>
                  <a:srgbClr val="DCDCAA"/>
                </a:solidFill>
              </a:rPr>
              <a:t>makeContrasts</a:t>
            </a:r>
            <a:r>
              <a:rPr lang="en-US" sz="1050" dirty="0">
                <a:solidFill>
                  <a:srgbClr val="D4D4D4"/>
                </a:solidFill>
              </a:rPr>
              <a:t>(</a:t>
            </a:r>
            <a:r>
              <a:rPr lang="en-US" sz="1050" dirty="0">
                <a:solidFill>
                  <a:srgbClr val="9CDCFE"/>
                </a:solidFill>
              </a:rPr>
              <a:t>TreatmentVsControl</a:t>
            </a:r>
            <a:r>
              <a:rPr lang="en-US" sz="1050" dirty="0">
                <a:solidFill>
                  <a:srgbClr val="D4D4D4"/>
                </a:solidFill>
              </a:rPr>
              <a:t>=</a:t>
            </a:r>
            <a:r>
              <a:rPr lang="en-US" sz="1050" dirty="0">
                <a:solidFill>
                  <a:srgbClr val="9CDCFE"/>
                </a:solidFill>
              </a:rPr>
              <a:t>Treatment</a:t>
            </a:r>
            <a:r>
              <a:rPr lang="en-US" sz="1050" dirty="0">
                <a:solidFill>
                  <a:srgbClr val="D4D4D4"/>
                </a:solidFill>
              </a:rPr>
              <a:t>-</a:t>
            </a:r>
            <a:r>
              <a:rPr lang="en-US" sz="1050" dirty="0">
                <a:solidFill>
                  <a:srgbClr val="9CDCFE"/>
                </a:solidFill>
              </a:rPr>
              <a:t>Control</a:t>
            </a:r>
            <a:r>
              <a:rPr lang="en-US" sz="1050" dirty="0">
                <a:solidFill>
                  <a:srgbClr val="D4D4D4"/>
                </a:solidFill>
              </a:rPr>
              <a:t>, </a:t>
            </a:r>
            <a:r>
              <a:rPr lang="en-US" sz="1050" dirty="0">
                <a:solidFill>
                  <a:srgbClr val="9CDCFE"/>
                </a:solidFill>
              </a:rPr>
              <a:t>levels</a:t>
            </a:r>
            <a:r>
              <a:rPr lang="en-US" sz="1050" dirty="0">
                <a:solidFill>
                  <a:srgbClr val="D4D4D4"/>
                </a:solidFill>
              </a:rPr>
              <a:t>=</a:t>
            </a:r>
            <a:r>
              <a:rPr lang="en-US" sz="1050" dirty="0">
                <a:solidFill>
                  <a:srgbClr val="9CDCFE"/>
                </a:solidFill>
              </a:rPr>
              <a:t>design</a:t>
            </a:r>
            <a:r>
              <a:rPr lang="en-US" sz="1050" dirty="0">
                <a:solidFill>
                  <a:srgbClr val="D4D4D4"/>
                </a:solidFill>
              </a:rPr>
              <a:t>)
</a:t>
            </a:r>
            <a:r>
              <a:rPr lang="en-US" sz="1050" dirty="0">
                <a:solidFill>
                  <a:srgbClr val="9CDCFE"/>
                </a:solidFill>
              </a:rPr>
              <a:t>fit2 </a:t>
            </a:r>
            <a:r>
              <a:rPr lang="en-US" sz="1050" dirty="0">
                <a:solidFill>
                  <a:srgbClr val="D4D4D4"/>
                </a:solidFill>
              </a:rPr>
              <a:t>&lt;- </a:t>
            </a:r>
            <a:r>
              <a:rPr lang="en-US" sz="1050" dirty="0" err="1">
                <a:solidFill>
                  <a:srgbClr val="DCDCAA"/>
                </a:solidFill>
              </a:rPr>
              <a:t>contrasts.fit</a:t>
            </a:r>
            <a:r>
              <a:rPr lang="en-US" sz="1050" dirty="0">
                <a:solidFill>
                  <a:srgbClr val="D4D4D4"/>
                </a:solidFill>
              </a:rPr>
              <a:t>(</a:t>
            </a:r>
            <a:r>
              <a:rPr lang="en-US" sz="1050" dirty="0">
                <a:solidFill>
                  <a:srgbClr val="9CDCFE"/>
                </a:solidFill>
              </a:rPr>
              <a:t>fit</a:t>
            </a:r>
            <a:r>
              <a:rPr lang="en-US" sz="1050" dirty="0">
                <a:solidFill>
                  <a:srgbClr val="D4D4D4"/>
                </a:solidFill>
              </a:rPr>
              <a:t>, </a:t>
            </a:r>
            <a:r>
              <a:rPr lang="en-US" sz="1050" dirty="0">
                <a:solidFill>
                  <a:srgbClr val="9CDCFE"/>
                </a:solidFill>
              </a:rPr>
              <a:t>contrast_matrix</a:t>
            </a:r>
            <a:r>
              <a:rPr lang="en-US" sz="1050" dirty="0">
                <a:solidFill>
                  <a:srgbClr val="D4D4D4"/>
                </a:solidFill>
              </a:rPr>
              <a:t>)
</a:t>
            </a:r>
            <a:r>
              <a:rPr lang="en-US" sz="1050" dirty="0">
                <a:solidFill>
                  <a:srgbClr val="9CDCFE"/>
                </a:solidFill>
              </a:rPr>
              <a:t>fit2 </a:t>
            </a:r>
            <a:r>
              <a:rPr lang="en-US" sz="1050" dirty="0">
                <a:solidFill>
                  <a:srgbClr val="D4D4D4"/>
                </a:solidFill>
              </a:rPr>
              <a:t>&lt;- </a:t>
            </a:r>
            <a:r>
              <a:rPr lang="en-US" sz="1050" dirty="0" err="1">
                <a:solidFill>
                  <a:srgbClr val="DCDCAA"/>
                </a:solidFill>
              </a:rPr>
              <a:t>eBayes</a:t>
            </a:r>
            <a:r>
              <a:rPr lang="en-US" sz="1050" dirty="0">
                <a:solidFill>
                  <a:srgbClr val="D4D4D4"/>
                </a:solidFill>
              </a:rPr>
              <a:t>(</a:t>
            </a:r>
            <a:r>
              <a:rPr lang="en-US" sz="1050" dirty="0">
                <a:solidFill>
                  <a:srgbClr val="9CDCFE"/>
                </a:solidFill>
              </a:rPr>
              <a:t>fit2</a:t>
            </a:r>
            <a:r>
              <a:rPr lang="en-US" sz="1050" dirty="0">
                <a:solidFill>
                  <a:srgbClr val="D4D4D4"/>
                </a:solidFill>
              </a:rPr>
              <a:t>)
</a:t>
            </a:r>
            <a:r>
              <a:rPr lang="en-US" sz="1050" dirty="0">
                <a:solidFill>
                  <a:srgbClr val="9CDCFE"/>
                </a:solidFill>
              </a:rPr>
              <a:t>results </a:t>
            </a:r>
            <a:r>
              <a:rPr lang="en-US" sz="1050" dirty="0">
                <a:solidFill>
                  <a:srgbClr val="D4D4D4"/>
                </a:solidFill>
              </a:rPr>
              <a:t>&lt;- </a:t>
            </a:r>
            <a:r>
              <a:rPr lang="en-US" sz="1050" dirty="0" err="1">
                <a:solidFill>
                  <a:srgbClr val="DCDCAA"/>
                </a:solidFill>
              </a:rPr>
              <a:t>topTable</a:t>
            </a:r>
            <a:r>
              <a:rPr lang="en-US" sz="1050" dirty="0">
                <a:solidFill>
                  <a:srgbClr val="D4D4D4"/>
                </a:solidFill>
              </a:rPr>
              <a:t>(</a:t>
            </a:r>
            <a:r>
              <a:rPr lang="en-US" sz="1050" dirty="0">
                <a:solidFill>
                  <a:srgbClr val="9CDCFE"/>
                </a:solidFill>
              </a:rPr>
              <a:t>fit2</a:t>
            </a:r>
            <a:r>
              <a:rPr lang="en-US" sz="1050" dirty="0">
                <a:solidFill>
                  <a:srgbClr val="D4D4D4"/>
                </a:solidFill>
              </a:rPr>
              <a:t>, </a:t>
            </a:r>
            <a:r>
              <a:rPr lang="en-US" sz="1050" dirty="0">
                <a:solidFill>
                  <a:srgbClr val="9CDCFE"/>
                </a:solidFill>
              </a:rPr>
              <a:t>number</a:t>
            </a:r>
            <a:r>
              <a:rPr lang="en-US" sz="1050" dirty="0">
                <a:solidFill>
                  <a:srgbClr val="D4D4D4"/>
                </a:solidFill>
              </a:rPr>
              <a:t>=</a:t>
            </a:r>
            <a:r>
              <a:rPr lang="en-US" sz="1050" dirty="0">
                <a:solidFill>
                  <a:srgbClr val="569CD6"/>
                </a:solidFill>
              </a:rPr>
              <a:t>Inf</a:t>
            </a:r>
            <a:r>
              <a:rPr lang="en-US" sz="1050" dirty="0">
                <a:solidFill>
                  <a:srgbClr val="D4D4D4"/>
                </a:solidFill>
              </a:rPr>
              <a:t>)
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3800475" y="3832622"/>
            <a:ext cx="2528888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FFFFFF"/>
                </a:solidFill>
              </a:rPr>
              <a:t>lmFit()</a:t>
            </a:r>
            <a:endParaRPr lang="en-US" sz="683" dirty="0"/>
          </a:p>
        </p:txBody>
      </p:sp>
      <p:sp>
        <p:nvSpPr>
          <p:cNvPr id="16" name="Text 13"/>
          <p:cNvSpPr/>
          <p:nvPr/>
        </p:nvSpPr>
        <p:spPr>
          <a:xfrm>
            <a:off x="3800475" y="3996928"/>
            <a:ext cx="1665610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888888"/>
                </a:solidFill>
              </a:rPr>
              <a:t>Fits a linear model for each protein.</a:t>
            </a:r>
            <a:endParaRPr lang="en-US" sz="727" dirty="0"/>
          </a:p>
        </p:txBody>
      </p:sp>
      <p:sp>
        <p:nvSpPr>
          <p:cNvPr id="17" name="Text 14"/>
          <p:cNvSpPr/>
          <p:nvPr/>
        </p:nvSpPr>
        <p:spPr>
          <a:xfrm>
            <a:off x="6472238" y="3832622"/>
            <a:ext cx="2528888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FFFFFF"/>
                </a:solidFill>
              </a:rPr>
              <a:t>eBayes()</a:t>
            </a:r>
            <a:endParaRPr lang="en-US" sz="683" dirty="0"/>
          </a:p>
        </p:txBody>
      </p:sp>
      <p:sp>
        <p:nvSpPr>
          <p:cNvPr id="18" name="Text 15"/>
          <p:cNvSpPr/>
          <p:nvPr/>
        </p:nvSpPr>
        <p:spPr>
          <a:xfrm>
            <a:off x="6472238" y="3996928"/>
            <a:ext cx="2181188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888888"/>
                </a:solidFill>
              </a:rPr>
              <a:t>Computes moderated t-statistics and p-values.</a:t>
            </a:r>
            <a:endParaRPr lang="en-US" sz="727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85750"/>
            <a:ext cx="9144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0" y="828675"/>
            <a:ext cx="9144000" cy="28575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428625" y="454521"/>
            <a:ext cx="5470243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kern="0" spc="1" dirty="0">
                <a:solidFill>
                  <a:srgbClr val="333333"/>
                </a:solidFill>
              </a:rPr>
              <a:t>Practical Example - Multiple Testing Correction in R</a:t>
            </a:r>
            <a:endParaRPr lang="en-US" sz="1193" dirty="0"/>
          </a:p>
        </p:txBody>
      </p:sp>
      <p:sp>
        <p:nvSpPr>
          <p:cNvPr id="6" name="Shape 3"/>
          <p:cNvSpPr/>
          <p:nvPr/>
        </p:nvSpPr>
        <p:spPr>
          <a:xfrm>
            <a:off x="0" y="857250"/>
            <a:ext cx="3657600" cy="428625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285750" y="1000125"/>
            <a:ext cx="3086100" cy="2400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0047AB"/>
                </a:solidFill>
              </a:rPr>
              <a:t>The p.adjust() Function</a:t>
            </a:r>
            <a:endParaRPr lang="en-US" sz="1397" dirty="0"/>
          </a:p>
        </p:txBody>
      </p:sp>
      <p:sp>
        <p:nvSpPr>
          <p:cNvPr id="8" name="Text 5"/>
          <p:cNvSpPr/>
          <p:nvPr/>
        </p:nvSpPr>
        <p:spPr>
          <a:xfrm>
            <a:off x="285750" y="1297288"/>
            <a:ext cx="308610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</a:rPr>
              <a:t>R's built-in function to adjust raw p-values using various methods. For proteomics, </a:t>
            </a:r>
            <a:r>
              <a:rPr lang="en-US" sz="987" b="1" dirty="0">
                <a:solidFill>
                  <a:srgbClr val="333333"/>
                </a:solidFill>
              </a:rPr>
              <a:t>"BH" (Benjamini-Hochberg)</a:t>
            </a:r>
            <a:r>
              <a:rPr lang="en-US" sz="1050" dirty="0">
                <a:solidFill>
                  <a:srgbClr val="333333"/>
                </a:solidFill>
              </a:rPr>
              <a:t> is the standard for FDR control.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85750" y="2154538"/>
            <a:ext cx="3086100" cy="1082278"/>
          </a:xfrm>
          <a:prstGeom prst="rect">
            <a:avLst/>
          </a:prstGeom>
          <a:solidFill>
            <a:srgbClr val="FFFFFF"/>
          </a:solidFill>
          <a:ln w="9144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371475" y="2240263"/>
            <a:ext cx="1114899" cy="205383"/>
          </a:xfrm>
          <a:prstGeom prst="rect">
            <a:avLst/>
          </a:prstGeom>
          <a:noFill/>
          <a:ln/>
        </p:spPr>
        <p:txBody>
          <a:bodyPr wrap="none" lIns="0" tIns="0" rIns="0" bIns="42545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666666"/>
                </a:solidFill>
              </a:rPr>
              <a:t>The Reality Check</a:t>
            </a:r>
            <a:endParaRPr lang="en-US" sz="784" dirty="0"/>
          </a:p>
        </p:txBody>
      </p:sp>
      <p:sp>
        <p:nvSpPr>
          <p:cNvPr id="11" name="Text 8"/>
          <p:cNvSpPr/>
          <p:nvPr/>
        </p:nvSpPr>
        <p:spPr>
          <a:xfrm>
            <a:off x="371475" y="2502796"/>
            <a:ext cx="553334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000000"/>
                </a:solidFill>
              </a:rPr>
              <a:t>Protein A</a:t>
            </a:r>
            <a:endParaRPr lang="en-US" sz="942" dirty="0"/>
          </a:p>
        </p:txBody>
      </p:sp>
      <p:sp>
        <p:nvSpPr>
          <p:cNvPr id="12" name="Text 9"/>
          <p:cNvSpPr/>
          <p:nvPr/>
        </p:nvSpPr>
        <p:spPr>
          <a:xfrm>
            <a:off x="1988251" y="2502796"/>
            <a:ext cx="1104470" cy="1472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FF3B30"/>
                </a:solidFill>
              </a:rPr>
              <a:t>p = 0.01 </a:t>
            </a:r>
            <a:r>
              <a:rPr lang="en-US" sz="942" dirty="0">
                <a:solidFill>
                  <a:srgbClr val="999999"/>
                </a:solidFill>
              </a:rPr>
              <a:t>→ </a:t>
            </a:r>
            <a:r>
              <a:rPr lang="en-US" sz="885" b="1" dirty="0" err="1">
                <a:solidFill>
                  <a:srgbClr val="0047AB"/>
                </a:solidFill>
              </a:rPr>
              <a:t>adj.p</a:t>
            </a:r>
            <a:r>
              <a:rPr lang="en-US" sz="885" b="1" dirty="0">
                <a:solidFill>
                  <a:srgbClr val="0047AB"/>
                </a:solidFill>
              </a:rPr>
              <a:t> = 0.15</a:t>
            </a:r>
            <a:endParaRPr lang="en-US" sz="942" dirty="0"/>
          </a:p>
        </p:txBody>
      </p:sp>
      <p:sp>
        <p:nvSpPr>
          <p:cNvPr id="13" name="Text 10"/>
          <p:cNvSpPr/>
          <p:nvPr/>
        </p:nvSpPr>
        <p:spPr>
          <a:xfrm>
            <a:off x="371475" y="2734968"/>
            <a:ext cx="554729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000000"/>
                </a:solidFill>
              </a:rPr>
              <a:t>Protein B</a:t>
            </a:r>
            <a:endParaRPr lang="en-US" sz="942" dirty="0"/>
          </a:p>
        </p:txBody>
      </p:sp>
      <p:sp>
        <p:nvSpPr>
          <p:cNvPr id="14" name="Text 11"/>
          <p:cNvSpPr/>
          <p:nvPr/>
        </p:nvSpPr>
        <p:spPr>
          <a:xfrm>
            <a:off x="1866423" y="2734968"/>
            <a:ext cx="1226298" cy="1472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FF3B30"/>
                </a:solidFill>
              </a:rPr>
              <a:t>p = 0.0001 </a:t>
            </a:r>
            <a:r>
              <a:rPr lang="en-US" sz="942" dirty="0">
                <a:solidFill>
                  <a:srgbClr val="999999"/>
                </a:solidFill>
              </a:rPr>
              <a:t>→ </a:t>
            </a:r>
            <a:r>
              <a:rPr lang="en-US" sz="885" b="1" dirty="0" err="1">
                <a:solidFill>
                  <a:srgbClr val="0047AB"/>
                </a:solidFill>
              </a:rPr>
              <a:t>adj.p</a:t>
            </a:r>
            <a:r>
              <a:rPr lang="en-US" sz="885" b="1" dirty="0">
                <a:solidFill>
                  <a:srgbClr val="0047AB"/>
                </a:solidFill>
              </a:rPr>
              <a:t> = 0.03</a:t>
            </a:r>
            <a:endParaRPr lang="en-US" sz="942" dirty="0"/>
          </a:p>
        </p:txBody>
      </p:sp>
      <p:sp>
        <p:nvSpPr>
          <p:cNvPr id="15" name="Text 12"/>
          <p:cNvSpPr/>
          <p:nvPr/>
        </p:nvSpPr>
        <p:spPr>
          <a:xfrm>
            <a:off x="371475" y="2981427"/>
            <a:ext cx="291465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i="1" dirty="0">
                <a:solidFill>
                  <a:srgbClr val="555555"/>
                </a:solidFill>
              </a:rPr>
              <a:t>Protein A is no longer significant after correction!</a:t>
            </a:r>
            <a:endParaRPr lang="en-US" sz="834" dirty="0"/>
          </a:p>
        </p:txBody>
      </p:sp>
      <p:sp>
        <p:nvSpPr>
          <p:cNvPr id="16" name="Shape 13"/>
          <p:cNvSpPr/>
          <p:nvPr/>
        </p:nvSpPr>
        <p:spPr>
          <a:xfrm>
            <a:off x="3657600" y="857250"/>
            <a:ext cx="5486400" cy="4286250"/>
          </a:xfrm>
          <a:prstGeom prst="rect">
            <a:avLst/>
          </a:prstGeom>
          <a:solidFill>
            <a:srgbClr val="1E1E1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3800475" y="1800225"/>
            <a:ext cx="5200650" cy="22412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6A9955"/>
                </a:solidFill>
              </a:rPr>
              <a:t># 1. Extract raw p-values from results</a:t>
            </a: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 err="1">
                <a:solidFill>
                  <a:srgbClr val="9CDCFE"/>
                </a:solidFill>
              </a:rPr>
              <a:t>raw_pvalues</a:t>
            </a:r>
            <a:r>
              <a:rPr lang="en-US" sz="1050" dirty="0">
                <a:solidFill>
                  <a:srgbClr val="9CDCFE"/>
                </a:solidFill>
              </a:rPr>
              <a:t> </a:t>
            </a:r>
            <a:r>
              <a:rPr lang="en-US" sz="1050" dirty="0">
                <a:solidFill>
                  <a:srgbClr val="D4D4D4"/>
                </a:solidFill>
              </a:rPr>
              <a:t>&lt;- </a:t>
            </a:r>
            <a:r>
              <a:rPr lang="en-US" sz="1050" dirty="0" err="1">
                <a:solidFill>
                  <a:srgbClr val="9CDCFE"/>
                </a:solidFill>
              </a:rPr>
              <a:t>results</a:t>
            </a:r>
            <a:r>
              <a:rPr lang="en-US" sz="1050" dirty="0" err="1">
                <a:solidFill>
                  <a:srgbClr val="D4D4D4"/>
                </a:solidFill>
              </a:rPr>
              <a:t>$</a:t>
            </a:r>
            <a:r>
              <a:rPr lang="en-US" sz="1050" dirty="0" err="1">
                <a:solidFill>
                  <a:srgbClr val="9CDCFE"/>
                </a:solidFill>
              </a:rPr>
              <a:t>P.Value</a:t>
            </a:r>
            <a:endParaRPr lang="en-US" sz="1050" dirty="0">
              <a:solidFill>
                <a:srgbClr val="9CDCFE"/>
              </a:solidFill>
            </a:endParaRPr>
          </a:p>
          <a:p>
            <a:pPr marL="0" indent="0" algn="l">
              <a:lnSpc>
                <a:spcPts val="1600"/>
              </a:lnSpc>
              <a:buNone/>
            </a:pPr>
            <a:endParaRPr lang="en-US" sz="1050" dirty="0">
              <a:solidFill>
                <a:srgbClr val="9CDCFE"/>
              </a:solidFill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6A9955"/>
                </a:solidFill>
              </a:rPr>
              <a:t># 2. Apply Benjamini-Hochberg (FDR) correction</a:t>
            </a: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 err="1">
                <a:solidFill>
                  <a:srgbClr val="9CDCFE"/>
                </a:solidFill>
              </a:rPr>
              <a:t>results</a:t>
            </a:r>
            <a:r>
              <a:rPr lang="en-US" sz="1050" dirty="0" err="1">
                <a:solidFill>
                  <a:srgbClr val="D4D4D4"/>
                </a:solidFill>
              </a:rPr>
              <a:t>$</a:t>
            </a:r>
            <a:r>
              <a:rPr lang="en-US" sz="1050" dirty="0" err="1">
                <a:solidFill>
                  <a:srgbClr val="9CDCFE"/>
                </a:solidFill>
              </a:rPr>
              <a:t>adj.P.Val</a:t>
            </a:r>
            <a:r>
              <a:rPr lang="en-US" sz="1050" dirty="0">
                <a:solidFill>
                  <a:srgbClr val="9CDCFE"/>
                </a:solidFill>
              </a:rPr>
              <a:t> </a:t>
            </a:r>
            <a:r>
              <a:rPr lang="en-US" sz="1050" dirty="0">
                <a:solidFill>
                  <a:srgbClr val="D4D4D4"/>
                </a:solidFill>
              </a:rPr>
              <a:t>&lt;- </a:t>
            </a:r>
            <a:r>
              <a:rPr lang="en-US" sz="1050" dirty="0" err="1">
                <a:solidFill>
                  <a:srgbClr val="DCDCAA"/>
                </a:solidFill>
              </a:rPr>
              <a:t>p.adjust</a:t>
            </a:r>
            <a:r>
              <a:rPr lang="en-US" sz="1050" dirty="0">
                <a:solidFill>
                  <a:srgbClr val="D4D4D4"/>
                </a:solidFill>
              </a:rPr>
              <a:t>(</a:t>
            </a:r>
            <a:r>
              <a:rPr lang="en-US" sz="1050" dirty="0">
                <a:solidFill>
                  <a:srgbClr val="9CDCFE"/>
                </a:solidFill>
              </a:rPr>
              <a:t>raw_pvalues</a:t>
            </a:r>
            <a:r>
              <a:rPr lang="en-US" sz="1050" dirty="0">
                <a:solidFill>
                  <a:srgbClr val="D4D4D4"/>
                </a:solidFill>
              </a:rPr>
              <a:t>, </a:t>
            </a:r>
            <a:r>
              <a:rPr lang="en-US" sz="1050" dirty="0">
                <a:solidFill>
                  <a:srgbClr val="9CDCFE"/>
                </a:solidFill>
              </a:rPr>
              <a:t>method </a:t>
            </a:r>
            <a:r>
              <a:rPr lang="en-US" sz="1050" dirty="0">
                <a:solidFill>
                  <a:srgbClr val="D4D4D4"/>
                </a:solidFill>
              </a:rPr>
              <a:t>= </a:t>
            </a:r>
            <a:r>
              <a:rPr lang="en-US" sz="1050" dirty="0">
                <a:solidFill>
                  <a:srgbClr val="CE9178"/>
                </a:solidFill>
              </a:rPr>
              <a:t>"BH"</a:t>
            </a:r>
            <a:r>
              <a:rPr lang="en-US" sz="1050" dirty="0">
                <a:solidFill>
                  <a:srgbClr val="D4D4D4"/>
                </a:solidFill>
              </a:rPr>
              <a:t>)
</a:t>
            </a:r>
            <a:r>
              <a:rPr lang="en-US" sz="1050" dirty="0">
                <a:solidFill>
                  <a:srgbClr val="6A9955"/>
                </a:solidFill>
              </a:rPr>
              <a:t># 3. Filter for significant discoveries (FDR &lt; 0.05)</a:t>
            </a: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 err="1">
                <a:solidFill>
                  <a:srgbClr val="9CDCFE"/>
                </a:solidFill>
              </a:rPr>
              <a:t>significant_proteins</a:t>
            </a:r>
            <a:r>
              <a:rPr lang="en-US" sz="1050" dirty="0">
                <a:solidFill>
                  <a:srgbClr val="9CDCFE"/>
                </a:solidFill>
              </a:rPr>
              <a:t> </a:t>
            </a:r>
            <a:r>
              <a:rPr lang="en-US" sz="1050" dirty="0">
                <a:solidFill>
                  <a:srgbClr val="D4D4D4"/>
                </a:solidFill>
              </a:rPr>
              <a:t>&lt;- </a:t>
            </a:r>
            <a:r>
              <a:rPr lang="en-US" sz="1050" dirty="0">
                <a:solidFill>
                  <a:srgbClr val="DCDCAA"/>
                </a:solidFill>
              </a:rPr>
              <a:t>subset</a:t>
            </a:r>
            <a:r>
              <a:rPr lang="en-US" sz="1050" dirty="0">
                <a:solidFill>
                  <a:srgbClr val="D4D4D4"/>
                </a:solidFill>
              </a:rPr>
              <a:t>(</a:t>
            </a:r>
            <a:r>
              <a:rPr lang="en-US" sz="1050" dirty="0">
                <a:solidFill>
                  <a:srgbClr val="9CDCFE"/>
                </a:solidFill>
              </a:rPr>
              <a:t>results</a:t>
            </a:r>
            <a:r>
              <a:rPr lang="en-US" sz="1050" dirty="0">
                <a:solidFill>
                  <a:srgbClr val="D4D4D4"/>
                </a:solidFill>
              </a:rPr>
              <a:t>, </a:t>
            </a:r>
            <a:r>
              <a:rPr lang="en-US" sz="1050" dirty="0" err="1">
                <a:solidFill>
                  <a:srgbClr val="9CDCFE"/>
                </a:solidFill>
              </a:rPr>
              <a:t>adj.P.Val</a:t>
            </a:r>
            <a:r>
              <a:rPr lang="en-US" sz="1050" dirty="0">
                <a:solidFill>
                  <a:srgbClr val="9CDCFE"/>
                </a:solidFill>
              </a:rPr>
              <a:t> </a:t>
            </a:r>
            <a:r>
              <a:rPr lang="en-US" sz="1050" dirty="0">
                <a:solidFill>
                  <a:srgbClr val="D4D4D4"/>
                </a:solidFill>
              </a:rPr>
              <a:t>&lt; </a:t>
            </a:r>
            <a:r>
              <a:rPr lang="en-US" sz="1050" dirty="0">
                <a:solidFill>
                  <a:srgbClr val="B5CEA8"/>
                </a:solidFill>
              </a:rPr>
              <a:t>0.05</a:t>
            </a:r>
            <a:r>
              <a:rPr lang="en-US" sz="1050" dirty="0">
                <a:solidFill>
                  <a:srgbClr val="D4D4D4"/>
                </a:solidFill>
              </a:rPr>
              <a:t>)
</a:t>
            </a:r>
            <a:r>
              <a:rPr lang="en-US" sz="1050" dirty="0">
                <a:solidFill>
                  <a:srgbClr val="6A9955"/>
                </a:solidFill>
              </a:rPr>
              <a:t># 4. Check how many proteins passed</a:t>
            </a: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DCAA"/>
                </a:solidFill>
              </a:rPr>
              <a:t>print</a:t>
            </a:r>
            <a:r>
              <a:rPr lang="en-US" sz="1050" dirty="0">
                <a:solidFill>
                  <a:srgbClr val="D4D4D4"/>
                </a:solidFill>
              </a:rPr>
              <a:t>(</a:t>
            </a:r>
            <a:r>
              <a:rPr lang="en-US" sz="1050" dirty="0">
                <a:solidFill>
                  <a:srgbClr val="DCDCAA"/>
                </a:solidFill>
              </a:rPr>
              <a:t>nrow</a:t>
            </a:r>
            <a:r>
              <a:rPr lang="en-US" sz="1050" dirty="0">
                <a:solidFill>
                  <a:srgbClr val="D4D4D4"/>
                </a:solidFill>
              </a:rPr>
              <a:t>(</a:t>
            </a:r>
            <a:r>
              <a:rPr lang="en-US" sz="1050" dirty="0">
                <a:solidFill>
                  <a:srgbClr val="9CDCFE"/>
                </a:solidFill>
              </a:rPr>
              <a:t>significant_proteins</a:t>
            </a:r>
            <a:r>
              <a:rPr lang="en-US" sz="1050" dirty="0">
                <a:solidFill>
                  <a:srgbClr val="D4D4D4"/>
                </a:solidFill>
              </a:rPr>
              <a:t>))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85750"/>
            <a:ext cx="9144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0" y="828675"/>
            <a:ext cx="9144000" cy="28575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428625" y="454521"/>
            <a:ext cx="4746882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kern="0" spc="1" dirty="0">
                <a:solidFill>
                  <a:srgbClr val="333333"/>
                </a:solidFill>
              </a:rPr>
              <a:t>Practical Example - Results Visualization in R</a:t>
            </a:r>
            <a:endParaRPr lang="en-US" sz="1193" dirty="0"/>
          </a:p>
        </p:txBody>
      </p:sp>
      <p:sp>
        <p:nvSpPr>
          <p:cNvPr id="6" name="Shape 3"/>
          <p:cNvSpPr/>
          <p:nvPr/>
        </p:nvSpPr>
        <p:spPr>
          <a:xfrm>
            <a:off x="0" y="857250"/>
            <a:ext cx="4114800" cy="4286250"/>
          </a:xfrm>
          <a:prstGeom prst="rect">
            <a:avLst/>
          </a:prstGeom>
          <a:solidFill>
            <a:srgbClr val="1E1E1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171450" y="1487686"/>
            <a:ext cx="3771900" cy="239316"/>
          </a:xfrm>
          <a:prstGeom prst="rect">
            <a:avLst/>
          </a:prstGeom>
          <a:noFill/>
          <a:ln/>
        </p:spPr>
        <p:txBody>
          <a:bodyPr wrap="square" lIns="0" tIns="0" rIns="0" bIns="68072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FFFFF"/>
                </a:solidFill>
              </a:rPr>
              <a:t>Generating a Volcano Plot</a:t>
            </a:r>
            <a:endParaRPr lang="en-US" sz="885" dirty="0"/>
          </a:p>
        </p:txBody>
      </p:sp>
      <p:sp>
        <p:nvSpPr>
          <p:cNvPr id="8" name="Text 5"/>
          <p:cNvSpPr/>
          <p:nvPr/>
        </p:nvSpPr>
        <p:spPr>
          <a:xfrm>
            <a:off x="171450" y="1812727"/>
            <a:ext cx="3771900" cy="24844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42" dirty="0">
                <a:solidFill>
                  <a:srgbClr val="569CD6"/>
                </a:solidFill>
              </a:rPr>
              <a:t>library</a:t>
            </a:r>
            <a:r>
              <a:rPr lang="en-US" sz="942" dirty="0">
                <a:solidFill>
                  <a:srgbClr val="D4D4D4"/>
                </a:solidFill>
              </a:rPr>
              <a:t>(ggplot2)
</a:t>
            </a:r>
            <a:r>
              <a:rPr lang="en-US" sz="942" dirty="0">
                <a:solidFill>
                  <a:srgbClr val="6A9955"/>
                </a:solidFill>
              </a:rPr>
              <a:t># Create Volcano Plot</a:t>
            </a:r>
          </a:p>
          <a:p>
            <a:pPr marL="0" indent="0" algn="l">
              <a:lnSpc>
                <a:spcPts val="1500"/>
              </a:lnSpc>
              <a:buNone/>
            </a:pPr>
            <a:r>
              <a:rPr lang="en-US" sz="942" dirty="0" err="1">
                <a:solidFill>
                  <a:srgbClr val="DCDCAA"/>
                </a:solidFill>
              </a:rPr>
              <a:t>ggplot</a:t>
            </a:r>
            <a:r>
              <a:rPr lang="en-US" sz="942" dirty="0">
                <a:solidFill>
                  <a:srgbClr val="D4D4D4"/>
                </a:solidFill>
              </a:rPr>
              <a:t>(</a:t>
            </a:r>
            <a:r>
              <a:rPr lang="en-US" sz="942" dirty="0">
                <a:solidFill>
                  <a:srgbClr val="9CDCFE"/>
                </a:solidFill>
              </a:rPr>
              <a:t>results</a:t>
            </a:r>
            <a:r>
              <a:rPr lang="en-US" sz="942" dirty="0">
                <a:solidFill>
                  <a:srgbClr val="D4D4D4"/>
                </a:solidFill>
              </a:rPr>
              <a:t>, </a:t>
            </a:r>
            <a:r>
              <a:rPr lang="en-US" sz="942" dirty="0">
                <a:solidFill>
                  <a:srgbClr val="DCDCAA"/>
                </a:solidFill>
              </a:rPr>
              <a:t>aes</a:t>
            </a:r>
            <a:r>
              <a:rPr lang="en-US" sz="942" dirty="0">
                <a:solidFill>
                  <a:srgbClr val="D4D4D4"/>
                </a:solidFill>
              </a:rPr>
              <a:t>(x = </a:t>
            </a:r>
            <a:r>
              <a:rPr lang="en-US" sz="942" dirty="0" err="1">
                <a:solidFill>
                  <a:srgbClr val="9CDCFE"/>
                </a:solidFill>
              </a:rPr>
              <a:t>logFC</a:t>
            </a:r>
            <a:r>
              <a:rPr lang="en-US" sz="942" dirty="0">
                <a:solidFill>
                  <a:srgbClr val="D4D4D4"/>
                </a:solidFill>
              </a:rPr>
              <a:t>, y = -</a:t>
            </a:r>
            <a:r>
              <a:rPr lang="en-US" sz="942" dirty="0">
                <a:solidFill>
                  <a:srgbClr val="DCDCAA"/>
                </a:solidFill>
              </a:rPr>
              <a:t>log10</a:t>
            </a:r>
            <a:r>
              <a:rPr lang="en-US" sz="942" dirty="0">
                <a:solidFill>
                  <a:srgbClr val="D4D4D4"/>
                </a:solidFill>
              </a:rPr>
              <a:t>(</a:t>
            </a:r>
            <a:r>
              <a:rPr lang="en-US" sz="942" dirty="0" err="1">
                <a:solidFill>
                  <a:srgbClr val="9CDCFE"/>
                </a:solidFill>
              </a:rPr>
              <a:t>adj.P.Val</a:t>
            </a:r>
            <a:r>
              <a:rPr lang="en-US" sz="942" dirty="0">
                <a:solidFill>
                  <a:srgbClr val="D4D4D4"/>
                </a:solidFill>
              </a:rPr>
              <a:t>))) +</a:t>
            </a:r>
          </a:p>
          <a:p>
            <a:pPr marL="0" indent="0" algn="l">
              <a:lnSpc>
                <a:spcPts val="1500"/>
              </a:lnSpc>
              <a:buNone/>
            </a:pPr>
            <a:r>
              <a:rPr lang="en-US" sz="942" dirty="0">
                <a:solidFill>
                  <a:srgbClr val="D4D4D4"/>
                </a:solidFill>
              </a:rPr>
              <a:t>    </a:t>
            </a:r>
            <a:r>
              <a:rPr lang="en-US" sz="942" dirty="0" err="1">
                <a:solidFill>
                  <a:srgbClr val="DCDCAA"/>
                </a:solidFill>
              </a:rPr>
              <a:t>geom_point</a:t>
            </a:r>
            <a:r>
              <a:rPr lang="en-US" sz="942" dirty="0">
                <a:solidFill>
                  <a:srgbClr val="D4D4D4"/>
                </a:solidFill>
              </a:rPr>
              <a:t>(</a:t>
            </a:r>
            <a:r>
              <a:rPr lang="en-US" sz="942" dirty="0">
                <a:solidFill>
                  <a:srgbClr val="DCDCAA"/>
                </a:solidFill>
              </a:rPr>
              <a:t>aes</a:t>
            </a:r>
            <a:r>
              <a:rPr lang="en-US" sz="942" dirty="0">
                <a:solidFill>
                  <a:srgbClr val="D4D4D4"/>
                </a:solidFill>
              </a:rPr>
              <a:t>(color = </a:t>
            </a:r>
            <a:r>
              <a:rPr lang="en-US" sz="942" dirty="0">
                <a:solidFill>
                  <a:srgbClr val="9CDCFE"/>
                </a:solidFill>
              </a:rPr>
              <a:t>Significant</a:t>
            </a:r>
            <a:r>
              <a:rPr lang="en-US" sz="942" dirty="0">
                <a:solidFill>
                  <a:srgbClr val="D4D4D4"/>
                </a:solidFill>
              </a:rPr>
              <a:t>)) +</a:t>
            </a:r>
          </a:p>
          <a:p>
            <a:pPr marL="0" indent="0" algn="l">
              <a:lnSpc>
                <a:spcPts val="1500"/>
              </a:lnSpc>
              <a:buNone/>
            </a:pPr>
            <a:r>
              <a:rPr lang="en-US" sz="942" dirty="0">
                <a:solidFill>
                  <a:srgbClr val="D4D4D4"/>
                </a:solidFill>
              </a:rPr>
              <a:t>    </a:t>
            </a:r>
            <a:r>
              <a:rPr lang="en-US" sz="942" dirty="0" err="1">
                <a:solidFill>
                  <a:srgbClr val="DCDCAA"/>
                </a:solidFill>
              </a:rPr>
              <a:t>theme_minimal</a:t>
            </a:r>
            <a:r>
              <a:rPr lang="en-US" sz="942" dirty="0">
                <a:solidFill>
                  <a:srgbClr val="D4D4D4"/>
                </a:solidFill>
              </a:rPr>
              <a:t>() +</a:t>
            </a:r>
          </a:p>
          <a:p>
            <a:pPr marL="0" indent="0" algn="l">
              <a:lnSpc>
                <a:spcPts val="1500"/>
              </a:lnSpc>
              <a:buNone/>
            </a:pPr>
            <a:r>
              <a:rPr lang="en-US" sz="942" dirty="0">
                <a:solidFill>
                  <a:srgbClr val="D4D4D4"/>
                </a:solidFill>
              </a:rPr>
              <a:t>    </a:t>
            </a:r>
            <a:r>
              <a:rPr lang="en-US" sz="942" dirty="0">
                <a:solidFill>
                  <a:srgbClr val="DCDCAA"/>
                </a:solidFill>
              </a:rPr>
              <a:t>labs</a:t>
            </a:r>
            <a:r>
              <a:rPr lang="en-US" sz="942" dirty="0">
                <a:solidFill>
                  <a:srgbClr val="D4D4D4"/>
                </a:solidFill>
              </a:rPr>
              <a:t>(
        title = </a:t>
            </a:r>
            <a:r>
              <a:rPr lang="en-US" sz="942" dirty="0">
                <a:solidFill>
                  <a:srgbClr val="CE9178"/>
                </a:solidFill>
              </a:rPr>
              <a:t>”Volcano Plot: Differential Protein Expression"</a:t>
            </a:r>
            <a:r>
              <a:rPr lang="en-US" sz="942" dirty="0">
                <a:solidFill>
                  <a:srgbClr val="D4D4D4"/>
                </a:solidFill>
              </a:rPr>
              <a:t>,
        x = </a:t>
            </a:r>
            <a:r>
              <a:rPr lang="en-US" sz="942" dirty="0">
                <a:solidFill>
                  <a:srgbClr val="CE9178"/>
                </a:solidFill>
              </a:rPr>
              <a:t>"Log2 Fold Change"</a:t>
            </a:r>
            <a:r>
              <a:rPr lang="en-US" sz="942" dirty="0">
                <a:solidFill>
                  <a:srgbClr val="D4D4D4"/>
                </a:solidFill>
              </a:rPr>
              <a:t>,
        y = </a:t>
            </a:r>
            <a:r>
              <a:rPr lang="en-US" sz="942" dirty="0">
                <a:solidFill>
                  <a:srgbClr val="CE9178"/>
                </a:solidFill>
              </a:rPr>
              <a:t>"-Log10(P-value)"</a:t>
            </a:r>
            <a:r>
              <a:rPr lang="en-US" sz="942" dirty="0">
                <a:solidFill>
                  <a:srgbClr val="D4D4D4"/>
                </a:solidFill>
              </a:rPr>
              <a:t>
    ) +</a:t>
            </a:r>
          </a:p>
          <a:p>
            <a:pPr marL="0" indent="0" algn="l">
              <a:lnSpc>
                <a:spcPts val="1500"/>
              </a:lnSpc>
              <a:buNone/>
            </a:pPr>
            <a:r>
              <a:rPr lang="en-US" sz="942" dirty="0">
                <a:solidFill>
                  <a:srgbClr val="D4D4D4"/>
                </a:solidFill>
              </a:rPr>
              <a:t>    </a:t>
            </a:r>
            <a:r>
              <a:rPr lang="en-US" sz="942" dirty="0" err="1">
                <a:solidFill>
                  <a:srgbClr val="DCDCAA"/>
                </a:solidFill>
              </a:rPr>
              <a:t>geom_hline</a:t>
            </a:r>
            <a:r>
              <a:rPr lang="en-US" sz="942" dirty="0">
                <a:solidFill>
                  <a:srgbClr val="D4D4D4"/>
                </a:solidFill>
              </a:rPr>
              <a:t>(</a:t>
            </a:r>
            <a:r>
              <a:rPr lang="en-US" sz="942" dirty="0" err="1">
                <a:solidFill>
                  <a:srgbClr val="D4D4D4"/>
                </a:solidFill>
              </a:rPr>
              <a:t>yintercept</a:t>
            </a:r>
            <a:r>
              <a:rPr lang="en-US" sz="942" dirty="0">
                <a:solidFill>
                  <a:srgbClr val="D4D4D4"/>
                </a:solidFill>
              </a:rPr>
              <a:t> = -</a:t>
            </a:r>
            <a:r>
              <a:rPr lang="en-US" sz="942" dirty="0">
                <a:solidFill>
                  <a:srgbClr val="DCDCAA"/>
                </a:solidFill>
              </a:rPr>
              <a:t>log10</a:t>
            </a:r>
            <a:r>
              <a:rPr lang="en-US" sz="942" dirty="0">
                <a:solidFill>
                  <a:srgbClr val="D4D4D4"/>
                </a:solidFill>
              </a:rPr>
              <a:t>(</a:t>
            </a:r>
            <a:r>
              <a:rPr lang="en-US" sz="942" dirty="0">
                <a:solidFill>
                  <a:srgbClr val="B5CEA8"/>
                </a:solidFill>
              </a:rPr>
              <a:t>0.05</a:t>
            </a:r>
            <a:r>
              <a:rPr lang="en-US" sz="942" dirty="0">
                <a:solidFill>
                  <a:srgbClr val="D4D4D4"/>
                </a:solidFill>
              </a:rPr>
              <a:t>), </a:t>
            </a:r>
            <a:r>
              <a:rPr lang="en-US" sz="942" dirty="0" err="1">
                <a:solidFill>
                  <a:srgbClr val="D4D4D4"/>
                </a:solidFill>
              </a:rPr>
              <a:t>linetype</a:t>
            </a:r>
            <a:r>
              <a:rPr lang="en-US" sz="942" dirty="0">
                <a:solidFill>
                  <a:srgbClr val="D4D4D4"/>
                </a:solidFill>
              </a:rPr>
              <a:t> = </a:t>
            </a:r>
            <a:r>
              <a:rPr lang="en-US" sz="942" dirty="0">
                <a:solidFill>
                  <a:srgbClr val="CE9178"/>
                </a:solidFill>
              </a:rPr>
              <a:t>"dashed"</a:t>
            </a:r>
            <a:r>
              <a:rPr lang="en-US" sz="942" dirty="0">
                <a:solidFill>
                  <a:srgbClr val="D4D4D4"/>
                </a:solidFill>
              </a:rPr>
              <a:t>) +</a:t>
            </a:r>
          </a:p>
          <a:p>
            <a:pPr marL="0" indent="0" algn="l">
              <a:lnSpc>
                <a:spcPts val="1500"/>
              </a:lnSpc>
              <a:buNone/>
            </a:pPr>
            <a:r>
              <a:rPr lang="en-US" sz="942" dirty="0">
                <a:solidFill>
                  <a:srgbClr val="DCDCAA"/>
                </a:solidFill>
              </a:rPr>
              <a:t>    </a:t>
            </a:r>
            <a:r>
              <a:rPr lang="en-US" sz="942" dirty="0" err="1">
                <a:solidFill>
                  <a:srgbClr val="DCDCAA"/>
                </a:solidFill>
              </a:rPr>
              <a:t>geom_vline</a:t>
            </a:r>
            <a:r>
              <a:rPr lang="en-US" sz="942" dirty="0">
                <a:solidFill>
                  <a:srgbClr val="D4D4D4"/>
                </a:solidFill>
              </a:rPr>
              <a:t>(</a:t>
            </a:r>
            <a:r>
              <a:rPr lang="en-US" sz="942" dirty="0" err="1">
                <a:solidFill>
                  <a:srgbClr val="D4D4D4"/>
                </a:solidFill>
              </a:rPr>
              <a:t>xintercept</a:t>
            </a:r>
            <a:r>
              <a:rPr lang="en-US" sz="942" dirty="0">
                <a:solidFill>
                  <a:srgbClr val="D4D4D4"/>
                </a:solidFill>
              </a:rPr>
              <a:t> = </a:t>
            </a:r>
            <a:r>
              <a:rPr lang="en-US" sz="942" dirty="0">
                <a:solidFill>
                  <a:srgbClr val="DCDCAA"/>
                </a:solidFill>
              </a:rPr>
              <a:t>c</a:t>
            </a:r>
            <a:r>
              <a:rPr lang="en-US" sz="942" dirty="0">
                <a:solidFill>
                  <a:srgbClr val="D4D4D4"/>
                </a:solidFill>
              </a:rPr>
              <a:t>(-</a:t>
            </a:r>
            <a:r>
              <a:rPr lang="en-US" sz="942" dirty="0">
                <a:solidFill>
                  <a:srgbClr val="B5CEA8"/>
                </a:solidFill>
              </a:rPr>
              <a:t>1</a:t>
            </a:r>
            <a:r>
              <a:rPr lang="en-US" sz="942" dirty="0">
                <a:solidFill>
                  <a:srgbClr val="D4D4D4"/>
                </a:solidFill>
              </a:rPr>
              <a:t>, </a:t>
            </a:r>
            <a:r>
              <a:rPr lang="en-US" sz="942" dirty="0">
                <a:solidFill>
                  <a:srgbClr val="B5CEA8"/>
                </a:solidFill>
              </a:rPr>
              <a:t>1</a:t>
            </a:r>
            <a:r>
              <a:rPr lang="en-US" sz="942" dirty="0">
                <a:solidFill>
                  <a:srgbClr val="D4D4D4"/>
                </a:solidFill>
              </a:rPr>
              <a:t>), </a:t>
            </a:r>
            <a:r>
              <a:rPr lang="en-US" sz="942" dirty="0" err="1">
                <a:solidFill>
                  <a:srgbClr val="D4D4D4"/>
                </a:solidFill>
              </a:rPr>
              <a:t>linetype</a:t>
            </a:r>
            <a:r>
              <a:rPr lang="en-US" sz="942" dirty="0">
                <a:solidFill>
                  <a:srgbClr val="D4D4D4"/>
                </a:solidFill>
              </a:rPr>
              <a:t> = </a:t>
            </a:r>
            <a:r>
              <a:rPr lang="en-US" sz="942" dirty="0">
                <a:solidFill>
                  <a:srgbClr val="CE9178"/>
                </a:solidFill>
              </a:rPr>
              <a:t>"dashed"</a:t>
            </a:r>
            <a:r>
              <a:rPr lang="en-US" sz="942" dirty="0">
                <a:solidFill>
                  <a:srgbClr val="D4D4D4"/>
                </a:solidFill>
              </a:rPr>
              <a:t>)</a:t>
            </a:r>
            <a:endParaRPr lang="en-US" sz="942" dirty="0"/>
          </a:p>
        </p:txBody>
      </p:sp>
      <p:sp>
        <p:nvSpPr>
          <p:cNvPr id="9" name="Shape 6"/>
          <p:cNvSpPr/>
          <p:nvPr/>
        </p:nvSpPr>
        <p:spPr>
          <a:xfrm>
            <a:off x="4114800" y="857250"/>
            <a:ext cx="5029200" cy="42862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Shape 7"/>
          <p:cNvSpPr/>
          <p:nvPr/>
        </p:nvSpPr>
        <p:spPr>
          <a:xfrm>
            <a:off x="4286250" y="4073607"/>
            <a:ext cx="4686300" cy="640035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8"/>
          <p:cNvSpPr/>
          <p:nvPr/>
        </p:nvSpPr>
        <p:spPr>
          <a:xfrm>
            <a:off x="4371975" y="4159332"/>
            <a:ext cx="2214563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0047AB"/>
                </a:solidFill>
              </a:rPr>
              <a:t>X-Axis (Log2 Fold Change)</a:t>
            </a:r>
            <a:endParaRPr lang="en-US" sz="683" dirty="0"/>
          </a:p>
        </p:txBody>
      </p:sp>
      <p:sp>
        <p:nvSpPr>
          <p:cNvPr id="13" name="Text 9"/>
          <p:cNvSpPr/>
          <p:nvPr/>
        </p:nvSpPr>
        <p:spPr>
          <a:xfrm>
            <a:off x="4371975" y="4330782"/>
            <a:ext cx="2214563" cy="2971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Magnitude of change. Positive = Upregulated, Negative = Downregulated.</a:t>
            </a:r>
            <a:endParaRPr lang="en-US" sz="834" dirty="0"/>
          </a:p>
        </p:txBody>
      </p:sp>
      <p:sp>
        <p:nvSpPr>
          <p:cNvPr id="14" name="Text 10"/>
          <p:cNvSpPr/>
          <p:nvPr/>
        </p:nvSpPr>
        <p:spPr>
          <a:xfrm>
            <a:off x="6672263" y="4159332"/>
            <a:ext cx="2214563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0047AB"/>
                </a:solidFill>
              </a:rPr>
              <a:t>Y-Axis (-Log10 P-value)</a:t>
            </a:r>
            <a:endParaRPr lang="en-US" sz="683" dirty="0"/>
          </a:p>
        </p:txBody>
      </p:sp>
      <p:sp>
        <p:nvSpPr>
          <p:cNvPr id="15" name="Text 11"/>
          <p:cNvSpPr/>
          <p:nvPr/>
        </p:nvSpPr>
        <p:spPr>
          <a:xfrm>
            <a:off x="6672263" y="4330782"/>
            <a:ext cx="2214563" cy="2971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Statistical significance. Higher points are more significant.</a:t>
            </a:r>
            <a:endParaRPr lang="en-US" sz="834" dirty="0"/>
          </a:p>
        </p:txBody>
      </p:sp>
      <p:pic>
        <p:nvPicPr>
          <p:cNvPr id="17" name="Image 16" descr="Une image contenant texte, capture d’écran, diagramme, ligne&#10;&#10;Le contenu généré par l’IA peut être incorrect.">
            <a:extLst>
              <a:ext uri="{FF2B5EF4-FFF2-40B4-BE49-F238E27FC236}">
                <a16:creationId xmlns:a16="http://schemas.microsoft.com/office/drawing/2014/main" id="{43A2C6A5-9FB2-2DEB-16B5-8C6BD425E0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1839" y="1045550"/>
            <a:ext cx="3900847" cy="292563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85750"/>
            <a:ext cx="9144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0" y="828675"/>
            <a:ext cx="9144000" cy="28575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428625" y="454521"/>
            <a:ext cx="2905469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kern="0" spc="1" dirty="0">
                <a:solidFill>
                  <a:srgbClr val="333333"/>
                </a:solidFill>
              </a:rPr>
              <a:t>Summary and Best Practices</a:t>
            </a:r>
            <a:endParaRPr lang="en-US" sz="1193" dirty="0"/>
          </a:p>
        </p:txBody>
      </p:sp>
      <p:sp>
        <p:nvSpPr>
          <p:cNvPr id="6" name="Text 3"/>
          <p:cNvSpPr/>
          <p:nvPr/>
        </p:nvSpPr>
        <p:spPr>
          <a:xfrm>
            <a:off x="428625" y="1214438"/>
            <a:ext cx="285750" cy="248245"/>
          </a:xfrm>
          <a:prstGeom prst="rect">
            <a:avLst/>
          </a:prstGeom>
          <a:noFill/>
          <a:ln/>
        </p:spPr>
        <p:txBody>
          <a:bodyPr wrap="none" lIns="0" tIns="17018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47AB"/>
                </a:solidFill>
              </a:rPr>
              <a:t>01</a:t>
            </a:r>
            <a:endParaRPr lang="en-US" sz="1193" dirty="0"/>
          </a:p>
        </p:txBody>
      </p:sp>
      <p:sp>
        <p:nvSpPr>
          <p:cNvPr id="7" name="Text 4"/>
          <p:cNvSpPr/>
          <p:nvPr/>
        </p:nvSpPr>
        <p:spPr>
          <a:xfrm>
            <a:off x="857250" y="1214438"/>
            <a:ext cx="4200525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000000"/>
                </a:solidFill>
              </a:rPr>
              <a:t>Power in Numbers</a:t>
            </a:r>
            <a:endParaRPr lang="en-US" sz="1090" dirty="0"/>
          </a:p>
        </p:txBody>
      </p:sp>
      <p:sp>
        <p:nvSpPr>
          <p:cNvPr id="8" name="Text 5"/>
          <p:cNvSpPr/>
          <p:nvPr/>
        </p:nvSpPr>
        <p:spPr>
          <a:xfrm>
            <a:off x="857250" y="1464469"/>
            <a:ext cx="42005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555555"/>
                </a:solidFill>
              </a:rPr>
              <a:t>Biological replicates are essential. n = 3 is the absolute minimum; n ≥ 5 is recommended for robust statistics.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428625" y="2078831"/>
            <a:ext cx="285750" cy="248245"/>
          </a:xfrm>
          <a:prstGeom prst="rect">
            <a:avLst/>
          </a:prstGeom>
          <a:noFill/>
          <a:ln/>
        </p:spPr>
        <p:txBody>
          <a:bodyPr wrap="none" lIns="0" tIns="17018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47AB"/>
                </a:solidFill>
              </a:rPr>
              <a:t>02</a:t>
            </a:r>
            <a:endParaRPr lang="en-US" sz="1193" dirty="0"/>
          </a:p>
        </p:txBody>
      </p:sp>
      <p:sp>
        <p:nvSpPr>
          <p:cNvPr id="10" name="Text 7"/>
          <p:cNvSpPr/>
          <p:nvPr/>
        </p:nvSpPr>
        <p:spPr>
          <a:xfrm>
            <a:off x="857250" y="2078831"/>
            <a:ext cx="4200525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000000"/>
                </a:solidFill>
              </a:rPr>
              <a:t>Choose the Right Test</a:t>
            </a:r>
            <a:endParaRPr lang="en-US" sz="1090" dirty="0"/>
          </a:p>
        </p:txBody>
      </p:sp>
      <p:sp>
        <p:nvSpPr>
          <p:cNvPr id="11" name="Text 8"/>
          <p:cNvSpPr/>
          <p:nvPr/>
        </p:nvSpPr>
        <p:spPr>
          <a:xfrm>
            <a:off x="857250" y="2328863"/>
            <a:ext cx="42005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555555"/>
                </a:solidFill>
              </a:rPr>
              <a:t>Use </a:t>
            </a:r>
            <a:r>
              <a:rPr lang="en-US" sz="987" b="1" dirty="0">
                <a:solidFill>
                  <a:srgbClr val="555555"/>
                </a:solidFill>
              </a:rPr>
              <a:t>limma</a:t>
            </a:r>
            <a:r>
              <a:rPr lang="en-US" sz="1050" dirty="0">
                <a:solidFill>
                  <a:srgbClr val="555555"/>
                </a:solidFill>
              </a:rPr>
              <a:t> or similar moderated tests for small sample sizes to stabilize variance estimates.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28625" y="2943225"/>
            <a:ext cx="285750" cy="248245"/>
          </a:xfrm>
          <a:prstGeom prst="rect">
            <a:avLst/>
          </a:prstGeom>
          <a:noFill/>
          <a:ln/>
        </p:spPr>
        <p:txBody>
          <a:bodyPr wrap="none" lIns="0" tIns="17018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47AB"/>
                </a:solidFill>
              </a:rPr>
              <a:t>03</a:t>
            </a:r>
            <a:endParaRPr lang="en-US" sz="1193" dirty="0"/>
          </a:p>
        </p:txBody>
      </p:sp>
      <p:sp>
        <p:nvSpPr>
          <p:cNvPr id="13" name="Text 10"/>
          <p:cNvSpPr/>
          <p:nvPr/>
        </p:nvSpPr>
        <p:spPr>
          <a:xfrm>
            <a:off x="857250" y="2943225"/>
            <a:ext cx="4200525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000000"/>
                </a:solidFill>
              </a:rPr>
              <a:t>Correct for Multiple Testing</a:t>
            </a:r>
            <a:endParaRPr lang="en-US" sz="1090" dirty="0"/>
          </a:p>
        </p:txBody>
      </p:sp>
      <p:sp>
        <p:nvSpPr>
          <p:cNvPr id="14" name="Text 11"/>
          <p:cNvSpPr/>
          <p:nvPr/>
        </p:nvSpPr>
        <p:spPr>
          <a:xfrm>
            <a:off x="857250" y="3193256"/>
            <a:ext cx="42005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555555"/>
                </a:solidFill>
              </a:rPr>
              <a:t>Always apply </a:t>
            </a:r>
            <a:r>
              <a:rPr lang="en-US" sz="987" b="1" dirty="0">
                <a:solidFill>
                  <a:srgbClr val="555555"/>
                </a:solidFill>
              </a:rPr>
              <a:t>FDR correction</a:t>
            </a:r>
            <a:r>
              <a:rPr lang="en-US" sz="1050" dirty="0">
                <a:solidFill>
                  <a:srgbClr val="555555"/>
                </a:solidFill>
              </a:rPr>
              <a:t> (Benjamini-Hochberg). A raw p-value &lt; 0.05 is rarely sufficient in proteomics.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28625" y="3807619"/>
            <a:ext cx="285750" cy="248245"/>
          </a:xfrm>
          <a:prstGeom prst="rect">
            <a:avLst/>
          </a:prstGeom>
          <a:noFill/>
          <a:ln/>
        </p:spPr>
        <p:txBody>
          <a:bodyPr wrap="none" lIns="0" tIns="17018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47AB"/>
                </a:solidFill>
              </a:rPr>
              <a:t>04</a:t>
            </a:r>
            <a:endParaRPr lang="en-US" sz="1193" dirty="0"/>
          </a:p>
        </p:txBody>
      </p:sp>
      <p:sp>
        <p:nvSpPr>
          <p:cNvPr id="16" name="Text 13"/>
          <p:cNvSpPr/>
          <p:nvPr/>
        </p:nvSpPr>
        <p:spPr>
          <a:xfrm>
            <a:off x="857250" y="3807619"/>
            <a:ext cx="4200525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000000"/>
                </a:solidFill>
              </a:rPr>
              <a:t>Validate Findings</a:t>
            </a:r>
            <a:endParaRPr lang="en-US" sz="1090" dirty="0"/>
          </a:p>
        </p:txBody>
      </p:sp>
      <p:sp>
        <p:nvSpPr>
          <p:cNvPr id="17" name="Text 14"/>
          <p:cNvSpPr/>
          <p:nvPr/>
        </p:nvSpPr>
        <p:spPr>
          <a:xfrm>
            <a:off x="857250" y="4057650"/>
            <a:ext cx="4200525" cy="3945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555555"/>
                </a:solidFill>
              </a:rPr>
              <a:t>Statistical significance ≠ Biological relevance. Validate key hits with orthogonal methods (e.g., repetition, Western Blot, biological validation).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486400" y="857250"/>
            <a:ext cx="3657600" cy="4286250"/>
          </a:xfrm>
          <a:prstGeom prst="rect">
            <a:avLst/>
          </a:prstGeom>
          <a:solidFill>
            <a:srgbClr val="0047A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9" name="Text 16"/>
          <p:cNvSpPr/>
          <p:nvPr/>
        </p:nvSpPr>
        <p:spPr>
          <a:xfrm>
            <a:off x="5843588" y="1632570"/>
            <a:ext cx="1286461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kern="0" spc="2" dirty="0">
                <a:solidFill>
                  <a:srgbClr val="82B1FF"/>
                </a:solidFill>
              </a:rPr>
              <a:t>Core Philosophy</a:t>
            </a:r>
            <a:endParaRPr lang="en-US" sz="784" dirty="0"/>
          </a:p>
        </p:txBody>
      </p:sp>
      <p:sp>
        <p:nvSpPr>
          <p:cNvPr id="20" name="Text 17"/>
          <p:cNvSpPr/>
          <p:nvPr/>
        </p:nvSpPr>
        <p:spPr>
          <a:xfrm>
            <a:off x="5843588" y="2102272"/>
            <a:ext cx="2943225" cy="13372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808" b="1" dirty="0">
                <a:solidFill>
                  <a:srgbClr val="FFFFFF"/>
                </a:solidFill>
              </a:rPr>
              <a:t>"Statistics is a filter to remove noise, not a machine that generates truth."</a:t>
            </a:r>
            <a:endParaRPr lang="en-US" sz="1808" dirty="0"/>
          </a:p>
        </p:txBody>
      </p:sp>
      <p:sp>
        <p:nvSpPr>
          <p:cNvPr id="21" name="Text 18"/>
          <p:cNvSpPr/>
          <p:nvPr/>
        </p:nvSpPr>
        <p:spPr>
          <a:xfrm>
            <a:off x="5843588" y="3725242"/>
            <a:ext cx="2943225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FFFFFF">
                    <a:alpha val="90000"/>
                  </a:srgbClr>
                </a:solidFill>
              </a:rPr>
              <a:t>Use statistical tools to prioritize candidates, but let biological understanding guide your final conclusions.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04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85750"/>
            <a:ext cx="9144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0" y="828675"/>
            <a:ext cx="9144000" cy="28575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428625" y="454521"/>
            <a:ext cx="3385635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kern="0" spc="1" dirty="0">
                <a:solidFill>
                  <a:srgbClr val="333333"/>
                </a:solidFill>
              </a:rPr>
              <a:t>Resources and Further Learning</a:t>
            </a:r>
            <a:endParaRPr lang="en-US" sz="1193" dirty="0"/>
          </a:p>
        </p:txBody>
      </p:sp>
      <p:sp>
        <p:nvSpPr>
          <p:cNvPr id="6" name="Text 3"/>
          <p:cNvSpPr/>
          <p:nvPr/>
        </p:nvSpPr>
        <p:spPr>
          <a:xfrm>
            <a:off x="214313" y="1071563"/>
            <a:ext cx="2762231" cy="333970"/>
          </a:xfrm>
          <a:prstGeom prst="rect">
            <a:avLst/>
          </a:prstGeom>
          <a:noFill/>
          <a:ln/>
        </p:spPr>
        <p:txBody>
          <a:bodyPr wrap="square" lIns="0" tIns="0" rIns="0" bIns="8509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47AB"/>
                </a:solidFill>
              </a:rPr>
              <a:t>Essential Reading</a:t>
            </a:r>
            <a:endParaRPr lang="en-US" sz="1193" dirty="0"/>
          </a:p>
        </p:txBody>
      </p:sp>
      <p:sp>
        <p:nvSpPr>
          <p:cNvPr id="7" name="Shape 4"/>
          <p:cNvSpPr/>
          <p:nvPr/>
        </p:nvSpPr>
        <p:spPr>
          <a:xfrm>
            <a:off x="214312" y="1534120"/>
            <a:ext cx="1068387" cy="173236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5"/>
          <p:cNvSpPr/>
          <p:nvPr/>
        </p:nvSpPr>
        <p:spPr>
          <a:xfrm>
            <a:off x="213162" y="1536969"/>
            <a:ext cx="998537" cy="165495"/>
          </a:xfrm>
          <a:prstGeom prst="rect">
            <a:avLst/>
          </a:prstGeom>
          <a:noFill/>
          <a:ln/>
        </p:spPr>
        <p:txBody>
          <a:bodyPr wrap="square" lIns="68072" tIns="34036" rIns="68072" bIns="34036" rtlCol="0" anchor="t">
            <a:spAutoFit/>
          </a:bodyPr>
          <a:lstStyle/>
          <a:p>
            <a:pPr marL="0" indent="0" algn="l">
              <a:lnSpc>
                <a:spcPts val="800"/>
              </a:lnSpc>
              <a:buNone/>
            </a:pPr>
            <a:r>
              <a:rPr lang="en-US" sz="584" b="1" dirty="0">
                <a:solidFill>
                  <a:srgbClr val="666666"/>
                </a:solidFill>
              </a:rPr>
              <a:t>FDR &amp; Benjamini-Hochberg</a:t>
            </a:r>
            <a:endParaRPr lang="en-US" sz="584" dirty="0"/>
          </a:p>
        </p:txBody>
      </p:sp>
      <p:sp>
        <p:nvSpPr>
          <p:cNvPr id="9" name="Text 6"/>
          <p:cNvSpPr/>
          <p:nvPr/>
        </p:nvSpPr>
        <p:spPr>
          <a:xfrm>
            <a:off x="214313" y="1798249"/>
            <a:ext cx="2762231" cy="1680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0000"/>
                </a:solidFill>
              </a:rPr>
              <a:t>A Tutorial on False Discovery Control</a:t>
            </a:r>
            <a:endParaRPr lang="en-US" sz="987" dirty="0"/>
          </a:p>
        </p:txBody>
      </p:sp>
      <p:sp>
        <p:nvSpPr>
          <p:cNvPr id="10" name="Text 7"/>
          <p:cNvSpPr/>
          <p:nvPr/>
        </p:nvSpPr>
        <p:spPr>
          <a:xfrm>
            <a:off x="213162" y="2044920"/>
            <a:ext cx="2762231" cy="3460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400"/>
              </a:lnSpc>
            </a:pPr>
            <a:r>
              <a:rPr lang="en-US" sz="942" dirty="0">
                <a:solidFill>
                  <a:srgbClr val="555555"/>
                </a:solidFill>
                <a:hlinkClick r:id="rId4"/>
              </a:rPr>
              <a:t>https://www.stat.cmu.edu/~genovese/talks/hannover1-04.pdf</a:t>
            </a:r>
            <a:r>
              <a:rPr lang="en-US" sz="942" dirty="0">
                <a:solidFill>
                  <a:srgbClr val="555555"/>
                </a:solidFill>
              </a:rPr>
              <a:t> </a:t>
            </a:r>
            <a:endParaRPr lang="en-US" sz="942" dirty="0"/>
          </a:p>
        </p:txBody>
      </p:sp>
      <p:sp>
        <p:nvSpPr>
          <p:cNvPr id="11" name="Shape 8"/>
          <p:cNvSpPr/>
          <p:nvPr/>
        </p:nvSpPr>
        <p:spPr>
          <a:xfrm>
            <a:off x="6180606" y="1577033"/>
            <a:ext cx="1068387" cy="173236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6180606" y="1577033"/>
            <a:ext cx="1068387" cy="165495"/>
          </a:xfrm>
          <a:prstGeom prst="rect">
            <a:avLst/>
          </a:prstGeom>
          <a:noFill/>
          <a:ln/>
        </p:spPr>
        <p:txBody>
          <a:bodyPr wrap="square" lIns="68072" tIns="34036" rIns="68072" bIns="34036" rtlCol="0" anchor="t">
            <a:spAutoFit/>
          </a:bodyPr>
          <a:lstStyle/>
          <a:p>
            <a:pPr marL="0" indent="0" algn="l">
              <a:lnSpc>
                <a:spcPts val="800"/>
              </a:lnSpc>
              <a:buNone/>
            </a:pPr>
            <a:r>
              <a:rPr lang="en-US" sz="584" b="1" dirty="0">
                <a:solidFill>
                  <a:srgbClr val="666666"/>
                </a:solidFill>
              </a:rPr>
              <a:t>Proteomics Analysis with R</a:t>
            </a:r>
            <a:endParaRPr lang="en-US" sz="584" dirty="0"/>
          </a:p>
        </p:txBody>
      </p:sp>
      <p:sp>
        <p:nvSpPr>
          <p:cNvPr id="13" name="Text 10"/>
          <p:cNvSpPr/>
          <p:nvPr/>
        </p:nvSpPr>
        <p:spPr>
          <a:xfrm>
            <a:off x="6180607" y="1821707"/>
            <a:ext cx="2547172" cy="1680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0000"/>
                </a:solidFill>
              </a:rPr>
              <a:t>Using R for Proteomics Data Analysis (</a:t>
            </a:r>
            <a:r>
              <a:rPr lang="en-US" sz="987" b="1" dirty="0" err="1">
                <a:solidFill>
                  <a:srgbClr val="000000"/>
                </a:solidFill>
              </a:rPr>
              <a:t>nov.</a:t>
            </a:r>
            <a:r>
              <a:rPr lang="en-US" sz="987" b="1" dirty="0">
                <a:solidFill>
                  <a:srgbClr val="000000"/>
                </a:solidFill>
              </a:rPr>
              <a:t> 2025)</a:t>
            </a:r>
            <a:endParaRPr lang="en-US" sz="987" dirty="0"/>
          </a:p>
        </p:txBody>
      </p:sp>
      <p:sp>
        <p:nvSpPr>
          <p:cNvPr id="14" name="Text 11"/>
          <p:cNvSpPr/>
          <p:nvPr/>
        </p:nvSpPr>
        <p:spPr>
          <a:xfrm>
            <a:off x="6180607" y="2052093"/>
            <a:ext cx="2762231" cy="5255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400"/>
              </a:lnSpc>
            </a:pPr>
            <a:r>
              <a:rPr lang="en-US" sz="942" dirty="0">
                <a:solidFill>
                  <a:srgbClr val="555555"/>
                </a:solidFill>
                <a:hlinkClick r:id="rId5"/>
              </a:rPr>
              <a:t>https://www.bioconductor.org/packages/release/data/experiment/vignettes/RforProteomics/inst/doc/RforProteomics.html</a:t>
            </a:r>
            <a:r>
              <a:rPr lang="en-US" sz="942" dirty="0">
                <a:solidFill>
                  <a:srgbClr val="555555"/>
                </a:solidFill>
              </a:rPr>
              <a:t> </a:t>
            </a:r>
            <a:endParaRPr lang="en-US" sz="942" dirty="0"/>
          </a:p>
        </p:txBody>
      </p:sp>
      <p:sp>
        <p:nvSpPr>
          <p:cNvPr id="17" name="Text 14"/>
          <p:cNvSpPr/>
          <p:nvPr/>
        </p:nvSpPr>
        <p:spPr>
          <a:xfrm>
            <a:off x="6180607" y="2785387"/>
            <a:ext cx="1660711" cy="1680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0000"/>
                </a:solidFill>
              </a:rPr>
              <a:t>R for Mass Spectrometry (2026)</a:t>
            </a:r>
            <a:endParaRPr lang="en-US" sz="987" dirty="0"/>
          </a:p>
        </p:txBody>
      </p:sp>
      <p:sp>
        <p:nvSpPr>
          <p:cNvPr id="18" name="Text 15"/>
          <p:cNvSpPr/>
          <p:nvPr/>
        </p:nvSpPr>
        <p:spPr>
          <a:xfrm>
            <a:off x="6180607" y="3015773"/>
            <a:ext cx="2762231" cy="16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400"/>
              </a:lnSpc>
            </a:pPr>
            <a:r>
              <a:rPr lang="en-US" sz="942" dirty="0">
                <a:solidFill>
                  <a:srgbClr val="555555"/>
                </a:solidFill>
                <a:hlinkClick r:id="rId6"/>
              </a:rPr>
              <a:t>https://www.rformassspectrometry.org</a:t>
            </a:r>
            <a:r>
              <a:rPr lang="en-US" sz="942" dirty="0">
                <a:solidFill>
                  <a:srgbClr val="555555"/>
                </a:solidFill>
              </a:rPr>
              <a:t> </a:t>
            </a:r>
            <a:endParaRPr lang="en-US" sz="942" dirty="0"/>
          </a:p>
        </p:txBody>
      </p:sp>
      <p:sp>
        <p:nvSpPr>
          <p:cNvPr id="19" name="Text 16"/>
          <p:cNvSpPr/>
          <p:nvPr/>
        </p:nvSpPr>
        <p:spPr>
          <a:xfrm>
            <a:off x="3190856" y="1071563"/>
            <a:ext cx="2762259" cy="333970"/>
          </a:xfrm>
          <a:prstGeom prst="rect">
            <a:avLst/>
          </a:prstGeom>
          <a:noFill/>
          <a:ln/>
        </p:spPr>
        <p:txBody>
          <a:bodyPr wrap="square" lIns="0" tIns="0" rIns="0" bIns="8509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FF3B30"/>
                </a:solidFill>
              </a:rPr>
              <a:t>Software &amp; Tools</a:t>
            </a:r>
            <a:endParaRPr lang="en-US" sz="1193" dirty="0"/>
          </a:p>
        </p:txBody>
      </p:sp>
      <p:sp>
        <p:nvSpPr>
          <p:cNvPr id="20" name="Shape 17"/>
          <p:cNvSpPr/>
          <p:nvPr/>
        </p:nvSpPr>
        <p:spPr>
          <a:xfrm>
            <a:off x="3190856" y="1534120"/>
            <a:ext cx="572086" cy="173236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8"/>
          <p:cNvSpPr/>
          <p:nvPr/>
        </p:nvSpPr>
        <p:spPr>
          <a:xfrm>
            <a:off x="3190856" y="1534120"/>
            <a:ext cx="572086" cy="173236"/>
          </a:xfrm>
          <a:prstGeom prst="rect">
            <a:avLst/>
          </a:prstGeom>
          <a:noFill/>
          <a:ln/>
        </p:spPr>
        <p:txBody>
          <a:bodyPr wrap="square" lIns="68072" tIns="34036" rIns="68072" bIns="34036" rtlCol="0" anchor="t">
            <a:spAutoFit/>
          </a:bodyPr>
          <a:lstStyle/>
          <a:p>
            <a:pPr marL="0" indent="0" algn="l">
              <a:lnSpc>
                <a:spcPts val="800"/>
              </a:lnSpc>
              <a:buNone/>
            </a:pPr>
            <a:r>
              <a:rPr lang="en-US" sz="584" b="1" dirty="0">
                <a:solidFill>
                  <a:srgbClr val="666666"/>
                </a:solidFill>
              </a:rPr>
              <a:t>Platform</a:t>
            </a:r>
            <a:endParaRPr lang="en-US" sz="584" dirty="0"/>
          </a:p>
        </p:txBody>
      </p:sp>
      <p:sp>
        <p:nvSpPr>
          <p:cNvPr id="22" name="Text 19"/>
          <p:cNvSpPr/>
          <p:nvPr/>
        </p:nvSpPr>
        <p:spPr>
          <a:xfrm>
            <a:off x="3190856" y="1778794"/>
            <a:ext cx="2762259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0000"/>
                </a:solidFill>
              </a:rPr>
              <a:t>Bioconductor</a:t>
            </a:r>
            <a:endParaRPr lang="en-US" sz="987" dirty="0"/>
          </a:p>
        </p:txBody>
      </p:sp>
      <p:sp>
        <p:nvSpPr>
          <p:cNvPr id="23" name="Text 20"/>
          <p:cNvSpPr/>
          <p:nvPr/>
        </p:nvSpPr>
        <p:spPr>
          <a:xfrm>
            <a:off x="3190856" y="2009180"/>
            <a:ext cx="2762259" cy="3460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400"/>
              </a:lnSpc>
            </a:pPr>
            <a:r>
              <a:rPr lang="en-US" sz="942" dirty="0">
                <a:solidFill>
                  <a:srgbClr val="555555"/>
                </a:solidFill>
              </a:rPr>
              <a:t>Open-source software project for high-throughput genomic/proteomic data </a:t>
            </a:r>
            <a:r>
              <a:rPr lang="en-US" sz="942" dirty="0">
                <a:solidFill>
                  <a:srgbClr val="555555"/>
                </a:solidFill>
                <a:hlinkClick r:id="rId7"/>
              </a:rPr>
              <a:t>https://www.bioconductor.org</a:t>
            </a:r>
            <a:endParaRPr lang="en-US" sz="942" dirty="0"/>
          </a:p>
        </p:txBody>
      </p:sp>
      <p:sp>
        <p:nvSpPr>
          <p:cNvPr id="24" name="Shape 21"/>
          <p:cNvSpPr/>
          <p:nvPr/>
        </p:nvSpPr>
        <p:spPr>
          <a:xfrm>
            <a:off x="3190856" y="2497801"/>
            <a:ext cx="572086" cy="173236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2"/>
          <p:cNvSpPr/>
          <p:nvPr/>
        </p:nvSpPr>
        <p:spPr>
          <a:xfrm>
            <a:off x="3190856" y="2497801"/>
            <a:ext cx="500342" cy="165495"/>
          </a:xfrm>
          <a:prstGeom prst="rect">
            <a:avLst/>
          </a:prstGeom>
          <a:noFill/>
          <a:ln/>
        </p:spPr>
        <p:txBody>
          <a:bodyPr wrap="square" lIns="68072" tIns="34036" rIns="68072" bIns="34036" rtlCol="0" anchor="t">
            <a:spAutoFit/>
          </a:bodyPr>
          <a:lstStyle/>
          <a:p>
            <a:pPr marL="0" indent="0" algn="l">
              <a:lnSpc>
                <a:spcPts val="800"/>
              </a:lnSpc>
              <a:buNone/>
            </a:pPr>
            <a:r>
              <a:rPr lang="en-US" sz="584" b="1" dirty="0">
                <a:solidFill>
                  <a:srgbClr val="666666"/>
                </a:solidFill>
              </a:rPr>
              <a:t>R Package</a:t>
            </a:r>
            <a:endParaRPr lang="en-US" sz="584" dirty="0"/>
          </a:p>
        </p:txBody>
      </p:sp>
      <p:sp>
        <p:nvSpPr>
          <p:cNvPr id="26" name="Text 23"/>
          <p:cNvSpPr/>
          <p:nvPr/>
        </p:nvSpPr>
        <p:spPr>
          <a:xfrm>
            <a:off x="3190856" y="2742474"/>
            <a:ext cx="328616" cy="1680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 err="1">
                <a:solidFill>
                  <a:srgbClr val="000000"/>
                </a:solidFill>
              </a:rPr>
              <a:t>limma</a:t>
            </a:r>
            <a:endParaRPr lang="en-US" sz="987" dirty="0"/>
          </a:p>
        </p:txBody>
      </p:sp>
      <p:sp>
        <p:nvSpPr>
          <p:cNvPr id="27" name="Text 24"/>
          <p:cNvSpPr/>
          <p:nvPr/>
        </p:nvSpPr>
        <p:spPr>
          <a:xfrm>
            <a:off x="3190856" y="2972860"/>
            <a:ext cx="2762259" cy="5255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400"/>
              </a:lnSpc>
            </a:pPr>
            <a:r>
              <a:rPr lang="en-US" sz="942" dirty="0">
                <a:solidFill>
                  <a:srgbClr val="555555"/>
                </a:solidFill>
              </a:rPr>
              <a:t>Linear models for microarrays and omics data </a:t>
            </a:r>
            <a:r>
              <a:rPr lang="en-US" sz="942" dirty="0">
                <a:solidFill>
                  <a:srgbClr val="555555"/>
                </a:solidFill>
                <a:hlinkClick r:id="rId8"/>
              </a:rPr>
              <a:t>https://www.bioconductor.org/packages/release/bioc/html/limma.html</a:t>
            </a:r>
            <a:endParaRPr lang="en-US" sz="942" dirty="0">
              <a:solidFill>
                <a:srgbClr val="555555"/>
              </a:solidFill>
            </a:endParaRPr>
          </a:p>
        </p:txBody>
      </p:sp>
      <p:sp>
        <p:nvSpPr>
          <p:cNvPr id="28" name="Shape 25"/>
          <p:cNvSpPr/>
          <p:nvPr/>
        </p:nvSpPr>
        <p:spPr>
          <a:xfrm>
            <a:off x="179720" y="3781591"/>
            <a:ext cx="1418539" cy="173236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9" name="Text 26"/>
          <p:cNvSpPr/>
          <p:nvPr/>
        </p:nvSpPr>
        <p:spPr>
          <a:xfrm>
            <a:off x="189766" y="3781591"/>
            <a:ext cx="1418540" cy="165495"/>
          </a:xfrm>
          <a:prstGeom prst="rect">
            <a:avLst/>
          </a:prstGeom>
          <a:noFill/>
          <a:ln/>
        </p:spPr>
        <p:txBody>
          <a:bodyPr wrap="square" lIns="68072" tIns="34036" rIns="68072" bIns="34036" rtlCol="0" anchor="t">
            <a:spAutoFit/>
          </a:bodyPr>
          <a:lstStyle/>
          <a:p>
            <a:pPr marL="0" indent="0" algn="l">
              <a:lnSpc>
                <a:spcPts val="800"/>
              </a:lnSpc>
              <a:buNone/>
            </a:pPr>
            <a:r>
              <a:rPr lang="en-US" sz="584" b="1" dirty="0">
                <a:solidFill>
                  <a:srgbClr val="666666"/>
                </a:solidFill>
              </a:rPr>
              <a:t>This Presentation &amp; Associated R Scripts</a:t>
            </a:r>
            <a:endParaRPr lang="en-US" sz="584" dirty="0"/>
          </a:p>
        </p:txBody>
      </p:sp>
      <p:sp>
        <p:nvSpPr>
          <p:cNvPr id="31" name="Text 28"/>
          <p:cNvSpPr/>
          <p:nvPr/>
        </p:nvSpPr>
        <p:spPr>
          <a:xfrm>
            <a:off x="179721" y="4145855"/>
            <a:ext cx="4261195" cy="16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400"/>
              </a:lnSpc>
            </a:pPr>
            <a:r>
              <a:rPr lang="en-US" sz="942" dirty="0">
                <a:solidFill>
                  <a:srgbClr val="555555"/>
                </a:solidFill>
                <a:hlinkClick r:id="rId9"/>
              </a:rPr>
              <a:t>https://filedn.com/lzGVgfOGxb6mHFQcRn9ueUb/bepa2026/generate_visualizations.R</a:t>
            </a:r>
            <a:r>
              <a:rPr lang="en-US" sz="942" dirty="0">
                <a:solidFill>
                  <a:srgbClr val="555555"/>
                </a:solidFill>
              </a:rPr>
              <a:t> </a:t>
            </a:r>
            <a:endParaRPr lang="en-US" sz="942" dirty="0"/>
          </a:p>
        </p:txBody>
      </p:sp>
      <p:sp>
        <p:nvSpPr>
          <p:cNvPr id="32" name="Text 29"/>
          <p:cNvSpPr/>
          <p:nvPr/>
        </p:nvSpPr>
        <p:spPr>
          <a:xfrm>
            <a:off x="6167428" y="1071563"/>
            <a:ext cx="2762231" cy="280205"/>
          </a:xfrm>
          <a:prstGeom prst="rect">
            <a:avLst/>
          </a:prstGeom>
          <a:noFill/>
          <a:ln/>
        </p:spPr>
        <p:txBody>
          <a:bodyPr wrap="square" lIns="0" tIns="0" rIns="0" bIns="8509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333333"/>
                </a:solidFill>
              </a:rPr>
              <a:t>Proteomics with Open Source Software</a:t>
            </a:r>
            <a:endParaRPr lang="en-US" sz="1193" dirty="0"/>
          </a:p>
        </p:txBody>
      </p:sp>
      <p:sp>
        <p:nvSpPr>
          <p:cNvPr id="33" name="Shape 30"/>
          <p:cNvSpPr/>
          <p:nvPr/>
        </p:nvSpPr>
        <p:spPr>
          <a:xfrm>
            <a:off x="6167428" y="3758511"/>
            <a:ext cx="1210402" cy="173236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4" name="Text 31"/>
          <p:cNvSpPr/>
          <p:nvPr/>
        </p:nvSpPr>
        <p:spPr>
          <a:xfrm>
            <a:off x="6167428" y="3758511"/>
            <a:ext cx="1160298" cy="165495"/>
          </a:xfrm>
          <a:prstGeom prst="rect">
            <a:avLst/>
          </a:prstGeom>
          <a:noFill/>
          <a:ln/>
        </p:spPr>
        <p:txBody>
          <a:bodyPr wrap="square" lIns="68072" tIns="34036" rIns="68072" bIns="34036" rtlCol="0" anchor="t">
            <a:spAutoFit/>
          </a:bodyPr>
          <a:lstStyle/>
          <a:p>
            <a:pPr marL="0" indent="0" algn="l">
              <a:lnSpc>
                <a:spcPts val="800"/>
              </a:lnSpc>
              <a:buNone/>
            </a:pPr>
            <a:r>
              <a:rPr lang="en-US" sz="584" b="1" dirty="0">
                <a:solidFill>
                  <a:srgbClr val="666666"/>
                </a:solidFill>
              </a:rPr>
              <a:t>Proteomics Analysis with Python</a:t>
            </a:r>
            <a:endParaRPr lang="en-US" sz="584" dirty="0"/>
          </a:p>
        </p:txBody>
      </p:sp>
      <p:sp>
        <p:nvSpPr>
          <p:cNvPr id="35" name="Text 32"/>
          <p:cNvSpPr/>
          <p:nvPr/>
        </p:nvSpPr>
        <p:spPr>
          <a:xfrm>
            <a:off x="6167428" y="4003185"/>
            <a:ext cx="537006" cy="1680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 err="1">
                <a:solidFill>
                  <a:srgbClr val="000000"/>
                </a:solidFill>
              </a:rPr>
              <a:t>Pyteomics</a:t>
            </a:r>
            <a:endParaRPr lang="en-US" sz="987" dirty="0"/>
          </a:p>
        </p:txBody>
      </p:sp>
      <p:sp>
        <p:nvSpPr>
          <p:cNvPr id="36" name="Text 33"/>
          <p:cNvSpPr/>
          <p:nvPr/>
        </p:nvSpPr>
        <p:spPr>
          <a:xfrm>
            <a:off x="6167428" y="4233571"/>
            <a:ext cx="2762231" cy="16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400"/>
              </a:lnSpc>
            </a:pPr>
            <a:r>
              <a:rPr lang="en-US" sz="942" dirty="0">
                <a:solidFill>
                  <a:srgbClr val="555555"/>
                </a:solidFill>
                <a:hlinkClick r:id="rId10"/>
              </a:rPr>
              <a:t>https://pyteomics.readthedocs.io/en/latest/</a:t>
            </a:r>
            <a:r>
              <a:rPr lang="en-US" sz="942" dirty="0">
                <a:solidFill>
                  <a:srgbClr val="555555"/>
                </a:solidFill>
              </a:rPr>
              <a:t> </a:t>
            </a:r>
            <a:endParaRPr lang="en-US" sz="942" dirty="0"/>
          </a:p>
        </p:txBody>
      </p:sp>
      <p:sp>
        <p:nvSpPr>
          <p:cNvPr id="45" name="Text 28">
            <a:extLst>
              <a:ext uri="{FF2B5EF4-FFF2-40B4-BE49-F238E27FC236}">
                <a16:creationId xmlns:a16="http://schemas.microsoft.com/office/drawing/2014/main" id="{6DF7698E-E56B-BAD5-682A-6122E56CC849}"/>
              </a:ext>
            </a:extLst>
          </p:cNvPr>
          <p:cNvSpPr/>
          <p:nvPr/>
        </p:nvSpPr>
        <p:spPr>
          <a:xfrm>
            <a:off x="179721" y="4328840"/>
            <a:ext cx="4261195" cy="16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400"/>
              </a:lnSpc>
            </a:pPr>
            <a:r>
              <a:rPr lang="en-US" sz="942" dirty="0">
                <a:solidFill>
                  <a:srgbClr val="555555"/>
                </a:solidFill>
                <a:hlinkClick r:id="rId9"/>
              </a:rPr>
              <a:t>https://filedn.com/lzGVgfOGxb6mHFQcRn9ueUb/bepa2026/r_code_examples.R</a:t>
            </a:r>
            <a:r>
              <a:rPr lang="en-US" sz="942" dirty="0">
                <a:solidFill>
                  <a:srgbClr val="555555"/>
                </a:solidFill>
              </a:rPr>
              <a:t> </a:t>
            </a:r>
            <a:endParaRPr lang="en-US" sz="942" dirty="0"/>
          </a:p>
        </p:txBody>
      </p:sp>
      <p:sp>
        <p:nvSpPr>
          <p:cNvPr id="46" name="Text 6">
            <a:extLst>
              <a:ext uri="{FF2B5EF4-FFF2-40B4-BE49-F238E27FC236}">
                <a16:creationId xmlns:a16="http://schemas.microsoft.com/office/drawing/2014/main" id="{24D923BC-2F89-CAF1-2CD1-1C32C2EC64F2}"/>
              </a:ext>
            </a:extLst>
          </p:cNvPr>
          <p:cNvSpPr/>
          <p:nvPr/>
        </p:nvSpPr>
        <p:spPr>
          <a:xfrm>
            <a:off x="217558" y="2651041"/>
            <a:ext cx="2762231" cy="3475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0000"/>
                </a:solidFill>
              </a:rPr>
              <a:t>Controlling the False Discovery Rate: A Practical and Powerful Approach to Multiple Testing (1995)</a:t>
            </a:r>
            <a:endParaRPr lang="en-US" sz="987" dirty="0"/>
          </a:p>
        </p:txBody>
      </p:sp>
      <p:sp>
        <p:nvSpPr>
          <p:cNvPr id="47" name="Text 7">
            <a:extLst>
              <a:ext uri="{FF2B5EF4-FFF2-40B4-BE49-F238E27FC236}">
                <a16:creationId xmlns:a16="http://schemas.microsoft.com/office/drawing/2014/main" id="{CF7741FE-D235-9C4C-AF54-52E9FD296B10}"/>
              </a:ext>
            </a:extLst>
          </p:cNvPr>
          <p:cNvSpPr/>
          <p:nvPr/>
        </p:nvSpPr>
        <p:spPr>
          <a:xfrm>
            <a:off x="216407" y="3163601"/>
            <a:ext cx="2762231" cy="3460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400"/>
              </a:lnSpc>
            </a:pPr>
            <a:r>
              <a:rPr lang="en-US" sz="942" dirty="0">
                <a:solidFill>
                  <a:srgbClr val="555555"/>
                </a:solidFill>
                <a:hlinkClick r:id="rId11"/>
              </a:rPr>
              <a:t>https://rss.onlinelibrary.wiley.com/doi/10.1111/j.2517-6161.1995.tb02031.x</a:t>
            </a:r>
            <a:r>
              <a:rPr lang="en-US" sz="942" dirty="0">
                <a:solidFill>
                  <a:srgbClr val="555555"/>
                </a:solidFill>
              </a:rPr>
              <a:t> </a:t>
            </a:r>
            <a:endParaRPr lang="en-US" sz="942" dirty="0"/>
          </a:p>
        </p:txBody>
      </p:sp>
      <p:sp>
        <p:nvSpPr>
          <p:cNvPr id="48" name="Text 28">
            <a:extLst>
              <a:ext uri="{FF2B5EF4-FFF2-40B4-BE49-F238E27FC236}">
                <a16:creationId xmlns:a16="http://schemas.microsoft.com/office/drawing/2014/main" id="{928299E3-B2FD-CF52-1DD4-63BDB0C12722}"/>
              </a:ext>
            </a:extLst>
          </p:cNvPr>
          <p:cNvSpPr/>
          <p:nvPr/>
        </p:nvSpPr>
        <p:spPr>
          <a:xfrm>
            <a:off x="189451" y="3974005"/>
            <a:ext cx="4261195" cy="16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400"/>
              </a:lnSpc>
            </a:pPr>
            <a:r>
              <a:rPr lang="en-US" sz="942" dirty="0">
                <a:solidFill>
                  <a:srgbClr val="555555"/>
                </a:solidFill>
                <a:hlinkClick r:id="rId12"/>
              </a:rPr>
              <a:t>https://filedn.com/lzGVgfOGxb6mHFQcRn9ueUb/bepa2026/bepa2026_stats.pdf</a:t>
            </a:r>
            <a:endParaRPr lang="en-US" sz="942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1648</TotalTime>
  <Words>2572</Words>
  <Application>Microsoft Macintosh PowerPoint</Application>
  <PresentationFormat>Affichage à l'écran (16:9)</PresentationFormat>
  <Paragraphs>336</Paragraphs>
  <Slides>23</Slides>
  <Notes>23</Notes>
  <HiddenSlides>0</HiddenSlides>
  <MMClips>0</MMClips>
  <ScaleCrop>false</ScaleCrop>
  <HeadingPairs>
    <vt:vector size="6" baseType="variant">
      <vt:variant>
        <vt:lpstr>Polices utilisées</vt:lpstr>
      </vt:variant>
      <vt:variant>
        <vt:i4>1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23</vt:i4>
      </vt:variant>
    </vt:vector>
  </HeadingPairs>
  <TitlesOfParts>
    <vt:vector size="25" baseType="lpstr">
      <vt:lpstr>Arial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Philippe GROSJEAN</cp:lastModifiedBy>
  <cp:revision>12</cp:revision>
  <dcterms:created xsi:type="dcterms:W3CDTF">2026-01-27T11:45:20Z</dcterms:created>
  <dcterms:modified xsi:type="dcterms:W3CDTF">2026-01-29T11:35:58Z</dcterms:modified>
</cp:coreProperties>
</file>