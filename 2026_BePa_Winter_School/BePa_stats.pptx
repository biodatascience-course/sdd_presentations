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8"/>
    <p:restoredTop sz="94610"/>
  </p:normalViewPr>
  <p:slideViewPr>
    <p:cSldViewPr snapToGrid="0" snapToObjects="1">
      <p:cViewPr>
        <p:scale>
          <a:sx n="196" d="100"/>
          <a:sy n="196" d="100"/>
        </p:scale>
        <p:origin x="336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324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7C37-3D64-8FD5-C033-738A2D14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144B7-931B-53A8-574D-844ACA0F0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BEE3F-8EF3-B7F1-1359-DE6817A7F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4524C-EC9B-9FAC-9521-1502F8BA3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7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eb.umons.ac.be/statforu/" TargetMode="External"/><Relationship Id="rId4" Type="http://schemas.openxmlformats.org/officeDocument/2006/relationships/hyperlink" Target="mailto:philippe.grosjean@umons.ac.b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web.umons.ac.be/statforu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ioconductor.org/packages/release/bioc/html/limma.html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www.bioconductor.org/" TargetMode="External"/><Relationship Id="rId12" Type="http://schemas.openxmlformats.org/officeDocument/2006/relationships/hyperlink" Target="https://filedn.com/lzGVgfOGxb6mHFQcRn9ueUb/bepa2026/bepa2026_stats.pdf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formassspectrometry.org/" TargetMode="External"/><Relationship Id="rId11" Type="http://schemas.openxmlformats.org/officeDocument/2006/relationships/hyperlink" Target="https://rss.onlinelibrary.wiley.com/doi/10.1111/j.2517-6161.1995.tb02031.x" TargetMode="External"/><Relationship Id="rId5" Type="http://schemas.openxmlformats.org/officeDocument/2006/relationships/hyperlink" Target="https://www.bioconductor.org/packages/release/data/experiment/vignettes/RforProteomics/inst/doc/RforProteomics.html" TargetMode="External"/><Relationship Id="rId10" Type="http://schemas.openxmlformats.org/officeDocument/2006/relationships/hyperlink" Target="https://pyteomics.readthedocs.io/en/latest/" TargetMode="External"/><Relationship Id="rId4" Type="http://schemas.openxmlformats.org/officeDocument/2006/relationships/hyperlink" Target="https://www.stat.cmu.edu/~genovese/talks/hannover1-04.pdf" TargetMode="External"/><Relationship Id="rId9" Type="http://schemas.openxmlformats.org/officeDocument/2006/relationships/hyperlink" Target="https://filedn.com/lzGVgfOGxb6mHFQcRn9ueUb/bepa2026/generate_visualizations.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24433"/>
            <a:ext cx="5238741" cy="2197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249" b="1" kern="0" spc="-2" dirty="0">
                <a:solidFill>
                  <a:srgbClr val="000000"/>
                </a:solidFill>
              </a:rPr>
              <a:t>Initiation to Statistics in Proteomics Analysis</a:t>
            </a:r>
            <a:br>
              <a:rPr lang="en-US" sz="4249" b="1" kern="0" spc="-2" dirty="0">
                <a:solidFill>
                  <a:srgbClr val="000000"/>
                </a:solidFill>
              </a:rPr>
            </a:br>
            <a:br>
              <a:rPr lang="en-US" sz="4249" b="1" kern="0" spc="-2" dirty="0">
                <a:solidFill>
                  <a:srgbClr val="000000"/>
                </a:solidFill>
              </a:rPr>
            </a:br>
            <a:r>
              <a:rPr lang="en-US" sz="2400" b="1" kern="0" spc="-2" dirty="0" err="1">
                <a:solidFill>
                  <a:srgbClr val="000000"/>
                </a:solidFill>
              </a:rPr>
              <a:t>BePa</a:t>
            </a:r>
            <a:r>
              <a:rPr lang="en-US" sz="2400" b="1" kern="0" spc="-2" dirty="0">
                <a:solidFill>
                  <a:srgbClr val="000000"/>
                </a:solidFill>
              </a:rPr>
              <a:t> Winter School 2026 - UMONS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3679031"/>
            <a:ext cx="5238741" cy="125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Philippe Grosjean</a:t>
            </a:r>
            <a:br>
              <a:rPr lang="en-US" sz="1704" dirty="0">
                <a:solidFill>
                  <a:srgbClr val="333333"/>
                </a:solidFill>
              </a:rPr>
            </a:br>
            <a:r>
              <a:rPr lang="en-US" sz="1704" dirty="0">
                <a:solidFill>
                  <a:srgbClr val="333333"/>
                </a:solidFill>
              </a:rPr>
              <a:t>Numerical Ecology &amp; </a:t>
            </a:r>
            <a:r>
              <a:rPr lang="en-US" sz="1704" dirty="0" err="1">
                <a:solidFill>
                  <a:srgbClr val="333333"/>
                </a:solidFill>
              </a:rPr>
              <a:t>STATforU</a:t>
            </a:r>
            <a:r>
              <a:rPr lang="en-US" sz="1704" dirty="0">
                <a:solidFill>
                  <a:srgbClr val="333333"/>
                </a:solidFill>
              </a:rPr>
              <a:t>, UMONS</a:t>
            </a:r>
            <a:br>
              <a:rPr lang="en-US" sz="1704" dirty="0">
                <a:solidFill>
                  <a:srgbClr val="333333"/>
                </a:solidFill>
              </a:rPr>
            </a:br>
            <a:r>
              <a:rPr lang="en-US" sz="1704" dirty="0">
                <a:solidFill>
                  <a:srgbClr val="333333"/>
                </a:solidFill>
                <a:hlinkClick r:id="rId4"/>
              </a:rPr>
              <a:t>philippe.grosjean@umons.ac.be</a:t>
            </a:r>
            <a:br>
              <a:rPr lang="en-US" sz="1704" dirty="0">
                <a:solidFill>
                  <a:srgbClr val="333333"/>
                </a:solidFill>
              </a:rPr>
            </a:br>
            <a:r>
              <a:rPr lang="en-US" sz="1704" dirty="0">
                <a:solidFill>
                  <a:srgbClr val="333333"/>
                </a:solidFill>
                <a:hlinkClick r:id="rId5"/>
              </a:rPr>
              <a:t>https://web.umons.ac.be/statforu/</a:t>
            </a:r>
            <a:r>
              <a:rPr lang="en-US" sz="1704" dirty="0">
                <a:solidFill>
                  <a:srgbClr val="333333"/>
                </a:solidFill>
              </a:rPr>
              <a:t> 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6" descr="Une image contenant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490322EB-BD04-8362-406C-586C758C8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31" y="59789"/>
            <a:ext cx="2273300" cy="30607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C30A46A-B7DF-664C-FD37-699609F6C0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1131" y="4309011"/>
            <a:ext cx="2095500" cy="7747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BE77F93-8D27-58BA-4652-CB7489E117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4678" y="3149934"/>
            <a:ext cx="1226669" cy="11230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996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1594732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Presentation &amp; </a:t>
            </a:r>
            <a:r>
              <a:rPr lang="en-US" sz="1193" b="1" kern="0" spc="1" dirty="0" err="1">
                <a:solidFill>
                  <a:srgbClr val="333333"/>
                </a:solidFill>
              </a:rPr>
              <a:t>STATforU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00025" y="1057275"/>
            <a:ext cx="5086350" cy="2495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7AB"/>
                </a:solidFill>
              </a:rPr>
              <a:t>Bioengineer / marine biologist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7AB"/>
                </a:solidFill>
              </a:rPr>
              <a:t>Data Scientist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7AB"/>
                </a:solidFill>
              </a:rPr>
              <a:t>Teacher (data science &amp; statistics)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7AB"/>
                </a:solidFill>
              </a:rPr>
              <a:t>R software developer</a:t>
            </a:r>
            <a:br>
              <a:rPr lang="en-US" sz="2121" b="1" dirty="0">
                <a:solidFill>
                  <a:srgbClr val="0047AB"/>
                </a:solidFill>
              </a:rPr>
            </a:br>
            <a:br>
              <a:rPr lang="en-US" sz="2121" b="1" dirty="0">
                <a:solidFill>
                  <a:srgbClr val="0047AB"/>
                </a:solidFill>
              </a:rPr>
            </a:br>
            <a:br>
              <a:rPr lang="en-US" sz="2121" b="1" dirty="0">
                <a:solidFill>
                  <a:srgbClr val="0047AB"/>
                </a:solidFill>
              </a:rPr>
            </a:br>
            <a:r>
              <a:rPr lang="en-US" sz="2121" b="1" dirty="0">
                <a:solidFill>
                  <a:srgbClr val="0047AB"/>
                </a:solidFill>
              </a:rPr>
              <a:t>Manage </a:t>
            </a:r>
            <a:r>
              <a:rPr lang="en-US" sz="2121" b="1" dirty="0" err="1">
                <a:solidFill>
                  <a:srgbClr val="0047AB"/>
                </a:solidFill>
              </a:rPr>
              <a:t>STATforU</a:t>
            </a:r>
            <a:r>
              <a:rPr lang="en-US" sz="2121" b="1" dirty="0">
                <a:solidFill>
                  <a:srgbClr val="0047AB"/>
                </a:solidFill>
              </a:rPr>
              <a:t> with Kathy Huet</a:t>
            </a:r>
            <a:endParaRPr lang="en-US" sz="2121" dirty="0"/>
          </a:p>
        </p:txBody>
      </p:sp>
      <p:sp>
        <p:nvSpPr>
          <p:cNvPr id="8" name="Text 5"/>
          <p:cNvSpPr/>
          <p:nvPr/>
        </p:nvSpPr>
        <p:spPr>
          <a:xfrm>
            <a:off x="200025" y="3612425"/>
            <a:ext cx="5086350" cy="22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Consultancy in statistics at UMONS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200025" y="3973373"/>
            <a:ext cx="5086350" cy="22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See </a:t>
            </a:r>
            <a:r>
              <a:rPr lang="en-US" sz="1269" dirty="0">
                <a:solidFill>
                  <a:srgbClr val="333333"/>
                </a:solidFill>
                <a:hlinkClick r:id="rId4"/>
              </a:rPr>
              <a:t>https://web.umons.ac.be/statforu/</a:t>
            </a:r>
            <a:r>
              <a:rPr lang="en-US" sz="1269" dirty="0">
                <a:solidFill>
                  <a:srgbClr val="333333"/>
                </a:solidFill>
              </a:rPr>
              <a:t> 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21" descr="Une image contenant natation, sport, Équipement de plongée, eau&#10;&#10;Le contenu généré par l’IA peut être incorrect.">
            <a:extLst>
              <a:ext uri="{FF2B5EF4-FFF2-40B4-BE49-F238E27FC236}">
                <a16:creationId xmlns:a16="http://schemas.microsoft.com/office/drawing/2014/main" id="{1E0687F1-C938-5711-7D0B-F78346A67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781" y="897629"/>
            <a:ext cx="3204962" cy="1881173"/>
          </a:xfrm>
          <a:prstGeom prst="rect">
            <a:avLst/>
          </a:prstGeom>
        </p:spPr>
      </p:pic>
      <p:pic>
        <p:nvPicPr>
          <p:cNvPr id="28" name="Image 27" descr="Une image contenant Appareils électroniques, texte, ordinateur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8872671-EA47-0E27-0687-7C32509F4B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7781" y="2533485"/>
            <a:ext cx="3204962" cy="26092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3C907-AC7A-41A0-4E79-5F715BB7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B2A83EB-4DB3-7A3E-311E-CAF104382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0B84352-8F7E-BA97-F691-D38D0FC2D3C6}"/>
              </a:ext>
            </a:extLst>
          </p:cNvPr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2C0B6C2-52C2-24B5-9339-F0956636288C}"/>
              </a:ext>
            </a:extLst>
          </p:cNvPr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561B37C-BAC9-4F0D-79D1-FF9A3F432E4D}"/>
              </a:ext>
            </a:extLst>
          </p:cNvPr>
          <p:cNvSpPr/>
          <p:nvPr/>
        </p:nvSpPr>
        <p:spPr>
          <a:xfrm>
            <a:off x="428625" y="454521"/>
            <a:ext cx="375155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Why Statistics Matter in Proteomics</a:t>
            </a:r>
            <a:endParaRPr lang="en-US" sz="1193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A18FBD9-D61E-E95E-87CD-EFE337E69730}"/>
              </a:ext>
            </a:extLst>
          </p:cNvPr>
          <p:cNvSpPr/>
          <p:nvPr/>
        </p:nvSpPr>
        <p:spPr>
          <a:xfrm>
            <a:off x="200025" y="1057275"/>
            <a:ext cx="5086350" cy="144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7AB"/>
                </a:solidFill>
              </a:rPr>
              <a:t>Proteomics generates massive datasets requiring rigorous statistical frameworks to extract biological meaning.</a:t>
            </a:r>
            <a:endParaRPr lang="en-US" sz="2121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9821C97-699B-044D-C301-3E56AED996BF}"/>
              </a:ext>
            </a:extLst>
          </p:cNvPr>
          <p:cNvSpPr/>
          <p:nvPr/>
        </p:nvSpPr>
        <p:spPr>
          <a:xfrm>
            <a:off x="200025" y="2640285"/>
            <a:ext cx="5086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Modern mass spectrometry identifies thousands of proteins across multiple samples</a:t>
            </a:r>
            <a:endParaRPr lang="en-US" sz="1269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1B1EE9E-F4BA-4FE0-6F29-D665FD917CAE}"/>
              </a:ext>
            </a:extLst>
          </p:cNvPr>
          <p:cNvSpPr/>
          <p:nvPr/>
        </p:nvSpPr>
        <p:spPr>
          <a:xfrm>
            <a:off x="200025" y="3191749"/>
            <a:ext cx="5086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Biological variability and technical noise create uncertainty in measurements</a:t>
            </a:r>
            <a:endParaRPr lang="en-US" sz="1269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720AE17-2950-B4D8-626F-6F3D4E8531B2}"/>
              </a:ext>
            </a:extLst>
          </p:cNvPr>
          <p:cNvSpPr/>
          <p:nvPr/>
        </p:nvSpPr>
        <p:spPr>
          <a:xfrm>
            <a:off x="200025" y="3743213"/>
            <a:ext cx="5086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Statistical methods distinguish true biological signals from random variation</a:t>
            </a:r>
            <a:endParaRPr lang="en-US" sz="1269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73660CF-D2C6-50FF-0387-2B03B4090735}"/>
              </a:ext>
            </a:extLst>
          </p:cNvPr>
          <p:cNvSpPr/>
          <p:nvPr/>
        </p:nvSpPr>
        <p:spPr>
          <a:xfrm>
            <a:off x="200025" y="4294677"/>
            <a:ext cx="5086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Proper analysis prevents false discoveries and missed findings</a:t>
            </a:r>
            <a:endParaRPr lang="en-US" sz="1269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7A5783D-26BB-E60F-0003-457B21B7DA51}"/>
              </a:ext>
            </a:extLst>
          </p:cNvPr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D4524E3-9DDF-1FAB-B92D-02BCD1DCF602}"/>
              </a:ext>
            </a:extLst>
          </p:cNvPr>
          <p:cNvSpPr/>
          <p:nvPr/>
        </p:nvSpPr>
        <p:spPr>
          <a:xfrm>
            <a:off x="5966454" y="1123355"/>
            <a:ext cx="2697463" cy="114657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B4E5348-31A7-F024-C942-054AB67C0C30}"/>
              </a:ext>
            </a:extLst>
          </p:cNvPr>
          <p:cNvSpPr/>
          <p:nvPr/>
        </p:nvSpPr>
        <p:spPr>
          <a:xfrm>
            <a:off x="6109329" y="1266230"/>
            <a:ext cx="241171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3B30"/>
                </a:solidFill>
              </a:rPr>
              <a:t>~10K</a:t>
            </a:r>
            <a:endParaRPr lang="en-US" sz="3294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9D1E720-62E9-2F85-2BEB-105ACE0E7CC8}"/>
              </a:ext>
            </a:extLst>
          </p:cNvPr>
          <p:cNvSpPr/>
          <p:nvPr/>
        </p:nvSpPr>
        <p:spPr>
          <a:xfrm>
            <a:off x="6109329" y="1932384"/>
            <a:ext cx="16817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kern="0" spc="1" dirty="0">
                <a:solidFill>
                  <a:srgbClr val="FFFFFF"/>
                </a:solidFill>
              </a:rPr>
              <a:t>Proteins per sample</a:t>
            </a:r>
            <a:endParaRPr lang="en-US" sz="10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35FB9DA-68D9-754E-8A1E-739C2E708398}"/>
              </a:ext>
            </a:extLst>
          </p:cNvPr>
          <p:cNvSpPr/>
          <p:nvPr/>
        </p:nvSpPr>
        <p:spPr>
          <a:xfrm>
            <a:off x="5966454" y="2355652"/>
            <a:ext cx="2697463" cy="1146572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2CB1CE3-F482-B8EE-8ACC-3957F7FC4148}"/>
              </a:ext>
            </a:extLst>
          </p:cNvPr>
          <p:cNvSpPr/>
          <p:nvPr/>
        </p:nvSpPr>
        <p:spPr>
          <a:xfrm>
            <a:off x="6109329" y="2498527"/>
            <a:ext cx="241171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3B30"/>
                </a:solidFill>
              </a:rPr>
              <a:t>95%</a:t>
            </a:r>
            <a:endParaRPr lang="en-US" sz="3294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8A30C56-396B-F31A-B5D0-13D181F7ADBD}"/>
              </a:ext>
            </a:extLst>
          </p:cNvPr>
          <p:cNvSpPr/>
          <p:nvPr/>
        </p:nvSpPr>
        <p:spPr>
          <a:xfrm>
            <a:off x="6109329" y="3164681"/>
            <a:ext cx="13861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kern="0" spc="1" dirty="0">
                <a:solidFill>
                  <a:srgbClr val="FFFFFF"/>
                </a:solidFill>
              </a:rPr>
              <a:t>Noise Reduction</a:t>
            </a:r>
            <a:endParaRPr lang="en-US" sz="10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9FA75D6-2B2C-11E4-1EDC-11B88C5039F4}"/>
              </a:ext>
            </a:extLst>
          </p:cNvPr>
          <p:cNvSpPr/>
          <p:nvPr/>
        </p:nvSpPr>
        <p:spPr>
          <a:xfrm>
            <a:off x="5966454" y="3587948"/>
            <a:ext cx="2697463" cy="1203722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2C99D73-EED7-7602-3323-83E1DFA1FEAA}"/>
              </a:ext>
            </a:extLst>
          </p:cNvPr>
          <p:cNvSpPr/>
          <p:nvPr/>
        </p:nvSpPr>
        <p:spPr>
          <a:xfrm>
            <a:off x="6109329" y="3759398"/>
            <a:ext cx="241171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3B30"/>
                </a:solidFill>
              </a:rPr>
              <a:t>1</a:t>
            </a:r>
            <a:endParaRPr lang="en-US" sz="3294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85124D0-0AE4-2158-0C1C-C40FB45ADBC6}"/>
              </a:ext>
            </a:extLst>
          </p:cNvPr>
          <p:cNvSpPr/>
          <p:nvPr/>
        </p:nvSpPr>
        <p:spPr>
          <a:xfrm>
            <a:off x="6109329" y="4425553"/>
            <a:ext cx="17258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kern="0" spc="1" dirty="0">
                <a:solidFill>
                  <a:srgbClr val="000000"/>
                </a:solidFill>
              </a:rPr>
              <a:t>Reliable Conclusion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2870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12348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What is Probability?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00088" y="1143000"/>
            <a:ext cx="4357688" cy="11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Probability quantifies uncertainty as a number between 0 and 1 representing the likelihood of an event.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00088" y="2403091"/>
            <a:ext cx="43576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P(Event) = Favorable Outcomes / Total Outcomes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2829930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Classical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857375" y="2812070"/>
            <a:ext cx="32004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Based on theoretical models (e.g., fair coin: P(Heads) = 0.5)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428625" y="3448534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Frequentist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857375" y="3430674"/>
            <a:ext cx="32004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Long-run frequency of events in repeated experiments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428625" y="4067138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In Proteomics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857375" y="4049278"/>
            <a:ext cx="320040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Probability that a protein is truly differentially expressed given observed data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823300" y="2427089"/>
            <a:ext cx="2983799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410" kern="0" spc="3" dirty="0">
                <a:solidFill>
                  <a:srgbClr val="FFFFFF"/>
                </a:solidFill>
              </a:rPr>
              <a:t>0 ≤ P ≤ 1</a:t>
            </a:r>
            <a:endParaRPr lang="en-US" sz="4410" dirty="0"/>
          </a:p>
        </p:txBody>
      </p:sp>
      <p:sp>
        <p:nvSpPr>
          <p:cNvPr id="16" name="Text 13"/>
          <p:cNvSpPr/>
          <p:nvPr/>
        </p:nvSpPr>
        <p:spPr>
          <a:xfrm>
            <a:off x="6232168" y="3398639"/>
            <a:ext cx="21660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B30"/>
                </a:solidFill>
              </a:rPr>
              <a:t>The Axiom of Probability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0244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Measuring Probability Experimentally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3657600" cy="428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028700"/>
            <a:ext cx="2800350" cy="70723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28625" y="1028700"/>
            <a:ext cx="42863" cy="707231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71500" y="1171575"/>
            <a:ext cx="25146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Experimental Formula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71500" y="1343025"/>
            <a:ext cx="25146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P(E) ≈ n(E) / n(Total)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28625" y="1864519"/>
            <a:ext cx="2800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Law of Large Numbers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28625" y="2102048"/>
            <a:ext cx="26038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As sample size increases, experimental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8625" y="2302073"/>
            <a:ext cx="263704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probability converges to the theoretical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8625" y="2502098"/>
            <a:ext cx="7539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probability.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28625" y="2786063"/>
            <a:ext cx="2800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Example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28625" y="3023592"/>
            <a:ext cx="27949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Flip a coin 100 times, observe 53 heads →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28625" y="3223617"/>
            <a:ext cx="11340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P(Heads) ≈ 0.53.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28625" y="3507581"/>
            <a:ext cx="2800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In Proteomics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428625" y="3745111"/>
            <a:ext cx="22052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Estimate detection probability by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28625" y="3945136"/>
            <a:ext cx="25491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counting occurrences across technical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28625" y="4145161"/>
            <a:ext cx="27925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replicates. Larger sample sizes yield more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28625" y="4345186"/>
            <a:ext cx="12231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reliable estimates.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657600" y="857250"/>
            <a:ext cx="5486400" cy="428625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3829050" y="1351062"/>
            <a:ext cx="5143500" cy="30003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791" y="1422499"/>
            <a:ext cx="3809991" cy="285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05574" y="4494312"/>
            <a:ext cx="2590453" cy="13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Simulation of 1000 coin flips showing convergence to P = 0.5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85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34758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Statistical Hypothesis Testing Framework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4572000" cy="215562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564856" y="857250"/>
            <a:ext cx="7144" cy="215562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28625" y="1000125"/>
            <a:ext cx="37147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kern="0" spc="-2" dirty="0">
                <a:solidFill>
                  <a:srgbClr val="333333"/>
                </a:solidFill>
              </a:rPr>
              <a:t>H₀</a:t>
            </a:r>
            <a:endParaRPr lang="en-US" sz="3294" dirty="0"/>
          </a:p>
        </p:txBody>
      </p:sp>
      <p:sp>
        <p:nvSpPr>
          <p:cNvPr id="9" name="Text 6"/>
          <p:cNvSpPr/>
          <p:nvPr/>
        </p:nvSpPr>
        <p:spPr>
          <a:xfrm>
            <a:off x="428625" y="1564481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Null Hypothesis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28625" y="1869877"/>
            <a:ext cx="321468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 default assumption of no effect or no difference.
</a:t>
            </a:r>
            <a:r>
              <a:rPr lang="en-US" sz="1050" i="1" dirty="0">
                <a:solidFill>
                  <a:srgbClr val="333333"/>
                </a:solidFill>
              </a:rPr>
              <a:t>Example: Protein abundance is equal between conditions.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0" y="3012877"/>
            <a:ext cx="4572000" cy="2155627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28625" y="3255764"/>
            <a:ext cx="37147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kern="0" spc="-2" dirty="0">
                <a:solidFill>
                  <a:srgbClr val="FFFFFF"/>
                </a:solidFill>
              </a:rPr>
              <a:t>H₁</a:t>
            </a:r>
            <a:endParaRPr lang="en-US" sz="3294" dirty="0"/>
          </a:p>
        </p:txBody>
      </p:sp>
      <p:sp>
        <p:nvSpPr>
          <p:cNvPr id="13" name="Text 10"/>
          <p:cNvSpPr/>
          <p:nvPr/>
        </p:nvSpPr>
        <p:spPr>
          <a:xfrm>
            <a:off x="428625" y="3820120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FFFF"/>
                </a:solidFill>
              </a:rPr>
              <a:t>Alternative Hypothesis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28625" y="4125516"/>
            <a:ext cx="321468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The effect we want to detect.
</a:t>
            </a:r>
            <a:r>
              <a:rPr lang="en-US" sz="1050" i="1" dirty="0">
                <a:solidFill>
                  <a:srgbClr val="FFFFFF"/>
                </a:solidFill>
              </a:rPr>
              <a:t>Example: Protein abundance differs between conditions.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86313" y="1085850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01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033442" y="1071563"/>
            <a:ext cx="3896246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Collect data and calculate a </a:t>
            </a:r>
            <a:r>
              <a:rPr lang="en-US" sz="1193" b="1" dirty="0">
                <a:solidFill>
                  <a:srgbClr val="000000"/>
                </a:solidFill>
              </a:rPr>
              <a:t>test statistic</a:t>
            </a:r>
            <a:r>
              <a:rPr lang="en-US" sz="1269" dirty="0">
                <a:solidFill>
                  <a:srgbClr val="000000"/>
                </a:solidFill>
              </a:rPr>
              <a:t> that measures evidence against H₀.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4786313" y="1660196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02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033442" y="1645909"/>
            <a:ext cx="3896246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Compare the statistic to a known distribution (e.g., Normal, t-distribution).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4786313" y="2234543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03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033442" y="2220255"/>
            <a:ext cx="3896246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If evidence is strong enough (p &lt; α), </a:t>
            </a:r>
            <a:r>
              <a:rPr lang="en-US" sz="1193" b="1" dirty="0">
                <a:solidFill>
                  <a:srgbClr val="000000"/>
                </a:solidFill>
              </a:rPr>
              <a:t>reject H₀</a:t>
            </a:r>
            <a:r>
              <a:rPr lang="en-US" sz="1269" dirty="0">
                <a:solidFill>
                  <a:srgbClr val="000000"/>
                </a:solidFill>
              </a:rPr>
              <a:t> in favor of H₁.</a:t>
            </a:r>
            <a:endParaRPr lang="en-US" sz="1269" dirty="0"/>
          </a:p>
        </p:txBody>
      </p:sp>
      <p:sp>
        <p:nvSpPr>
          <p:cNvPr id="21" name="Text 18"/>
          <p:cNvSpPr/>
          <p:nvPr/>
        </p:nvSpPr>
        <p:spPr>
          <a:xfrm>
            <a:off x="4786313" y="2908902"/>
            <a:ext cx="41433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Key Principle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786313" y="3135716"/>
            <a:ext cx="4143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We never "prove" H₁ is true, we only reject or fail to reject H₀.</a:t>
            </a:r>
            <a:endParaRPr lang="en-US" sz="139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59959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The Normal Distribution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85750" y="1000125"/>
            <a:ext cx="4000500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0047AB"/>
                </a:solidFill>
              </a:rPr>
              <a:t>The foundation for statistical testing, characterized by Mean (μ) and Standard Deviation (σ).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57200" y="1988055"/>
            <a:ext cx="12087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68-95-99.7 Rule: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57200" y="1988055"/>
            <a:ext cx="3520473" cy="465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159" dirty="0">
              <a:solidFill>
                <a:srgbClr val="333333"/>
              </a:solidFill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Data falls within 1σ, 2σ, and 3σ respectively.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285750" y="2534552"/>
            <a:ext cx="4000500" cy="4714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Many biological measurements, including protein abundance, approximate this distribution (or the log of the measurements).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285750" y="3091765"/>
            <a:ext cx="4000500" cy="4714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Essential for modeling noise and calculating probabilities in proteomics.</a:t>
            </a:r>
            <a:endParaRPr lang="en-US" sz="1159" dirty="0"/>
          </a:p>
        </p:txBody>
      </p:sp>
      <p:sp>
        <p:nvSpPr>
          <p:cNvPr id="11" name="Shape 8"/>
          <p:cNvSpPr/>
          <p:nvPr/>
        </p:nvSpPr>
        <p:spPr>
          <a:xfrm>
            <a:off x="285750" y="3734702"/>
            <a:ext cx="4000500" cy="943673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71475" y="3820427"/>
            <a:ext cx="3829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Central Limit Theorem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371475" y="4052599"/>
            <a:ext cx="382905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Sample means follow a normal distribution regardless of the underlying data distribution, enabling robust statistical inference.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572000" y="857250"/>
            <a:ext cx="4572000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714875" y="1000125"/>
            <a:ext cx="4286250" cy="4000500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393031"/>
            <a:ext cx="4286250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85750" y="454521"/>
            <a:ext cx="25043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Understanding P-values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357188" y="1000125"/>
            <a:ext cx="385048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47AB"/>
                </a:solidFill>
              </a:rPr>
              <a:t>P-value = P(Data | H₀)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357188" y="1421606"/>
            <a:ext cx="3850481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The probability of observing data as extreme or more extreme than what was observed, assuming the null hypothesis is true.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85775" y="2320240"/>
            <a:ext cx="37218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Common Misconception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85775" y="2530980"/>
            <a:ext cx="37218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It is NOT the probability that the null hypothesis is true.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571500" y="3138199"/>
            <a:ext cx="7510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Threshold: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322598" y="3138199"/>
            <a:ext cx="28384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p &lt; 0.05 (5% significance level) is standard.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3409662"/>
            <a:ext cx="6448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Decision: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216307" y="3409662"/>
            <a:ext cx="29913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Small p-value suggests data is unlikely under H₀ → Reject H₀.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3881149"/>
            <a:ext cx="6483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Example: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219879" y="3881149"/>
            <a:ext cx="298779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p = 0.03 means there is a 3% chance of seeing this difference by random noise alone.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0" y="857250"/>
            <a:ext cx="4572000" cy="42862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14875" y="1522512"/>
            <a:ext cx="4286250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9" y="1522512"/>
            <a:ext cx="3619481" cy="271459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48901" y="4322862"/>
            <a:ext cx="36181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Visualizing the p-value as the tail area under the null distribution curve.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4724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Type I and Type II Errors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3809991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71488" y="1483054"/>
            <a:ext cx="305275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3B30"/>
                </a:solidFill>
              </a:rPr>
              <a:t>Type I Error (α)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471488" y="1749158"/>
            <a:ext cx="3052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3B30"/>
                </a:solidFill>
              </a:rPr>
              <a:t>False Positive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71488" y="1981330"/>
            <a:ext cx="1768113" cy="16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Rejecting H₀ when it is actually true.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71488" y="2232785"/>
            <a:ext cx="3052753" cy="42505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71488" y="2232785"/>
            <a:ext cx="3052753" cy="42505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"Claiming a protein is differentially expressed when it's not."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71488" y="2743563"/>
            <a:ext cx="305275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0047AB"/>
                </a:solidFill>
              </a:rPr>
              <a:t>Type II Error (β)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471488" y="3009667"/>
            <a:ext cx="3052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47AB"/>
                </a:solidFill>
              </a:rPr>
              <a:t>False Negative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71488" y="3241839"/>
            <a:ext cx="305275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Failing to reject H₀ when H₁ is true.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71488" y="3493294"/>
            <a:ext cx="3052753" cy="269677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71488" y="3493294"/>
            <a:ext cx="3052753" cy="26967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"Missing a truly differentially expressed protein."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71488" y="3848695"/>
            <a:ext cx="305275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000000"/>
                </a:solidFill>
              </a:rPr>
              <a:t>The Trade-off</a:t>
            </a:r>
            <a:endParaRPr lang="en-US" sz="1295" dirty="0"/>
          </a:p>
        </p:txBody>
      </p:sp>
      <p:sp>
        <p:nvSpPr>
          <p:cNvPr id="18" name="Text 15"/>
          <p:cNvSpPr/>
          <p:nvPr/>
        </p:nvSpPr>
        <p:spPr>
          <a:xfrm>
            <a:off x="471488" y="4157663"/>
            <a:ext cx="3052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Reducing Type I errors (stricter α) inevitably increases Type II errors (lower power).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3809991" y="857250"/>
            <a:ext cx="5333981" cy="428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66" y="1197080"/>
            <a:ext cx="5048231" cy="336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56249" y="4680049"/>
            <a:ext cx="40414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Visualizing the overlap between Null (H₀) and Alternative (H₁) distributions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23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30577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The Multiple Testing Problem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1143000"/>
            <a:ext cx="3714750" cy="11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Testing thousands of proteins simultaneously inflates false positive rates dramatically without correction.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428625" y="2545966"/>
            <a:ext cx="3714750" cy="1214438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28625" y="2545966"/>
            <a:ext cx="42863" cy="1214438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71500" y="2688841"/>
            <a:ext cx="3429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The Numbers Game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71500" y="2915655"/>
            <a:ext cx="3429000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10,000 Proteins
 × 0.05 (α)
 = 500 False Positives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28625" y="4046153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Family-Wise Error Rate (FWER)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28625" y="4276539"/>
            <a:ext cx="37147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The probability of making at least one Type I error. Without correction, FWER approaches 100% as the number of tests increases.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0" y="857250"/>
            <a:ext cx="4572000" cy="430511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857750" y="1175649"/>
            <a:ext cx="4000500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282805"/>
            <a:ext cx="4000500" cy="30003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57750" y="4533212"/>
            <a:ext cx="40005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Even with just 20 tests, the probability of at least one false positive exceeds 60%.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46032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Bonferroni Correction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3250406" cy="123871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71500" y="1285875"/>
            <a:ext cx="6547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B30"/>
                </a:solidFill>
              </a:rPr>
              <a:t>The Method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71500" y="1457325"/>
            <a:ext cx="15248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α_adj = α / n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571500" y="1878806"/>
            <a:ext cx="2063316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chemeClr val="bg1">
                    <a:lumMod val="95000"/>
                  </a:schemeClr>
                </a:solidFill>
              </a:rPr>
              <a:t>Example: 10,000 proteins, α = 0.05
 Threshold = 0.000005</a:t>
            </a:r>
          </a:p>
        </p:txBody>
      </p:sp>
      <p:sp>
        <p:nvSpPr>
          <p:cNvPr id="10" name="Text 7"/>
          <p:cNvSpPr/>
          <p:nvPr/>
        </p:nvSpPr>
        <p:spPr>
          <a:xfrm>
            <a:off x="428625" y="2596028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AB"/>
                </a:solidFill>
              </a:rPr>
              <a:t>Advantage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28625" y="2806768"/>
            <a:ext cx="32504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Simple to implement and strictly guarantees Family-Wise Error Rate (FWER) ≤ α.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8625" y="3349693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Disadvantage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28625" y="3560434"/>
            <a:ext cx="325040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Extremely conservative. Drastically reduces statistical power and increases Type II errors (missed discoveries).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0" y="857250"/>
            <a:ext cx="5029200" cy="42862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400550" y="1166217"/>
            <a:ext cx="4457700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1287661"/>
            <a:ext cx="4457700" cy="2971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00550" y="4523780"/>
            <a:ext cx="44577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Comparison showing the strict Bonferroni threshold (red dashed line) vs the more adaptive FDR threshold.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6371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False Discovery Rate (FDR)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14363" y="1143000"/>
            <a:ext cx="35290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AB"/>
                </a:solidFill>
              </a:rPr>
              <a:t>Definition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14363" y="1353741"/>
            <a:ext cx="3529013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The expected proportion of false positives among all rejected hypotheses (discoveries).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428625" y="2348117"/>
            <a:ext cx="3714750" cy="124301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07219" y="2526711"/>
            <a:ext cx="33575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Benjamini-Hochberg (BH) Procedure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607219" y="2812461"/>
            <a:ext cx="33575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 step-up procedure that controls FDR. It is less conservative than Bonferroni, offering higher statistical power.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8625" y="3876880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Proteomics Standard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28625" y="4067975"/>
            <a:ext cx="371475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000000"/>
                </a:solidFill>
              </a:rPr>
              <a:t>FDR &lt; 0.05 implies we accept that 5% of our "significant" proteins may be noise in exchange for finding more true biological signals.</a:t>
            </a:r>
            <a:endParaRPr lang="en-US" sz="1159" dirty="0"/>
          </a:p>
        </p:txBody>
      </p:sp>
      <p:sp>
        <p:nvSpPr>
          <p:cNvPr id="13" name="Shape 10"/>
          <p:cNvSpPr/>
          <p:nvPr/>
        </p:nvSpPr>
        <p:spPr>
          <a:xfrm>
            <a:off x="4572000" y="857250"/>
            <a:ext cx="4572000" cy="428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412286"/>
            <a:ext cx="3986213" cy="26574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57750" y="4505920"/>
            <a:ext cx="40005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FDR (Blue) adapts the threshold to allow more discoveries than Bonferroni (Red).</a:t>
            </a: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8494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36847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Confusion Matrix in Classification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4156351" cy="462769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28625" y="1143000"/>
            <a:ext cx="32991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Precision (PPV)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428625" y="1412677"/>
            <a:ext cx="1013575" cy="25181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28625" y="1412677"/>
            <a:ext cx="1013575" cy="25181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TP / (TP + FP)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28625" y="1721644"/>
            <a:ext cx="329910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Proportion of predicted positives that are actually correct.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2403146"/>
            <a:ext cx="32991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B30"/>
                </a:solidFill>
              </a:rPr>
              <a:t>Recall (Sensitivity)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428625" y="2672823"/>
            <a:ext cx="1040002" cy="25181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28625" y="2672823"/>
            <a:ext cx="1040002" cy="25181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TP / (TP + FN)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28625" y="2981790"/>
            <a:ext cx="329910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Proportion of actual positives correctly identified.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28625" y="3483276"/>
            <a:ext cx="32991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Specificity</a:t>
            </a:r>
            <a:endParaRPr lang="en-US" sz="1193" dirty="0"/>
          </a:p>
        </p:txBody>
      </p:sp>
      <p:sp>
        <p:nvSpPr>
          <p:cNvPr id="16" name="Shape 13"/>
          <p:cNvSpPr/>
          <p:nvPr/>
        </p:nvSpPr>
        <p:spPr>
          <a:xfrm>
            <a:off x="428625" y="3752952"/>
            <a:ext cx="1066428" cy="25181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28625" y="3752952"/>
            <a:ext cx="1066428" cy="25181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TN / (TN + FP)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28625" y="4061920"/>
            <a:ext cx="329910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Proportion of actual negatives correctly identified.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28625" y="4634843"/>
            <a:ext cx="3299101" cy="56435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535781" y="4741999"/>
            <a:ext cx="30847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Trade-off: Increasing recall often decreases precision.</a:t>
            </a:r>
            <a:endParaRPr lang="en-US" sz="885" dirty="0"/>
          </a:p>
        </p:txBody>
      </p:sp>
      <p:sp>
        <p:nvSpPr>
          <p:cNvPr id="21" name="Shape 18"/>
          <p:cNvSpPr/>
          <p:nvPr/>
        </p:nvSpPr>
        <p:spPr>
          <a:xfrm>
            <a:off x="4156351" y="857250"/>
            <a:ext cx="4987649" cy="4627699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289" y="1349443"/>
            <a:ext cx="4163774" cy="36432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7792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Precision-Recall Trade-off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428625" y="1329826"/>
            <a:ext cx="3299101" cy="968676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329826"/>
            <a:ext cx="42863" cy="968676"/>
          </a:xfrm>
          <a:prstGeom prst="rect">
            <a:avLst/>
          </a:prstGeom>
          <a:solidFill>
            <a:srgbClr val="008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00088" y="1415551"/>
            <a:ext cx="154397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8000"/>
                </a:solidFill>
              </a:rPr>
              <a:t>Strict Threshold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14350" y="1672726"/>
            <a:ext cx="3127651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High Precision, Low Recall.</a:t>
            </a:r>
            <a:r>
              <a:rPr lang="en-US" sz="942" dirty="0">
                <a:solidFill>
                  <a:srgbClr val="333333"/>
                </a:solidFill>
              </a:rPr>
              <a:t>
 Few false positives, but many missed discoveries (False Negatives).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428625" y="2384227"/>
            <a:ext cx="3299101" cy="968676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28625" y="2384227"/>
            <a:ext cx="42863" cy="9686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00088" y="2469952"/>
            <a:ext cx="1678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0000"/>
                </a:solidFill>
              </a:rPr>
              <a:t>Lenient Threshold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514350" y="2727127"/>
            <a:ext cx="3127651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Low Precision, High Recall.</a:t>
            </a:r>
            <a:r>
              <a:rPr lang="en-US" sz="942" dirty="0">
                <a:solidFill>
                  <a:srgbClr val="333333"/>
                </a:solidFill>
              </a:rPr>
              <a:t>
 Captures most true signals, but includes many false positives.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28638" y="3595790"/>
            <a:ext cx="30990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AB"/>
                </a:solidFill>
              </a:rPr>
              <a:t>Strategic Application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28638" y="3827962"/>
            <a:ext cx="10749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Discovery Phase: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28638" y="3827962"/>
            <a:ext cx="2929747" cy="301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>
              <a:solidFill>
                <a:srgbClr val="333333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Favor Recall (Lenient) to cast a wide net.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28638" y="4220868"/>
            <a:ext cx="11081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Validation Phase: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28638" y="4220868"/>
            <a:ext cx="3087160" cy="301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>
              <a:solidFill>
                <a:srgbClr val="333333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Favor Precision (Strict) to ensure reliability.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156351" y="857250"/>
            <a:ext cx="4987649" cy="428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305" y="1351062"/>
            <a:ext cx="4095741" cy="307178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59145" y="4494312"/>
            <a:ext cx="35820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The inverse relationship between Precision (PPV) and Recall (Sensitivity)</a:t>
            </a:r>
            <a:endParaRPr lang="en-US" sz="83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30809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Bayes' Theorem Fundamentals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3657600" cy="428625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942501" y="1725216"/>
            <a:ext cx="1772571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504" i="1" dirty="0">
                <a:solidFill>
                  <a:srgbClr val="FFFFFF"/>
                </a:solidFill>
              </a:rPr>
              <a:t>P(H|D) =</a:t>
            </a:r>
            <a:endParaRPr lang="en-US" sz="3504" dirty="0"/>
          </a:p>
        </p:txBody>
      </p:sp>
      <p:sp>
        <p:nvSpPr>
          <p:cNvPr id="8" name="Text 5"/>
          <p:cNvSpPr/>
          <p:nvPr/>
        </p:nvSpPr>
        <p:spPr>
          <a:xfrm>
            <a:off x="655606" y="2380655"/>
            <a:ext cx="2346359" cy="74295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504" i="1" dirty="0">
                <a:solidFill>
                  <a:srgbClr val="FFFFFF"/>
                </a:solidFill>
              </a:rPr>
              <a:t>P(D|H) P(H)</a:t>
            </a:r>
            <a:endParaRPr lang="en-US" sz="3504" dirty="0"/>
          </a:p>
        </p:txBody>
      </p:sp>
      <p:sp>
        <p:nvSpPr>
          <p:cNvPr id="9" name="Text 6"/>
          <p:cNvSpPr/>
          <p:nvPr/>
        </p:nvSpPr>
        <p:spPr>
          <a:xfrm>
            <a:off x="655606" y="3123605"/>
            <a:ext cx="2346359" cy="721519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504" i="1" dirty="0">
                <a:solidFill>
                  <a:srgbClr val="FFFFFF"/>
                </a:solidFill>
              </a:rPr>
              <a:t>P(D)</a:t>
            </a:r>
            <a:endParaRPr lang="en-US" sz="3504" dirty="0"/>
          </a:p>
        </p:txBody>
      </p:sp>
      <p:sp>
        <p:nvSpPr>
          <p:cNvPr id="10" name="Text 7"/>
          <p:cNvSpPr/>
          <p:nvPr/>
        </p:nvSpPr>
        <p:spPr>
          <a:xfrm>
            <a:off x="886160" y="4130873"/>
            <a:ext cx="18852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FFFFF">
                    <a:alpha val="80000"/>
                  </a:srgbClr>
                </a:solidFill>
              </a:rPr>
              <a:t>The Logic of Inference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086225" y="1332533"/>
            <a:ext cx="857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047AB"/>
                </a:solidFill>
              </a:rPr>
              <a:t>P(H|D)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5086350" y="1395040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Posterior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086350" y="1618283"/>
            <a:ext cx="36290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Probability of Hypothesis given Data (The Goal).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086225" y="1964029"/>
            <a:ext cx="857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047AB"/>
                </a:solidFill>
              </a:rPr>
              <a:t>P(D|H)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5086350" y="2026537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Likelihood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086350" y="2249779"/>
            <a:ext cx="36290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Probability of Data given Hypothesis (The Evidence).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086225" y="2595525"/>
            <a:ext cx="857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047AB"/>
                </a:solidFill>
              </a:rPr>
              <a:t>P(H)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5086350" y="2658033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Prior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086350" y="2881275"/>
            <a:ext cx="36290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Initial belief about Hypothesis before seeing data.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086225" y="3227022"/>
            <a:ext cx="857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047AB"/>
                </a:solidFill>
              </a:rPr>
              <a:t>P(D)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5086350" y="3289529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Marginal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5086350" y="3512772"/>
            <a:ext cx="36290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Total probability of observing the Data.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257675" y="4037112"/>
            <a:ext cx="4457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Core Concept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257675" y="4228207"/>
            <a:ext cx="44577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Bayes' theorem provides a mathematical way to update our prior beliefs with new experimental evidence.</a:t>
            </a:r>
            <a:endParaRPr lang="en-US" sz="10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35753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Bayes' Theorem and False Positives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342900" y="1028700"/>
            <a:ext cx="3470551" cy="104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0047AB"/>
                </a:solidFill>
              </a:rPr>
              <a:t>Low prevalence of true positives dramatically increases false positive rates, even with accurate tests.</a:t>
            </a:r>
            <a:endParaRPr lang="en-US" sz="1397" dirty="0"/>
          </a:p>
        </p:txBody>
      </p:sp>
      <p:sp>
        <p:nvSpPr>
          <p:cNvPr id="7" name="Shape 4"/>
          <p:cNvSpPr/>
          <p:nvPr/>
        </p:nvSpPr>
        <p:spPr>
          <a:xfrm>
            <a:off x="342900" y="2197373"/>
            <a:ext cx="3470551" cy="168949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42900" y="2197373"/>
            <a:ext cx="42863" cy="1689497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57200" y="2311673"/>
            <a:ext cx="32419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The 1% Prevalence Problem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57200" y="2572420"/>
            <a:ext cx="15923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Sensitivity: </a:t>
            </a:r>
            <a:r>
              <a:rPr lang="en-US" sz="885" b="1" dirty="0">
                <a:solidFill>
                  <a:srgbClr val="000000"/>
                </a:solidFill>
              </a:rPr>
              <a:t>95%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2106737" y="2572420"/>
            <a:ext cx="15924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Specificity: </a:t>
            </a:r>
            <a:r>
              <a:rPr lang="en-US" sz="885" b="1" dirty="0">
                <a:solidFill>
                  <a:srgbClr val="000000"/>
                </a:solidFill>
              </a:rPr>
              <a:t>95%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57200" y="2804592"/>
            <a:ext cx="15923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Prevalence: </a:t>
            </a:r>
            <a:r>
              <a:rPr lang="en-US" sz="885" b="1" dirty="0">
                <a:solidFill>
                  <a:srgbClr val="000000"/>
                </a:solidFill>
              </a:rPr>
              <a:t>1%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57200" y="3272507"/>
            <a:ext cx="21578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Positive Predictive Value (PPV)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3063050" y="3165351"/>
            <a:ext cx="63610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3B30"/>
                </a:solidFill>
              </a:rPr>
              <a:t>16%</a:t>
            </a:r>
            <a:endParaRPr lang="en-US" sz="2121" dirty="0"/>
          </a:p>
        </p:txBody>
      </p:sp>
      <p:sp>
        <p:nvSpPr>
          <p:cNvPr id="15" name="Text 12"/>
          <p:cNvSpPr/>
          <p:nvPr/>
        </p:nvSpPr>
        <p:spPr>
          <a:xfrm>
            <a:off x="457200" y="3617193"/>
            <a:ext cx="32419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84% False Positives!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42900" y="4015457"/>
            <a:ext cx="347055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333333"/>
                </a:solidFill>
              </a:rPr>
              <a:t>"In proteomics, if only 5% of proteins are truly changing, standard p-value thresholds will flood your results with noise. You need stricter controls (low FDR)."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56351" y="857250"/>
            <a:ext cx="4987649" cy="3584377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327801" y="1028700"/>
            <a:ext cx="4644749" cy="3000375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912" y="1028700"/>
            <a:ext cx="4000500" cy="300037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41847" y="4114800"/>
            <a:ext cx="40166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As prevalence drops (x-axis), the reliability of a positive result (y-axis) plummets.</a:t>
            </a:r>
            <a:endParaRPr lang="en-US" sz="83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9255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Differential Expression Analysis in Proteomics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4156351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85750" y="1028700"/>
            <a:ext cx="3584851" cy="5982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285750" y="1028700"/>
            <a:ext cx="42863" cy="598289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85763" y="1128713"/>
            <a:ext cx="3384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01. Quantify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85763" y="1351955"/>
            <a:ext cx="33848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Measure protein abundance.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285750" y="1798439"/>
            <a:ext cx="3584851" cy="5982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85750" y="1798439"/>
            <a:ext cx="42863" cy="598289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85763" y="1898452"/>
            <a:ext cx="3384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02. Normalize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385763" y="2121694"/>
            <a:ext cx="33848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Remove technical bias.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285750" y="2568178"/>
            <a:ext cx="3584851" cy="5982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285750" y="2568178"/>
            <a:ext cx="42863" cy="598289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85763" y="2668191"/>
            <a:ext cx="3384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03. Statistical Testing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385763" y="2891433"/>
            <a:ext cx="33848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Compute p-values per protein.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285750" y="3337917"/>
            <a:ext cx="3584851" cy="5982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285750" y="3337917"/>
            <a:ext cx="42863" cy="598289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85763" y="3437930"/>
            <a:ext cx="3384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04. Correction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385763" y="3661172"/>
            <a:ext cx="33848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Adjust p-values (FDR).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442101" y="1028700"/>
            <a:ext cx="2225083" cy="29110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Common Statistical Tests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4581572" y="1391245"/>
            <a:ext cx="4282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t-test: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009778" y="1391245"/>
            <a:ext cx="14054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2-group comparison.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81572" y="1648420"/>
            <a:ext cx="5535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ANOVA: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5135073" y="1648420"/>
            <a:ext cx="7139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&gt;2 groups.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81572" y="1905595"/>
            <a:ext cx="4947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limma: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5076360" y="1905595"/>
            <a:ext cx="23800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Linear models for complex designs.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442101" y="2248495"/>
            <a:ext cx="1515117" cy="29110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Key Assumptions</a:t>
            </a:r>
            <a:endParaRPr lang="en-US" sz="1193" dirty="0"/>
          </a:p>
        </p:txBody>
      </p:sp>
      <p:sp>
        <p:nvSpPr>
          <p:cNvPr id="31" name="Text 28"/>
          <p:cNvSpPr/>
          <p:nvPr/>
        </p:nvSpPr>
        <p:spPr>
          <a:xfrm>
            <a:off x="4442101" y="2611041"/>
            <a:ext cx="4416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Data ~ normal (often log-transformed).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442101" y="2868216"/>
            <a:ext cx="4416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Independent samples.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442101" y="3125391"/>
            <a:ext cx="4416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Comparable group variances.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442101" y="3468291"/>
            <a:ext cx="4416149" cy="90971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4570688" y="3596878"/>
            <a:ext cx="4158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The Goal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570688" y="3809405"/>
            <a:ext cx="415897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List proteins with significant fold changes and adjusted p-values to identify candidates.</a:t>
            </a:r>
            <a:endParaRPr lang="en-US" sz="1159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29180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Practical Example - Data Preparation in R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1143000"/>
            <a:ext cx="27932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47AB"/>
                </a:solidFill>
              </a:rPr>
              <a:t>Essential Packages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428625" y="1425178"/>
            <a:ext cx="568375" cy="22324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28625" y="1425178"/>
            <a:ext cx="568375" cy="22324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limma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068437" y="1439466"/>
            <a:ext cx="9467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Linear Models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625" y="1719858"/>
            <a:ext cx="603954" cy="22324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28625" y="1719858"/>
            <a:ext cx="603954" cy="22324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DEqMS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104016" y="1734145"/>
            <a:ext cx="12480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Variance Modeling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8625" y="2014538"/>
            <a:ext cx="661383" cy="22324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28625" y="2014538"/>
            <a:ext cx="661383" cy="22324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ggplot2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161445" y="2028825"/>
            <a:ext cx="8436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Visualization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8625" y="2523530"/>
            <a:ext cx="27932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47AB"/>
                </a:solidFill>
              </a:rPr>
              <a:t>Data Structure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28625" y="2805708"/>
            <a:ext cx="279320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Expression Matrix:</a:t>
            </a:r>
            <a:r>
              <a:rPr lang="en-US" sz="1050" dirty="0">
                <a:solidFill>
                  <a:srgbClr val="555555"/>
                </a:solidFill>
              </a:rPr>
              <a:t>
 Rows = Proteins
 Columns = Samples (Replicates)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28625" y="3691533"/>
            <a:ext cx="27932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47AB"/>
                </a:solidFill>
              </a:rPr>
              <a:t>Workflow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28625" y="3973711"/>
            <a:ext cx="279320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1. Import Data
 2. Filter Missing Values
 3. Normalize (Quantile/Median)
 4. Log Transformation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0456" y="857250"/>
            <a:ext cx="5486400" cy="42862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997374" y="955795"/>
            <a:ext cx="4914900" cy="387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Load required libraries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69CD6"/>
                </a:solidFill>
              </a:rPr>
              <a:t>library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D4D4D4"/>
                </a:solidFill>
              </a:rPr>
              <a:t>limma</a:t>
            </a:r>
            <a:r>
              <a:rPr lang="en-US" sz="942" dirty="0">
                <a:solidFill>
                  <a:srgbClr val="D4D4D4"/>
                </a:solidFill>
              </a:rPr>
              <a:t>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69CD6"/>
                </a:solidFill>
              </a:rPr>
              <a:t>library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D4D4D4"/>
                </a:solidFill>
              </a:rPr>
              <a:t>DEqMS</a:t>
            </a:r>
            <a:r>
              <a:rPr lang="en-US" sz="942" dirty="0">
                <a:solidFill>
                  <a:srgbClr val="D4D4D4"/>
                </a:solidFill>
              </a:rPr>
              <a:t>)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942" dirty="0">
              <a:solidFill>
                <a:srgbClr val="6A9955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1. Load Data (Expression Matrix)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Rows = Proteins, Columns = Samples</a:t>
            </a:r>
            <a:endParaRPr lang="en-US" sz="942" dirty="0">
              <a:solidFill>
                <a:srgbClr val="D4D4D4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data &lt;-</a:t>
            </a:r>
            <a:r>
              <a:rPr lang="en-US" sz="942" dirty="0">
                <a:solidFill>
                  <a:srgbClr val="DCDCAA"/>
                </a:solidFill>
              </a:rPr>
              <a:t>read.csv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>
                <a:solidFill>
                  <a:srgbClr val="CE9178"/>
                </a:solidFill>
              </a:rPr>
              <a:t>"protein_abundance.csv"</a:t>
            </a:r>
            <a:r>
              <a:rPr lang="en-US" sz="942" dirty="0">
                <a:solidFill>
                  <a:srgbClr val="D4D4D4"/>
                </a:solidFill>
              </a:rPr>
              <a:t>, row.names=</a:t>
            </a:r>
            <a:r>
              <a:rPr lang="en-US" sz="942" dirty="0">
                <a:solidFill>
                  <a:srgbClr val="B5CEA8"/>
                </a:solidFill>
              </a:rPr>
              <a:t>1</a:t>
            </a:r>
            <a:r>
              <a:rPr lang="en-US" sz="942" dirty="0">
                <a:solidFill>
                  <a:srgbClr val="D4D4D4"/>
                </a:solidFill>
              </a:rPr>
              <a:t>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2. Quality Control &amp; Filtering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942" dirty="0">
              <a:solidFill>
                <a:srgbClr val="6A9955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Keep proteins with valid data in at least 3 samples</a:t>
            </a:r>
            <a:endParaRPr lang="en-US" sz="942" dirty="0">
              <a:solidFill>
                <a:srgbClr val="D4D4D4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D4D4D4"/>
                </a:solidFill>
              </a:rPr>
              <a:t>valid_rows</a:t>
            </a:r>
            <a:r>
              <a:rPr lang="en-US" sz="942" dirty="0">
                <a:solidFill>
                  <a:srgbClr val="D4D4D4"/>
                </a:solidFill>
              </a:rPr>
              <a:t> &lt;-</a:t>
            </a:r>
            <a:r>
              <a:rPr lang="en-US" sz="942" dirty="0">
                <a:solidFill>
                  <a:srgbClr val="DCDCAA"/>
                </a:solidFill>
              </a:rPr>
              <a:t>rowSums</a:t>
            </a:r>
            <a:r>
              <a:rPr lang="en-US" sz="942" dirty="0">
                <a:solidFill>
                  <a:srgbClr val="D4D4D4"/>
                </a:solidFill>
              </a:rPr>
              <a:t>(!</a:t>
            </a:r>
            <a:r>
              <a:rPr lang="en-US" sz="942" dirty="0">
                <a:solidFill>
                  <a:srgbClr val="DCDCAA"/>
                </a:solidFill>
              </a:rPr>
              <a:t>is.na</a:t>
            </a:r>
            <a:r>
              <a:rPr lang="en-US" sz="942" dirty="0">
                <a:solidFill>
                  <a:srgbClr val="D4D4D4"/>
                </a:solidFill>
              </a:rPr>
              <a:t>(data)) &gt;=</a:t>
            </a:r>
            <a:r>
              <a:rPr lang="en-US" sz="942" dirty="0">
                <a:solidFill>
                  <a:srgbClr val="B5CEA8"/>
                </a:solidFill>
              </a:rPr>
              <a:t>3</a:t>
            </a:r>
            <a:endParaRPr lang="en-US" sz="942" dirty="0">
              <a:solidFill>
                <a:srgbClr val="D4D4D4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D4D4D4"/>
                </a:solidFill>
              </a:rPr>
              <a:t>filtered_data</a:t>
            </a:r>
            <a:r>
              <a:rPr lang="en-US" sz="942" dirty="0">
                <a:solidFill>
                  <a:srgbClr val="D4D4D4"/>
                </a:solidFill>
              </a:rPr>
              <a:t> &lt;- data[valid_rows, ]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942" dirty="0">
              <a:solidFill>
                <a:srgbClr val="6A9955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3. Normalization (Quantile)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Corrects for technical variation between samples</a:t>
            </a:r>
            <a:endParaRPr lang="en-US" sz="942" dirty="0">
              <a:solidFill>
                <a:srgbClr val="D4D4D4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D4D4D4"/>
                </a:solidFill>
              </a:rPr>
              <a:t>norm_data</a:t>
            </a:r>
            <a:r>
              <a:rPr lang="en-US" sz="942" dirty="0">
                <a:solidFill>
                  <a:srgbClr val="D4D4D4"/>
                </a:solidFill>
              </a:rPr>
              <a:t> &lt;-</a:t>
            </a:r>
            <a:r>
              <a:rPr lang="en-US" sz="942" dirty="0">
                <a:solidFill>
                  <a:srgbClr val="DCDCAA"/>
                </a:solidFill>
              </a:rPr>
              <a:t>normalizeQuantiles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>
                <a:solidFill>
                  <a:srgbClr val="DCDCAA"/>
                </a:solidFill>
              </a:rPr>
              <a:t>as.matrix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D4D4D4"/>
                </a:solidFill>
              </a:rPr>
              <a:t>filtered_data</a:t>
            </a:r>
            <a:r>
              <a:rPr lang="en-US" sz="942" dirty="0">
                <a:solidFill>
                  <a:srgbClr val="D4D4D4"/>
                </a:solidFill>
              </a:rPr>
              <a:t>))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942" dirty="0">
              <a:solidFill>
                <a:srgbClr val="6A9955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4. Log Transformation</a:t>
            </a:r>
            <a:endParaRPr lang="en-US" sz="942" dirty="0">
              <a:solidFill>
                <a:srgbClr val="D4D4D4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D4D4D4"/>
                </a:solidFill>
              </a:rPr>
              <a:t>log_data</a:t>
            </a:r>
            <a:r>
              <a:rPr lang="en-US" sz="942" dirty="0">
                <a:solidFill>
                  <a:srgbClr val="D4D4D4"/>
                </a:solidFill>
              </a:rPr>
              <a:t> &lt;-</a:t>
            </a:r>
            <a:r>
              <a:rPr lang="en-US" sz="942" dirty="0">
                <a:solidFill>
                  <a:srgbClr val="DCDCAA"/>
                </a:solidFill>
              </a:rPr>
              <a:t>log2</a:t>
            </a:r>
            <a:r>
              <a:rPr lang="en-US" sz="942" dirty="0">
                <a:solidFill>
                  <a:srgbClr val="D4D4D4"/>
                </a:solidFill>
              </a:rPr>
              <a:t>(norm_data +</a:t>
            </a:r>
            <a:r>
              <a:rPr lang="en-US" sz="942" dirty="0">
                <a:solidFill>
                  <a:srgbClr val="B5CEA8"/>
                </a:solidFill>
              </a:rPr>
              <a:t>1</a:t>
            </a:r>
            <a:r>
              <a:rPr lang="en-US" sz="942" dirty="0">
                <a:solidFill>
                  <a:srgbClr val="D4D4D4"/>
                </a:solidFill>
              </a:rPr>
              <a:t>)</a:t>
            </a:r>
            <a:endParaRPr lang="en-US" sz="94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44045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Practical Example - Statistical Testing in R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3657600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28625" y="1000125"/>
            <a:ext cx="28003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47AB"/>
                </a:solidFill>
              </a:rPr>
              <a:t>The limma Package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28625" y="1311576"/>
            <a:ext cx="28003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Originally designed for microarrays, </a:t>
            </a:r>
            <a:r>
              <a:rPr lang="en-US" sz="987" b="1" dirty="0">
                <a:solidFill>
                  <a:srgbClr val="333333"/>
                </a:solidFill>
              </a:rPr>
              <a:t>limma</a:t>
            </a:r>
            <a:r>
              <a:rPr lang="en-US" sz="1050" dirty="0">
                <a:solidFill>
                  <a:srgbClr val="333333"/>
                </a:solidFill>
              </a:rPr>
              <a:t> (Linear Models for Microarray Data) is the gold standard for proteomics differential expression.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2571750"/>
            <a:ext cx="2800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47AB"/>
                </a:solidFill>
              </a:rPr>
              <a:t>Empirical Bayes Moderation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428625" y="2863165"/>
            <a:ext cx="28003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Borrows information across all proteins to stabilize variance estimates. Critical for small-sample proteomics (n = 3 to 6).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0075" y="3734702"/>
            <a:ext cx="2628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Why it works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00075" y="3925798"/>
            <a:ext cx="2628900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Prevents proteins with artificially low variance from appearing significant by chance.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3657600" y="857250"/>
            <a:ext cx="5486400" cy="42862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800475" y="1868091"/>
            <a:ext cx="5200650" cy="159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6A9955"/>
                </a:solidFill>
              </a:rPr>
              <a:t># Fit linear model and contrasts, then apply </a:t>
            </a:r>
            <a:r>
              <a:rPr lang="en-US" sz="1050" dirty="0" err="1">
                <a:solidFill>
                  <a:srgbClr val="6A9955"/>
                </a:solidFill>
              </a:rPr>
              <a:t>eBayes</a:t>
            </a:r>
            <a:endParaRPr lang="en-US" sz="1050" dirty="0">
              <a:solidFill>
                <a:srgbClr val="6A9955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9CDCFE"/>
                </a:solidFill>
              </a:rPr>
              <a:t>Fit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lmFit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expression_data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>
                <a:solidFill>
                  <a:srgbClr val="9CDCFE"/>
                </a:solidFill>
              </a:rPr>
              <a:t>design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 err="1">
                <a:solidFill>
                  <a:srgbClr val="9CDCFE"/>
                </a:solidFill>
              </a:rPr>
              <a:t>contrast_matrix</a:t>
            </a:r>
            <a:r>
              <a:rPr lang="en-US" sz="1050" dirty="0">
                <a:solidFill>
                  <a:srgbClr val="9CDCFE"/>
                </a:solidFill>
              </a:rPr>
              <a:t>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makeContrasts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TreatmentVsControl</a:t>
            </a:r>
            <a:r>
              <a:rPr lang="en-US" sz="1050" dirty="0">
                <a:solidFill>
                  <a:srgbClr val="D4D4D4"/>
                </a:solidFill>
              </a:rPr>
              <a:t>=</a:t>
            </a:r>
            <a:r>
              <a:rPr lang="en-US" sz="1050" dirty="0">
                <a:solidFill>
                  <a:srgbClr val="9CDCFE"/>
                </a:solidFill>
              </a:rPr>
              <a:t>Treatment</a:t>
            </a:r>
            <a:r>
              <a:rPr lang="en-US" sz="1050" dirty="0">
                <a:solidFill>
                  <a:srgbClr val="D4D4D4"/>
                </a:solidFill>
              </a:rPr>
              <a:t>-</a:t>
            </a:r>
            <a:r>
              <a:rPr lang="en-US" sz="1050" dirty="0">
                <a:solidFill>
                  <a:srgbClr val="9CDCFE"/>
                </a:solidFill>
              </a:rPr>
              <a:t>Control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>
                <a:solidFill>
                  <a:srgbClr val="9CDCFE"/>
                </a:solidFill>
              </a:rPr>
              <a:t>levels</a:t>
            </a:r>
            <a:r>
              <a:rPr lang="en-US" sz="1050" dirty="0">
                <a:solidFill>
                  <a:srgbClr val="D4D4D4"/>
                </a:solidFill>
              </a:rPr>
              <a:t>=</a:t>
            </a:r>
            <a:r>
              <a:rPr lang="en-US" sz="1050" dirty="0">
                <a:solidFill>
                  <a:srgbClr val="9CDCFE"/>
                </a:solidFill>
              </a:rPr>
              <a:t>design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>
                <a:solidFill>
                  <a:srgbClr val="9CDCFE"/>
                </a:solidFill>
              </a:rPr>
              <a:t>fit2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contrasts.fit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fit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>
                <a:solidFill>
                  <a:srgbClr val="9CDCFE"/>
                </a:solidFill>
              </a:rPr>
              <a:t>contrast_matrix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>
                <a:solidFill>
                  <a:srgbClr val="9CDCFE"/>
                </a:solidFill>
              </a:rPr>
              <a:t>fit2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eBayes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fit2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>
                <a:solidFill>
                  <a:srgbClr val="9CDCFE"/>
                </a:solidFill>
              </a:rPr>
              <a:t>results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topTable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fit2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>
                <a:solidFill>
                  <a:srgbClr val="9CDCFE"/>
                </a:solidFill>
              </a:rPr>
              <a:t>number</a:t>
            </a:r>
            <a:r>
              <a:rPr lang="en-US" sz="1050" dirty="0">
                <a:solidFill>
                  <a:srgbClr val="D4D4D4"/>
                </a:solidFill>
              </a:rPr>
              <a:t>=</a:t>
            </a:r>
            <a:r>
              <a:rPr lang="en-US" sz="1050" dirty="0">
                <a:solidFill>
                  <a:srgbClr val="569CD6"/>
                </a:solidFill>
              </a:rPr>
              <a:t>Inf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00475" y="3832622"/>
            <a:ext cx="25288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lmFit()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3800475" y="3996928"/>
            <a:ext cx="16656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Fits a linear model for each protein.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6472238" y="3832622"/>
            <a:ext cx="25288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eBayes()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472238" y="3996928"/>
            <a:ext cx="2181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Computes moderated t-statistics and p-values.</a:t>
            </a:r>
            <a:endParaRPr lang="en-US" sz="72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547024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Practical Example - Multiple Testing Correction in R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3657600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285750" y="1000125"/>
            <a:ext cx="30861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47AB"/>
                </a:solidFill>
              </a:rPr>
              <a:t>The p.adjust() Function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285750" y="1297288"/>
            <a:ext cx="3086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R's built-in function to adjust raw p-values using various methods. For proteomics, </a:t>
            </a:r>
            <a:r>
              <a:rPr lang="en-US" sz="987" b="1" dirty="0">
                <a:solidFill>
                  <a:srgbClr val="333333"/>
                </a:solidFill>
              </a:rPr>
              <a:t>"BH" (Benjamini-Hochberg)</a:t>
            </a:r>
            <a:r>
              <a:rPr lang="en-US" sz="1050" dirty="0">
                <a:solidFill>
                  <a:srgbClr val="333333"/>
                </a:solidFill>
              </a:rPr>
              <a:t> is the standard for FDR control.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5750" y="2154538"/>
            <a:ext cx="3086100" cy="1082278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71475" y="2240263"/>
            <a:ext cx="1114899" cy="20538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The Reality Check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371475" y="2502796"/>
            <a:ext cx="5533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Protein A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988251" y="2502796"/>
            <a:ext cx="1104470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3B30"/>
                </a:solidFill>
              </a:rPr>
              <a:t>p = 0.01 </a:t>
            </a:r>
            <a:r>
              <a:rPr lang="en-US" sz="942" dirty="0">
                <a:solidFill>
                  <a:srgbClr val="999999"/>
                </a:solidFill>
              </a:rPr>
              <a:t>→ </a:t>
            </a:r>
            <a:r>
              <a:rPr lang="en-US" sz="885" b="1" dirty="0" err="1">
                <a:solidFill>
                  <a:srgbClr val="0047AB"/>
                </a:solidFill>
              </a:rPr>
              <a:t>adj.p</a:t>
            </a:r>
            <a:r>
              <a:rPr lang="en-US" sz="885" b="1" dirty="0">
                <a:solidFill>
                  <a:srgbClr val="0047AB"/>
                </a:solidFill>
              </a:rPr>
              <a:t> = 0.15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71475" y="2734968"/>
            <a:ext cx="55472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Protein B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1866423" y="2734968"/>
            <a:ext cx="1226298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3B30"/>
                </a:solidFill>
              </a:rPr>
              <a:t>p = 0.0001 </a:t>
            </a:r>
            <a:r>
              <a:rPr lang="en-US" sz="942" dirty="0">
                <a:solidFill>
                  <a:srgbClr val="999999"/>
                </a:solidFill>
              </a:rPr>
              <a:t>→ </a:t>
            </a:r>
            <a:r>
              <a:rPr lang="en-US" sz="885" b="1" dirty="0" err="1">
                <a:solidFill>
                  <a:srgbClr val="0047AB"/>
                </a:solidFill>
              </a:rPr>
              <a:t>adj.p</a:t>
            </a:r>
            <a:r>
              <a:rPr lang="en-US" sz="885" b="1" dirty="0">
                <a:solidFill>
                  <a:srgbClr val="0047AB"/>
                </a:solidFill>
              </a:rPr>
              <a:t> = 0.03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71475" y="2981427"/>
            <a:ext cx="2914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Protein A is no longer significant after correction!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3657600" y="857250"/>
            <a:ext cx="5486400" cy="42862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800475" y="1800225"/>
            <a:ext cx="5200650" cy="2241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A9955"/>
                </a:solidFill>
              </a:rPr>
              <a:t># 1. Extract raw p-values from results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 err="1">
                <a:solidFill>
                  <a:srgbClr val="9CDCFE"/>
                </a:solidFill>
              </a:rPr>
              <a:t>raw_pvalues</a:t>
            </a:r>
            <a:r>
              <a:rPr lang="en-US" sz="1050" dirty="0">
                <a:solidFill>
                  <a:srgbClr val="9CDCFE"/>
                </a:solidFill>
              </a:rPr>
              <a:t>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9CDCFE"/>
                </a:solidFill>
              </a:rPr>
              <a:t>results</a:t>
            </a:r>
            <a:r>
              <a:rPr lang="en-US" sz="1050" dirty="0" err="1">
                <a:solidFill>
                  <a:srgbClr val="D4D4D4"/>
                </a:solidFill>
              </a:rPr>
              <a:t>$</a:t>
            </a:r>
            <a:r>
              <a:rPr lang="en-US" sz="1050" dirty="0" err="1">
                <a:solidFill>
                  <a:srgbClr val="9CDCFE"/>
                </a:solidFill>
              </a:rPr>
              <a:t>P.Value</a:t>
            </a:r>
            <a:endParaRPr lang="en-US" sz="1050" dirty="0">
              <a:solidFill>
                <a:srgbClr val="9CDCFE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endParaRPr lang="en-US" sz="1050" dirty="0">
              <a:solidFill>
                <a:srgbClr val="9CDCFE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A9955"/>
                </a:solidFill>
              </a:rPr>
              <a:t># 2. Apply Benjamini-Hochberg (FDR) correction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 err="1">
                <a:solidFill>
                  <a:srgbClr val="9CDCFE"/>
                </a:solidFill>
              </a:rPr>
              <a:t>results</a:t>
            </a:r>
            <a:r>
              <a:rPr lang="en-US" sz="1050" dirty="0" err="1">
                <a:solidFill>
                  <a:srgbClr val="D4D4D4"/>
                </a:solidFill>
              </a:rPr>
              <a:t>$</a:t>
            </a:r>
            <a:r>
              <a:rPr lang="en-US" sz="1050" dirty="0" err="1">
                <a:solidFill>
                  <a:srgbClr val="9CDCFE"/>
                </a:solidFill>
              </a:rPr>
              <a:t>adj.P.Val</a:t>
            </a:r>
            <a:r>
              <a:rPr lang="en-US" sz="1050" dirty="0">
                <a:solidFill>
                  <a:srgbClr val="9CDCFE"/>
                </a:solidFill>
              </a:rPr>
              <a:t>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p.adjust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raw_pvalues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>
                <a:solidFill>
                  <a:srgbClr val="9CDCFE"/>
                </a:solidFill>
              </a:rPr>
              <a:t>method </a:t>
            </a:r>
            <a:r>
              <a:rPr lang="en-US" sz="1050" dirty="0">
                <a:solidFill>
                  <a:srgbClr val="D4D4D4"/>
                </a:solidFill>
              </a:rPr>
              <a:t>= </a:t>
            </a:r>
            <a:r>
              <a:rPr lang="en-US" sz="1050" dirty="0">
                <a:solidFill>
                  <a:srgbClr val="CE9178"/>
                </a:solidFill>
              </a:rPr>
              <a:t>"BH"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>
                <a:solidFill>
                  <a:srgbClr val="6A9955"/>
                </a:solidFill>
              </a:rPr>
              <a:t># 3. Filter for significant discoveries (FDR &lt; 0.05)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 err="1">
                <a:solidFill>
                  <a:srgbClr val="9CDCFE"/>
                </a:solidFill>
              </a:rPr>
              <a:t>significant_proteins</a:t>
            </a:r>
            <a:r>
              <a:rPr lang="en-US" sz="1050" dirty="0">
                <a:solidFill>
                  <a:srgbClr val="9CDCFE"/>
                </a:solidFill>
              </a:rPr>
              <a:t>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>
                <a:solidFill>
                  <a:srgbClr val="DCDCAA"/>
                </a:solidFill>
              </a:rPr>
              <a:t>subset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results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 err="1">
                <a:solidFill>
                  <a:srgbClr val="9CDCFE"/>
                </a:solidFill>
              </a:rPr>
              <a:t>adj.P.Val</a:t>
            </a:r>
            <a:r>
              <a:rPr lang="en-US" sz="1050" dirty="0">
                <a:solidFill>
                  <a:srgbClr val="9CDCFE"/>
                </a:solidFill>
              </a:rPr>
              <a:t> </a:t>
            </a:r>
            <a:r>
              <a:rPr lang="en-US" sz="1050" dirty="0">
                <a:solidFill>
                  <a:srgbClr val="D4D4D4"/>
                </a:solidFill>
              </a:rPr>
              <a:t>&lt; </a:t>
            </a:r>
            <a:r>
              <a:rPr lang="en-US" sz="1050" dirty="0">
                <a:solidFill>
                  <a:srgbClr val="B5CEA8"/>
                </a:solidFill>
              </a:rPr>
              <a:t>0.05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>
                <a:solidFill>
                  <a:srgbClr val="6A9955"/>
                </a:solidFill>
              </a:rPr>
              <a:t># 4. Check how many proteins passed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DCAA"/>
                </a:solidFill>
              </a:rPr>
              <a:t>print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DCDCAA"/>
                </a:solidFill>
              </a:rPr>
              <a:t>nrow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significant_proteins</a:t>
            </a:r>
            <a:r>
              <a:rPr lang="en-US" sz="1050" dirty="0">
                <a:solidFill>
                  <a:srgbClr val="D4D4D4"/>
                </a:solidFill>
              </a:rPr>
              <a:t>))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7468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Practical Example - Results Visualization in R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4114800" cy="42862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171450" y="1487686"/>
            <a:ext cx="3771900" cy="23931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Generating a Volcano Plot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171450" y="1812727"/>
            <a:ext cx="3771900" cy="248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69CD6"/>
                </a:solidFill>
              </a:rPr>
              <a:t>library</a:t>
            </a:r>
            <a:r>
              <a:rPr lang="en-US" sz="942" dirty="0">
                <a:solidFill>
                  <a:srgbClr val="D4D4D4"/>
                </a:solidFill>
              </a:rPr>
              <a:t>(ggplot2)
</a:t>
            </a:r>
            <a:r>
              <a:rPr lang="en-US" sz="942" dirty="0">
                <a:solidFill>
                  <a:srgbClr val="6A9955"/>
                </a:solidFill>
              </a:rPr>
              <a:t># Create Volcano Plot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 err="1">
                <a:solidFill>
                  <a:srgbClr val="DCDCAA"/>
                </a:solidFill>
              </a:rPr>
              <a:t>ggplot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>
                <a:solidFill>
                  <a:srgbClr val="9CDCFE"/>
                </a:solidFill>
              </a:rPr>
              <a:t>results</a:t>
            </a:r>
            <a:r>
              <a:rPr lang="en-US" sz="942" dirty="0">
                <a:solidFill>
                  <a:srgbClr val="D4D4D4"/>
                </a:solidFill>
              </a:rPr>
              <a:t>, </a:t>
            </a:r>
            <a:r>
              <a:rPr lang="en-US" sz="942" dirty="0">
                <a:solidFill>
                  <a:srgbClr val="DCDCAA"/>
                </a:solidFill>
              </a:rPr>
              <a:t>aes</a:t>
            </a:r>
            <a:r>
              <a:rPr lang="en-US" sz="942" dirty="0">
                <a:solidFill>
                  <a:srgbClr val="D4D4D4"/>
                </a:solidFill>
              </a:rPr>
              <a:t>(x = </a:t>
            </a:r>
            <a:r>
              <a:rPr lang="en-US" sz="942" dirty="0" err="1">
                <a:solidFill>
                  <a:srgbClr val="9CDCFE"/>
                </a:solidFill>
              </a:rPr>
              <a:t>logFC</a:t>
            </a:r>
            <a:r>
              <a:rPr lang="en-US" sz="942" dirty="0">
                <a:solidFill>
                  <a:srgbClr val="D4D4D4"/>
                </a:solidFill>
              </a:rPr>
              <a:t>, y = -</a:t>
            </a:r>
            <a:r>
              <a:rPr lang="en-US" sz="942" dirty="0">
                <a:solidFill>
                  <a:srgbClr val="DCDCAA"/>
                </a:solidFill>
              </a:rPr>
              <a:t>log10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9CDCFE"/>
                </a:solidFill>
              </a:rPr>
              <a:t>adj.P.Val</a:t>
            </a:r>
            <a:r>
              <a:rPr lang="en-US" sz="942" dirty="0">
                <a:solidFill>
                  <a:srgbClr val="D4D4D4"/>
                </a:solidFill>
              </a:rPr>
              <a:t>))) +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   </a:t>
            </a:r>
            <a:r>
              <a:rPr lang="en-US" sz="942" dirty="0" err="1">
                <a:solidFill>
                  <a:srgbClr val="DCDCAA"/>
                </a:solidFill>
              </a:rPr>
              <a:t>geom_point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>
                <a:solidFill>
                  <a:srgbClr val="DCDCAA"/>
                </a:solidFill>
              </a:rPr>
              <a:t>aes</a:t>
            </a:r>
            <a:r>
              <a:rPr lang="en-US" sz="942" dirty="0">
                <a:solidFill>
                  <a:srgbClr val="D4D4D4"/>
                </a:solidFill>
              </a:rPr>
              <a:t>(color = </a:t>
            </a:r>
            <a:r>
              <a:rPr lang="en-US" sz="942" dirty="0">
                <a:solidFill>
                  <a:srgbClr val="9CDCFE"/>
                </a:solidFill>
              </a:rPr>
              <a:t>Significant</a:t>
            </a:r>
            <a:r>
              <a:rPr lang="en-US" sz="942" dirty="0">
                <a:solidFill>
                  <a:srgbClr val="D4D4D4"/>
                </a:solidFill>
              </a:rPr>
              <a:t>)) +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   </a:t>
            </a:r>
            <a:r>
              <a:rPr lang="en-US" sz="942" dirty="0" err="1">
                <a:solidFill>
                  <a:srgbClr val="DCDCAA"/>
                </a:solidFill>
              </a:rPr>
              <a:t>theme_minimal</a:t>
            </a:r>
            <a:r>
              <a:rPr lang="en-US" sz="942" dirty="0">
                <a:solidFill>
                  <a:srgbClr val="D4D4D4"/>
                </a:solidFill>
              </a:rPr>
              <a:t>() +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   </a:t>
            </a:r>
            <a:r>
              <a:rPr lang="en-US" sz="942" dirty="0">
                <a:solidFill>
                  <a:srgbClr val="DCDCAA"/>
                </a:solidFill>
              </a:rPr>
              <a:t>labs</a:t>
            </a:r>
            <a:r>
              <a:rPr lang="en-US" sz="942" dirty="0">
                <a:solidFill>
                  <a:srgbClr val="D4D4D4"/>
                </a:solidFill>
              </a:rPr>
              <a:t>(
        title = </a:t>
            </a:r>
            <a:r>
              <a:rPr lang="en-US" sz="942" dirty="0">
                <a:solidFill>
                  <a:srgbClr val="CE9178"/>
                </a:solidFill>
              </a:rPr>
              <a:t>”Volcano Plot: Differential Protein Expression"</a:t>
            </a:r>
            <a:r>
              <a:rPr lang="en-US" sz="942" dirty="0">
                <a:solidFill>
                  <a:srgbClr val="D4D4D4"/>
                </a:solidFill>
              </a:rPr>
              <a:t>,
        x = </a:t>
            </a:r>
            <a:r>
              <a:rPr lang="en-US" sz="942" dirty="0">
                <a:solidFill>
                  <a:srgbClr val="CE9178"/>
                </a:solidFill>
              </a:rPr>
              <a:t>"Log2 Fold Change"</a:t>
            </a:r>
            <a:r>
              <a:rPr lang="en-US" sz="942" dirty="0">
                <a:solidFill>
                  <a:srgbClr val="D4D4D4"/>
                </a:solidFill>
              </a:rPr>
              <a:t>,
        y = </a:t>
            </a:r>
            <a:r>
              <a:rPr lang="en-US" sz="942" dirty="0">
                <a:solidFill>
                  <a:srgbClr val="CE9178"/>
                </a:solidFill>
              </a:rPr>
              <a:t>"-Log10(P-value)"</a:t>
            </a:r>
            <a:r>
              <a:rPr lang="en-US" sz="942" dirty="0">
                <a:solidFill>
                  <a:srgbClr val="D4D4D4"/>
                </a:solidFill>
              </a:rPr>
              <a:t>
    ) +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   </a:t>
            </a:r>
            <a:r>
              <a:rPr lang="en-US" sz="942" dirty="0" err="1">
                <a:solidFill>
                  <a:srgbClr val="DCDCAA"/>
                </a:solidFill>
              </a:rPr>
              <a:t>geom_hline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D4D4D4"/>
                </a:solidFill>
              </a:rPr>
              <a:t>yintercept</a:t>
            </a:r>
            <a:r>
              <a:rPr lang="en-US" sz="942" dirty="0">
                <a:solidFill>
                  <a:srgbClr val="D4D4D4"/>
                </a:solidFill>
              </a:rPr>
              <a:t> = -</a:t>
            </a:r>
            <a:r>
              <a:rPr lang="en-US" sz="942" dirty="0">
                <a:solidFill>
                  <a:srgbClr val="DCDCAA"/>
                </a:solidFill>
              </a:rPr>
              <a:t>log10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>
                <a:solidFill>
                  <a:srgbClr val="B5CEA8"/>
                </a:solidFill>
              </a:rPr>
              <a:t>0.05</a:t>
            </a:r>
            <a:r>
              <a:rPr lang="en-US" sz="942" dirty="0">
                <a:solidFill>
                  <a:srgbClr val="D4D4D4"/>
                </a:solidFill>
              </a:rPr>
              <a:t>), </a:t>
            </a:r>
            <a:r>
              <a:rPr lang="en-US" sz="942" dirty="0" err="1">
                <a:solidFill>
                  <a:srgbClr val="D4D4D4"/>
                </a:solidFill>
              </a:rPr>
              <a:t>linetype</a:t>
            </a:r>
            <a:r>
              <a:rPr lang="en-US" sz="942" dirty="0">
                <a:solidFill>
                  <a:srgbClr val="D4D4D4"/>
                </a:solidFill>
              </a:rPr>
              <a:t> = </a:t>
            </a:r>
            <a:r>
              <a:rPr lang="en-US" sz="942" dirty="0">
                <a:solidFill>
                  <a:srgbClr val="CE9178"/>
                </a:solidFill>
              </a:rPr>
              <a:t>"dashed"</a:t>
            </a:r>
            <a:r>
              <a:rPr lang="en-US" sz="942" dirty="0">
                <a:solidFill>
                  <a:srgbClr val="D4D4D4"/>
                </a:solidFill>
              </a:rPr>
              <a:t>) +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CDCAA"/>
                </a:solidFill>
              </a:rPr>
              <a:t>    </a:t>
            </a:r>
            <a:r>
              <a:rPr lang="en-US" sz="942" dirty="0" err="1">
                <a:solidFill>
                  <a:srgbClr val="DCDCAA"/>
                </a:solidFill>
              </a:rPr>
              <a:t>geom_vline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D4D4D4"/>
                </a:solidFill>
              </a:rPr>
              <a:t>xintercept</a:t>
            </a:r>
            <a:r>
              <a:rPr lang="en-US" sz="942" dirty="0">
                <a:solidFill>
                  <a:srgbClr val="D4D4D4"/>
                </a:solidFill>
              </a:rPr>
              <a:t> = </a:t>
            </a:r>
            <a:r>
              <a:rPr lang="en-US" sz="942" dirty="0">
                <a:solidFill>
                  <a:srgbClr val="DCDCAA"/>
                </a:solidFill>
              </a:rPr>
              <a:t>c</a:t>
            </a:r>
            <a:r>
              <a:rPr lang="en-US" sz="942" dirty="0">
                <a:solidFill>
                  <a:srgbClr val="D4D4D4"/>
                </a:solidFill>
              </a:rPr>
              <a:t>(-</a:t>
            </a:r>
            <a:r>
              <a:rPr lang="en-US" sz="942" dirty="0">
                <a:solidFill>
                  <a:srgbClr val="B5CEA8"/>
                </a:solidFill>
              </a:rPr>
              <a:t>1</a:t>
            </a:r>
            <a:r>
              <a:rPr lang="en-US" sz="942" dirty="0">
                <a:solidFill>
                  <a:srgbClr val="D4D4D4"/>
                </a:solidFill>
              </a:rPr>
              <a:t>, </a:t>
            </a:r>
            <a:r>
              <a:rPr lang="en-US" sz="942" dirty="0">
                <a:solidFill>
                  <a:srgbClr val="B5CEA8"/>
                </a:solidFill>
              </a:rPr>
              <a:t>1</a:t>
            </a:r>
            <a:r>
              <a:rPr lang="en-US" sz="942" dirty="0">
                <a:solidFill>
                  <a:srgbClr val="D4D4D4"/>
                </a:solidFill>
              </a:rPr>
              <a:t>), </a:t>
            </a:r>
            <a:r>
              <a:rPr lang="en-US" sz="942" dirty="0" err="1">
                <a:solidFill>
                  <a:srgbClr val="D4D4D4"/>
                </a:solidFill>
              </a:rPr>
              <a:t>linetype</a:t>
            </a:r>
            <a:r>
              <a:rPr lang="en-US" sz="942" dirty="0">
                <a:solidFill>
                  <a:srgbClr val="D4D4D4"/>
                </a:solidFill>
              </a:rPr>
              <a:t> = </a:t>
            </a:r>
            <a:r>
              <a:rPr lang="en-US" sz="942" dirty="0">
                <a:solidFill>
                  <a:srgbClr val="CE9178"/>
                </a:solidFill>
              </a:rPr>
              <a:t>"dashed"</a:t>
            </a:r>
            <a:r>
              <a:rPr lang="en-US" sz="942" dirty="0">
                <a:solidFill>
                  <a:srgbClr val="D4D4D4"/>
                </a:solidFill>
              </a:rPr>
              <a:t>)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114800" y="857250"/>
            <a:ext cx="5029200" cy="428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4286250" y="4073607"/>
            <a:ext cx="4686300" cy="64003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4371975" y="4159332"/>
            <a:ext cx="221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7AB"/>
                </a:solidFill>
              </a:rPr>
              <a:t>X-Axis (Log2 Fold Change)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4371975" y="4330782"/>
            <a:ext cx="221456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Magnitude of change. Positive = Upregulated, Negative = Downregulated.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6672263" y="4159332"/>
            <a:ext cx="221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7AB"/>
                </a:solidFill>
              </a:rPr>
              <a:t>Y-Axis (-Log10 P-value)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6672263" y="4330782"/>
            <a:ext cx="221456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Statistical significance. Higher points are more significant.</a:t>
            </a:r>
            <a:endParaRPr lang="en-US" sz="834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E8CBF7B-2D6F-7CBD-2982-72A0DE164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79586"/>
            <a:ext cx="4101548" cy="30761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9054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Summary and Best Practices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1214438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01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857250" y="1214438"/>
            <a:ext cx="42005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Power in Numbers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857250" y="1464469"/>
            <a:ext cx="4200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Biological replicates are essential. n = 3 is the absolute minimum; n ≥ 5 is recommended for robust statistics.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2078831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02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857250" y="2078831"/>
            <a:ext cx="42005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Choose the Right Test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857250" y="2328863"/>
            <a:ext cx="4200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Use </a:t>
            </a:r>
            <a:r>
              <a:rPr lang="en-US" sz="987" b="1" dirty="0">
                <a:solidFill>
                  <a:srgbClr val="555555"/>
                </a:solidFill>
              </a:rPr>
              <a:t>limma</a:t>
            </a:r>
            <a:r>
              <a:rPr lang="en-US" sz="1050" dirty="0">
                <a:solidFill>
                  <a:srgbClr val="555555"/>
                </a:solidFill>
              </a:rPr>
              <a:t> or similar moderated tests for small sample sizes to stabilize variance estimates.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8625" y="2943225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03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857250" y="2943225"/>
            <a:ext cx="42005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Correct for Multiple Testing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857250" y="3193256"/>
            <a:ext cx="4200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Always apply </a:t>
            </a:r>
            <a:r>
              <a:rPr lang="en-US" sz="987" b="1" dirty="0">
                <a:solidFill>
                  <a:srgbClr val="555555"/>
                </a:solidFill>
              </a:rPr>
              <a:t>FDR correction</a:t>
            </a:r>
            <a:r>
              <a:rPr lang="en-US" sz="1050" dirty="0">
                <a:solidFill>
                  <a:srgbClr val="555555"/>
                </a:solidFill>
              </a:rPr>
              <a:t> (Benjamini-Hochberg). A raw p-value &lt; 0.05 is rarely sufficient in proteomics.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28625" y="3807619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04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857250" y="3807619"/>
            <a:ext cx="42005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Validate Findings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857250" y="4057650"/>
            <a:ext cx="4200525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Statistical significance ≠ Biological relevance. Validate key hits with orthogonal methods (e.g., repetition, Western Blot, biological validation).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843588" y="1632570"/>
            <a:ext cx="12864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82B1FF"/>
                </a:solidFill>
              </a:rPr>
              <a:t>Core Philosophy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5843588" y="2102272"/>
            <a:ext cx="2943225" cy="133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"Statistics is a filter to remove noise, not a machine that generates truth."</a:t>
            </a:r>
            <a:endParaRPr lang="en-US" sz="1808" dirty="0"/>
          </a:p>
        </p:txBody>
      </p:sp>
      <p:sp>
        <p:nvSpPr>
          <p:cNvPr id="21" name="Text 18"/>
          <p:cNvSpPr/>
          <p:nvPr/>
        </p:nvSpPr>
        <p:spPr>
          <a:xfrm>
            <a:off x="5843588" y="3725242"/>
            <a:ext cx="29432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FFFFFF">
                    <a:alpha val="90000"/>
                  </a:srgbClr>
                </a:solidFill>
              </a:rPr>
              <a:t>Use statistical tools to prioritize candidates, but let biological understanding guide your final conclusions.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4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33856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Resources and Further Learning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14313" y="1071563"/>
            <a:ext cx="2762231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Essential Reading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214312" y="1534120"/>
            <a:ext cx="1068387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213162" y="1536969"/>
            <a:ext cx="998537" cy="16549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FDR &amp; Benjamini-Hochberg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214313" y="1798249"/>
            <a:ext cx="2762231" cy="168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A Tutorial on False Discovery Control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213162" y="2044920"/>
            <a:ext cx="2762231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4"/>
              </a:rPr>
              <a:t>https://www.stat.cmu.edu/~genovese/talks/hannover1-04.pdf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6180606" y="1577033"/>
            <a:ext cx="1068387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180606" y="1577033"/>
            <a:ext cx="1068387" cy="16549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Proteomics Analysis with R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6180607" y="1821707"/>
            <a:ext cx="2547172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Using R for Proteomics Data Analysis (</a:t>
            </a:r>
            <a:r>
              <a:rPr lang="en-US" sz="987" b="1" dirty="0" err="1">
                <a:solidFill>
                  <a:srgbClr val="000000"/>
                </a:solidFill>
              </a:rPr>
              <a:t>nov.</a:t>
            </a:r>
            <a:r>
              <a:rPr lang="en-US" sz="987" b="1" dirty="0">
                <a:solidFill>
                  <a:srgbClr val="000000"/>
                </a:solidFill>
              </a:rPr>
              <a:t> 2025)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180607" y="2052093"/>
            <a:ext cx="2762231" cy="52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5"/>
              </a:rPr>
              <a:t>https://www.bioconductor.org/packages/release/data/experiment/vignettes/RforProteomics/inst/doc/RforProteomics.html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180607" y="2785387"/>
            <a:ext cx="1660711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R for Mass Spectrometry (2026)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6180607" y="3015773"/>
            <a:ext cx="2762231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6"/>
              </a:rPr>
              <a:t>https://www.rformassspectrometry.org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190856" y="1071563"/>
            <a:ext cx="2762259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B30"/>
                </a:solidFill>
              </a:rPr>
              <a:t>Software &amp; Tools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3190856" y="1534120"/>
            <a:ext cx="572086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190856" y="1534120"/>
            <a:ext cx="572086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Platform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3190856" y="1778794"/>
            <a:ext cx="27622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Bioconductor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3190856" y="2009180"/>
            <a:ext cx="2762259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</a:rPr>
              <a:t>Open-source software project for high-throughput genomic/proteomic data </a:t>
            </a:r>
            <a:r>
              <a:rPr lang="en-US" sz="942" dirty="0">
                <a:solidFill>
                  <a:srgbClr val="555555"/>
                </a:solidFill>
                <a:hlinkClick r:id="rId7"/>
              </a:rPr>
              <a:t>https://www.bioconductor.org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3190856" y="2497801"/>
            <a:ext cx="572086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3190856" y="2497801"/>
            <a:ext cx="500342" cy="16549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R Package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3190856" y="2742474"/>
            <a:ext cx="328616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 err="1">
                <a:solidFill>
                  <a:srgbClr val="000000"/>
                </a:solidFill>
              </a:rPr>
              <a:t>limma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3190856" y="2972860"/>
            <a:ext cx="2762259" cy="52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</a:rPr>
              <a:t>Linear models for microarrays and omics data </a:t>
            </a:r>
            <a:r>
              <a:rPr lang="en-US" sz="942" dirty="0">
                <a:solidFill>
                  <a:srgbClr val="555555"/>
                </a:solidFill>
                <a:hlinkClick r:id="rId8"/>
              </a:rPr>
              <a:t>https://www.bioconductor.org/packages/release/bioc/html/limma.html</a:t>
            </a:r>
            <a:endParaRPr lang="en-US" sz="942" dirty="0">
              <a:solidFill>
                <a:srgbClr val="555555"/>
              </a:solidFill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79720" y="3781591"/>
            <a:ext cx="1418539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189766" y="3781591"/>
            <a:ext cx="1418540" cy="16549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This Presentation &amp; Associated R Scripts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179721" y="4145855"/>
            <a:ext cx="4261195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9"/>
              </a:rPr>
              <a:t>https://filedn.com/lzGVgfOGxb6mHFQcRn9ueUb/bepa2026/generate_visualizations.R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6167428" y="1071563"/>
            <a:ext cx="2762231" cy="28020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Proteomics with Open Source Software</a:t>
            </a:r>
            <a:endParaRPr lang="en-US" sz="1193" dirty="0"/>
          </a:p>
        </p:txBody>
      </p:sp>
      <p:sp>
        <p:nvSpPr>
          <p:cNvPr id="33" name="Shape 30"/>
          <p:cNvSpPr/>
          <p:nvPr/>
        </p:nvSpPr>
        <p:spPr>
          <a:xfrm>
            <a:off x="6167428" y="3758511"/>
            <a:ext cx="1210402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6167428" y="3758511"/>
            <a:ext cx="1160298" cy="16549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Proteomics Analysis with Python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6167428" y="4003185"/>
            <a:ext cx="537006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 err="1">
                <a:solidFill>
                  <a:srgbClr val="000000"/>
                </a:solidFill>
              </a:rPr>
              <a:t>Pyteomics</a:t>
            </a:r>
            <a:endParaRPr lang="en-US" sz="987" dirty="0"/>
          </a:p>
        </p:txBody>
      </p:sp>
      <p:sp>
        <p:nvSpPr>
          <p:cNvPr id="36" name="Text 33"/>
          <p:cNvSpPr/>
          <p:nvPr/>
        </p:nvSpPr>
        <p:spPr>
          <a:xfrm>
            <a:off x="6167428" y="4233571"/>
            <a:ext cx="2762231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10"/>
              </a:rPr>
              <a:t>https://pyteomics.readthedocs.io/en/latest/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6DF7698E-E56B-BAD5-682A-6122E56CC849}"/>
              </a:ext>
            </a:extLst>
          </p:cNvPr>
          <p:cNvSpPr/>
          <p:nvPr/>
        </p:nvSpPr>
        <p:spPr>
          <a:xfrm>
            <a:off x="179721" y="4328840"/>
            <a:ext cx="4261195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9"/>
              </a:rPr>
              <a:t>https://filedn.com/lzGVgfOGxb6mHFQcRn9ueUb/bepa2026/r_code_examples.R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24D923BC-2F89-CAF1-2CD1-1C32C2EC64F2}"/>
              </a:ext>
            </a:extLst>
          </p:cNvPr>
          <p:cNvSpPr/>
          <p:nvPr/>
        </p:nvSpPr>
        <p:spPr>
          <a:xfrm>
            <a:off x="217558" y="2651041"/>
            <a:ext cx="2762231" cy="347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Controlling the False Discovery Rate: A Practical and Powerful Approach to Multiple Testing (1995)</a:t>
            </a:r>
            <a:endParaRPr lang="en-US" sz="987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CF7741FE-D235-9C4C-AF54-52E9FD296B10}"/>
              </a:ext>
            </a:extLst>
          </p:cNvPr>
          <p:cNvSpPr/>
          <p:nvPr/>
        </p:nvSpPr>
        <p:spPr>
          <a:xfrm>
            <a:off x="216407" y="3163601"/>
            <a:ext cx="2762231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11"/>
              </a:rPr>
              <a:t>https://rss.onlinelibrary.wiley.com/doi/10.1111/j.2517-6161.1995.tb02031.x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928299E3-B2FD-CF52-1DD4-63BDB0C12722}"/>
              </a:ext>
            </a:extLst>
          </p:cNvPr>
          <p:cNvSpPr/>
          <p:nvPr/>
        </p:nvSpPr>
        <p:spPr>
          <a:xfrm>
            <a:off x="189451" y="3974005"/>
            <a:ext cx="4261195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12"/>
              </a:rPr>
              <a:t>https://filedn.com/lzGVgfOGxb6mHFQcRn9ueUb/bepa2026/bepa2026_stats.pdf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1559</TotalTime>
  <Words>2529</Words>
  <Application>Microsoft Macintosh PowerPoint</Application>
  <PresentationFormat>Affichage à l'écran (16:9)</PresentationFormat>
  <Paragraphs>335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Philippe GROSJEAN</cp:lastModifiedBy>
  <cp:revision>8</cp:revision>
  <dcterms:created xsi:type="dcterms:W3CDTF">2026-01-27T11:45:20Z</dcterms:created>
  <dcterms:modified xsi:type="dcterms:W3CDTF">2026-01-28T16:36:39Z</dcterms:modified>
</cp:coreProperties>
</file>