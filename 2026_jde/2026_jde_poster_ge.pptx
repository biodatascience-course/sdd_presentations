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5" r:id="rId2"/>
  </p:sldIdLst>
  <p:sldSz cx="30243463" cy="42845038"/>
  <p:notesSz cx="6858000" cy="10059988"/>
  <p:defaultTextStyle>
    <a:defPPr>
      <a:defRPr lang="fr-FR"/>
    </a:defPPr>
    <a:lvl1pPr algn="l" defTabSz="4175125" rtl="0" eaLnBrk="0" fontAlgn="base" hangingPunct="0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2087563" indent="-1630363" algn="l" defTabSz="4175125" rtl="0" eaLnBrk="0" fontAlgn="base" hangingPunct="0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4175125" indent="-3260725" algn="l" defTabSz="4175125" rtl="0" eaLnBrk="0" fontAlgn="base" hangingPunct="0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6264275" indent="-4892675" algn="l" defTabSz="4175125" rtl="0" eaLnBrk="0" fontAlgn="base" hangingPunct="0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8351838" indent="-6523038" algn="l" defTabSz="4175125" rtl="0" eaLnBrk="0" fontAlgn="base" hangingPunct="0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6059" userDrawn="1">
          <p15:clr>
            <a:srgbClr val="A4A3A4"/>
          </p15:clr>
        </p15:guide>
        <p15:guide id="4" orient="horz" pos="14130" userDrawn="1">
          <p15:clr>
            <a:srgbClr val="A4A3A4"/>
          </p15:clr>
        </p15:guide>
        <p15:guide id="5" orient="horz" pos="13449" userDrawn="1">
          <p15:clr>
            <a:srgbClr val="A4A3A4"/>
          </p15:clr>
        </p15:guide>
        <p15:guide id="6" orient="horz" pos="26377" userDrawn="1">
          <p15:clr>
            <a:srgbClr val="A4A3A4"/>
          </p15:clr>
        </p15:guide>
        <p15:guide id="8" pos="9571" userDrawn="1">
          <p15:clr>
            <a:srgbClr val="A4A3A4"/>
          </p15:clr>
        </p15:guide>
        <p15:guide id="9" pos="454" userDrawn="1">
          <p15:clr>
            <a:srgbClr val="A4A3A4"/>
          </p15:clr>
        </p15:guide>
        <p15:guide id="10" pos="142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687"/>
    <a:srgbClr val="A70039"/>
    <a:srgbClr val="F6A723"/>
    <a:srgbClr val="969696"/>
    <a:srgbClr val="FF9933"/>
    <a:srgbClr val="777777"/>
    <a:srgbClr val="3366FF"/>
    <a:srgbClr val="666699"/>
    <a:srgbClr val="FF5050"/>
    <a:srgbClr val="C75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21" autoAdjust="0"/>
    <p:restoredTop sz="86421" autoAdjust="0"/>
  </p:normalViewPr>
  <p:slideViewPr>
    <p:cSldViewPr>
      <p:cViewPr varScale="1">
        <p:scale>
          <a:sx n="42" d="100"/>
          <a:sy n="42" d="100"/>
        </p:scale>
        <p:origin x="3640" y="192"/>
      </p:cViewPr>
      <p:guideLst>
        <p:guide orient="horz" pos="26059"/>
        <p:guide orient="horz" pos="14130"/>
        <p:guide orient="horz" pos="13449"/>
        <p:guide orient="horz" pos="26377"/>
        <p:guide pos="9571"/>
        <p:guide pos="454"/>
        <p:guide pos="142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503238"/>
          </a:xfrm>
          <a:prstGeom prst="rect">
            <a:avLst/>
          </a:prstGeom>
        </p:spPr>
        <p:txBody>
          <a:bodyPr vert="horz" lIns="96562" tIns="48282" rIns="96562" bIns="48282" rtlCol="0"/>
          <a:lstStyle>
            <a:lvl1pPr algn="l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0213" cy="503238"/>
          </a:xfrm>
          <a:prstGeom prst="rect">
            <a:avLst/>
          </a:prstGeom>
        </p:spPr>
        <p:txBody>
          <a:bodyPr vert="horz" lIns="96562" tIns="48282" rIns="96562" bIns="48282" rtlCol="0"/>
          <a:lstStyle>
            <a:lvl1pPr algn="r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3BA7EF55-F996-4B81-9441-DE83BD3FD412}" type="datetimeFigureOut">
              <a:rPr lang="fr-FR"/>
              <a:pPr>
                <a:defRPr/>
              </a:pPr>
              <a:t>04/04/2026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555163"/>
            <a:ext cx="2970213" cy="503237"/>
          </a:xfrm>
          <a:prstGeom prst="rect">
            <a:avLst/>
          </a:prstGeom>
        </p:spPr>
        <p:txBody>
          <a:bodyPr vert="horz" lIns="96562" tIns="48282" rIns="96562" bIns="48282" rtlCol="0" anchor="b"/>
          <a:lstStyle>
            <a:lvl1pPr algn="l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6200" y="9555163"/>
            <a:ext cx="2970213" cy="503237"/>
          </a:xfrm>
          <a:prstGeom prst="rect">
            <a:avLst/>
          </a:prstGeom>
        </p:spPr>
        <p:txBody>
          <a:bodyPr vert="horz" wrap="square" lIns="96562" tIns="48282" rIns="96562" bIns="48282" numCol="1" anchor="b" anchorCtr="0" compatLnSpc="1">
            <a:prstTxWarp prst="textNoShape">
              <a:avLst/>
            </a:prstTxWarp>
          </a:bodyPr>
          <a:lstStyle>
            <a:lvl1pPr algn="r" defTabSz="4251325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CC3C1D29-AD1B-4E95-AFFF-60B7C630CEA2}" type="slidenum">
              <a:rPr lang="fr-BE" altLang="en-US"/>
              <a:pPr>
                <a:defRPr/>
              </a:pPr>
              <a:t>‹N°›</a:t>
            </a:fld>
            <a:endParaRPr lang="fr-BE" altLang="en-US"/>
          </a:p>
        </p:txBody>
      </p:sp>
    </p:spTree>
    <p:extLst>
      <p:ext uri="{BB962C8B-B14F-4D97-AF65-F5344CB8AC3E}">
        <p14:creationId xmlns:p14="http://schemas.microsoft.com/office/powerpoint/2010/main" val="2950181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503238"/>
          </a:xfrm>
          <a:prstGeom prst="rect">
            <a:avLst/>
          </a:prstGeom>
        </p:spPr>
        <p:txBody>
          <a:bodyPr vert="horz" lIns="96562" tIns="48282" rIns="96562" bIns="48282" rtlCol="0"/>
          <a:lstStyle>
            <a:lvl1pPr algn="l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0213" cy="503238"/>
          </a:xfrm>
          <a:prstGeom prst="rect">
            <a:avLst/>
          </a:prstGeom>
        </p:spPr>
        <p:txBody>
          <a:bodyPr vert="horz" lIns="96562" tIns="48282" rIns="96562" bIns="48282" rtlCol="0"/>
          <a:lstStyle>
            <a:lvl1pPr algn="r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8D4995BA-8BE5-4DE7-B286-877D53D05E63}" type="datetimeFigureOut">
              <a:rPr lang="fr-FR"/>
              <a:pPr>
                <a:defRPr/>
              </a:pPr>
              <a:t>04/04/2026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98675" y="752475"/>
            <a:ext cx="2660650" cy="3773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62" tIns="48282" rIns="96562" bIns="48282" rtlCol="0" anchor="ctr"/>
          <a:lstStyle/>
          <a:p>
            <a:pPr lvl="0"/>
            <a:endParaRPr lang="fr-BE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778375"/>
            <a:ext cx="5486400" cy="4527550"/>
          </a:xfrm>
          <a:prstGeom prst="rect">
            <a:avLst/>
          </a:prstGeom>
        </p:spPr>
        <p:txBody>
          <a:bodyPr vert="horz" lIns="96562" tIns="48282" rIns="96562" bIns="48282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BE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55163"/>
            <a:ext cx="2970213" cy="503237"/>
          </a:xfrm>
          <a:prstGeom prst="rect">
            <a:avLst/>
          </a:prstGeom>
        </p:spPr>
        <p:txBody>
          <a:bodyPr vert="horz" lIns="96562" tIns="48282" rIns="96562" bIns="48282" rtlCol="0" anchor="b"/>
          <a:lstStyle>
            <a:lvl1pPr algn="l" defTabSz="4252299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6200" y="9555163"/>
            <a:ext cx="2970213" cy="503237"/>
          </a:xfrm>
          <a:prstGeom prst="rect">
            <a:avLst/>
          </a:prstGeom>
        </p:spPr>
        <p:txBody>
          <a:bodyPr vert="horz" wrap="square" lIns="96562" tIns="48282" rIns="96562" bIns="48282" numCol="1" anchor="b" anchorCtr="0" compatLnSpc="1">
            <a:prstTxWarp prst="textNoShape">
              <a:avLst/>
            </a:prstTxWarp>
          </a:bodyPr>
          <a:lstStyle>
            <a:lvl1pPr algn="r" defTabSz="4251325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8D8359B8-01E4-49E7-BFA0-6E445A423911}" type="slidenum">
              <a:rPr lang="fr-BE" altLang="en-US"/>
              <a:pPr>
                <a:defRPr/>
              </a:pPr>
              <a:t>‹N°›</a:t>
            </a:fld>
            <a:endParaRPr lang="fr-BE" altLang="en-US"/>
          </a:p>
        </p:txBody>
      </p:sp>
    </p:spTree>
    <p:extLst>
      <p:ext uri="{BB962C8B-B14F-4D97-AF65-F5344CB8AC3E}">
        <p14:creationId xmlns:p14="http://schemas.microsoft.com/office/powerpoint/2010/main" val="16056715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BE" altLang="en-US" err="1"/>
              <a:t>www.virtualbox.org</a:t>
            </a:r>
            <a:r>
              <a:rPr lang="fr-BE" altLang="en-US"/>
              <a:t>[</a:t>
            </a:r>
            <a:endParaRPr lang="fr-BE"/>
          </a:p>
          <a:p>
            <a:pPr eaLnBrk="1" hangingPunct="1">
              <a:spcBef>
                <a:spcPct val="0"/>
              </a:spcBef>
            </a:pP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www.ubuntu.com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www.rstudio.com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www.r-project.org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www.github.com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www.lyx.org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www.python.org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www.jupyter.org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r>
              <a:rPr lang="fr-BE" altLang="en-US" err="1"/>
              <a:t>pythonhosted.org</a:t>
            </a:r>
            <a:r>
              <a:rPr lang="fr-BE" altLang="en-US"/>
              <a:t>/</a:t>
            </a:r>
            <a:r>
              <a:rPr lang="fr-BE" altLang="en-US" err="1"/>
              <a:t>spyder</a:t>
            </a:r>
            <a:r>
              <a:rPr lang="fr-BE" altLang="en-US"/>
              <a:t>/</a:t>
            </a:r>
            <a:r>
              <a:rPr lang="fr-BE" altLang="en-US" err="1"/>
              <a:t>index.htm</a:t>
            </a:r>
            <a:endParaRPr lang="fr-BE" altLang="en-US"/>
          </a:p>
          <a:p>
            <a:pPr eaLnBrk="1" hangingPunct="1">
              <a:spcBef>
                <a:spcPct val="0"/>
              </a:spcBef>
            </a:pPr>
            <a:endParaRPr lang="fr-BE" altLang="en-US"/>
          </a:p>
          <a:p>
            <a:pPr eaLnBrk="1" hangingPunct="1">
              <a:spcBef>
                <a:spcPct val="0"/>
              </a:spcBef>
            </a:pPr>
            <a:endParaRPr lang="fr-BE" altLang="en-US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249738"/>
            <a:fld id="{316DB442-F2BA-4600-A0B5-A08A81765C88}" type="slidenum">
              <a:rPr lang="fr-BE" altLang="en-US" smtClean="0"/>
              <a:pPr defTabSz="4249738"/>
              <a:t>1</a:t>
            </a:fld>
            <a:endParaRPr lang="fr-BE" altLang="en-US"/>
          </a:p>
        </p:txBody>
      </p:sp>
    </p:spTree>
    <p:extLst>
      <p:ext uri="{BB962C8B-B14F-4D97-AF65-F5344CB8AC3E}">
        <p14:creationId xmlns:p14="http://schemas.microsoft.com/office/powerpoint/2010/main" val="118817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jpe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medecine &amp; pharma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9" descr="sciences_microscope_large.jpg"/>
          <p:cNvPicPr>
            <a:picLocks noChangeAspect="1"/>
          </p:cNvPicPr>
          <p:nvPr/>
        </p:nvPicPr>
        <p:blipFill>
          <a:blip r:embed="rId2" cstate="print">
            <a:lum bright="14000"/>
          </a:blip>
          <a:srcRect/>
          <a:stretch>
            <a:fillRect/>
          </a:stretch>
        </p:blipFill>
        <p:spPr bwMode="auto">
          <a:xfrm>
            <a:off x="7524750" y="2382838"/>
            <a:ext cx="22045613" cy="550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8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de Médecine et Pharmacie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175" y="37836475"/>
            <a:ext cx="6286500" cy="274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0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itre Poly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2350" y="38347650"/>
            <a:ext cx="5111750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9" descr="étudiante_large.jpg"/>
          <p:cNvPicPr>
            <a:picLocks noChangeAspect="1"/>
          </p:cNvPicPr>
          <p:nvPr/>
        </p:nvPicPr>
        <p:blipFill>
          <a:blip r:embed="rId3" cstate="print">
            <a:lum bright="2000"/>
          </a:blip>
          <a:srcRect/>
          <a:stretch>
            <a:fillRect/>
          </a:stretch>
        </p:blipFill>
        <p:spPr bwMode="auto">
          <a:xfrm>
            <a:off x="7515225" y="2359025"/>
            <a:ext cx="22064663" cy="551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19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Polytechnique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3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4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psycho &amp; sciences é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9" descr="passage_long.jpg"/>
          <p:cNvPicPr>
            <a:picLocks noChangeAspect="1"/>
          </p:cNvPicPr>
          <p:nvPr/>
        </p:nvPicPr>
        <p:blipFill>
          <a:blip r:embed="rId2" cstate="print">
            <a:lum bright="6000"/>
          </a:blip>
          <a:srcRect r="22485"/>
          <a:stretch>
            <a:fillRect/>
          </a:stretch>
        </p:blipFill>
        <p:spPr bwMode="auto">
          <a:xfrm>
            <a:off x="7508875" y="2376488"/>
            <a:ext cx="22044025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22"/>
          <p:cNvSpPr txBox="1"/>
          <p:nvPr/>
        </p:nvSpPr>
        <p:spPr>
          <a:xfrm>
            <a:off x="7434263" y="1963738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de Psychologie </a:t>
            </a:r>
            <a:b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</a:br>
            <a: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et des Sciences de l’Education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 descr="UMONS_Fac psy et siences educ_small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8325" y="37826950"/>
            <a:ext cx="6142038" cy="272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9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itre 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0" descr="sciences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0" y="2365375"/>
            <a:ext cx="220440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13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des Sciences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3275" y="37801550"/>
            <a:ext cx="5776913" cy="290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9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2" descr="fti_eii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39038" y="2379663"/>
            <a:ext cx="22067837" cy="552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16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300"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>
                      <a:alpha val="65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de Traduction </a:t>
            </a:r>
            <a:br>
              <a:rPr lang="fr-FR" sz="11300"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>
                      <a:alpha val="65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</a:br>
            <a:r>
              <a:rPr lang="fr-FR" sz="11300"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>
                      <a:alpha val="65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et d’Interprétation</a:t>
            </a:r>
            <a:endParaRPr lang="fr-BE" sz="11300">
              <a:solidFill>
                <a:schemeClr val="bg1"/>
              </a:solidFill>
              <a:effectLst>
                <a:outerShdw blurRad="127000" dist="38100" dir="2700000" algn="tl" rotWithShape="0">
                  <a:prstClr val="black">
                    <a:alpha val="65000"/>
                  </a:prst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175" y="37885688"/>
            <a:ext cx="6999288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20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itre Warocqu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8" descr="warocqu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3300" y="37187188"/>
            <a:ext cx="3405188" cy="318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9" descr="warocque_etudiants_large.jpg"/>
          <p:cNvPicPr>
            <a:picLocks noChangeAspect="1"/>
          </p:cNvPicPr>
          <p:nvPr/>
        </p:nvPicPr>
        <p:blipFill>
          <a:blip r:embed="rId3" cstate="print">
            <a:lum bright="8000"/>
          </a:blip>
          <a:srcRect/>
          <a:stretch>
            <a:fillRect/>
          </a:stretch>
        </p:blipFill>
        <p:spPr bwMode="auto">
          <a:xfrm>
            <a:off x="7527925" y="2365375"/>
            <a:ext cx="22034500" cy="551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12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2286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Warocqué</a:t>
            </a:r>
          </a:p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228600" dist="38100" dir="2700000" algn="tl" rotWithShape="0">
                    <a:prstClr val="black">
                      <a:alpha val="69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   d’Economie et de Gestion</a:t>
            </a:r>
            <a:endParaRPr lang="fr-BE" sz="11800">
              <a:solidFill>
                <a:schemeClr val="bg1"/>
              </a:solidFill>
              <a:effectLst>
                <a:outerShdw blurRad="228600" dist="38100" dir="2700000" algn="tl" rotWithShape="0">
                  <a:prstClr val="black">
                    <a:alpha val="69000"/>
                  </a:prst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7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IS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8" descr="sciences du langag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5263" y="37161788"/>
            <a:ext cx="432276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9" descr="phonétique_analyse_larg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19988" y="2376488"/>
            <a:ext cx="22042437" cy="551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12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Institut des Sciences du Langage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7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ro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3463" y="37053838"/>
            <a:ext cx="2736850" cy="3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9" descr="sciences_etudiants_large.jpg"/>
          <p:cNvPicPr>
            <a:picLocks noChangeAspect="1"/>
          </p:cNvPicPr>
          <p:nvPr/>
        </p:nvPicPr>
        <p:blipFill>
          <a:blip r:embed="rId3" cstate="print">
            <a:lum bright="14000"/>
          </a:blip>
          <a:srcRect/>
          <a:stretch>
            <a:fillRect/>
          </a:stretch>
        </p:blipFill>
        <p:spPr bwMode="auto">
          <a:xfrm>
            <a:off x="7529513" y="2357438"/>
            <a:ext cx="22050375" cy="551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12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Institut des Sciences Juridiques</a:t>
            </a:r>
            <a:endParaRPr lang="fr-BE" sz="1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7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9" descr="shs.jpg"/>
          <p:cNvPicPr>
            <a:picLocks noChangeAspect="1"/>
          </p:cNvPicPr>
          <p:nvPr/>
        </p:nvPicPr>
        <p:blipFill>
          <a:blip r:embed="rId2" cstate="print">
            <a:lum bright="10000"/>
          </a:blip>
          <a:srcRect/>
          <a:stretch>
            <a:fillRect/>
          </a:stretch>
        </p:blipFill>
        <p:spPr bwMode="auto">
          <a:xfrm>
            <a:off x="7529513" y="2393950"/>
            <a:ext cx="22039262" cy="551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16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203200" dist="38100" dir="2700000" algn="tl" rotWithShape="0">
                    <a:prstClr val="black">
                      <a:alpha val="91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Institut des Sciences </a:t>
            </a:r>
          </a:p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203200" dist="38100" dir="2700000" algn="tl" rotWithShape="0">
                    <a:prstClr val="black">
                      <a:alpha val="91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	Humaines et Sociales</a:t>
            </a:r>
            <a:endParaRPr lang="fr-BE" sz="11800">
              <a:solidFill>
                <a:schemeClr val="bg1"/>
              </a:solidFill>
              <a:effectLst>
                <a:outerShdw blurRad="203200" dist="38100" dir="2700000" algn="tl" rotWithShape="0">
                  <a:prstClr val="black">
                    <a:alpha val="91000"/>
                  </a:prst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63" y="37931725"/>
            <a:ext cx="5522912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20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21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8" descr="archi_large4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37450" y="2381250"/>
            <a:ext cx="21993225" cy="550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12"/>
          <p:cNvSpPr txBox="1"/>
          <p:nvPr/>
        </p:nvSpPr>
        <p:spPr>
          <a:xfrm>
            <a:off x="7434263" y="1985963"/>
            <a:ext cx="22107525" cy="580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17508" tIns="208756" rIns="417508" bIns="208756">
            <a:normAutofit/>
          </a:bodyPr>
          <a:lstStyle/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139700" dist="38100" dir="2700000" algn="tl" rotWithShape="0">
                    <a:prstClr val="black">
                      <a:alpha val="84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Faculté d’Architecture</a:t>
            </a:r>
          </a:p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1800">
                <a:solidFill>
                  <a:schemeClr val="bg1"/>
                </a:solidFill>
                <a:effectLst>
                  <a:outerShdw blurRad="139700" dist="38100" dir="2700000" algn="tl" rotWithShape="0">
                    <a:prstClr val="black">
                      <a:alpha val="84000"/>
                    </a:prstClr>
                  </a:outerShdw>
                </a:effectLst>
                <a:latin typeface="Calibri" pitchFamily="34" charset="0"/>
                <a:ea typeface="Calibri" pitchFamily="34" charset="0"/>
                <a:cs typeface="Times New Roman" pitchFamily="18" charset="0"/>
              </a:rPr>
              <a:t>                                et d’Urbanisme</a:t>
            </a:r>
            <a:endParaRPr lang="fr-BE" sz="11800">
              <a:solidFill>
                <a:schemeClr val="bg1"/>
              </a:solidFill>
              <a:effectLst>
                <a:outerShdw blurRad="139700" dist="38100" dir="2700000" algn="tl" rotWithShape="0">
                  <a:prstClr val="black">
                    <a:alpha val="84000"/>
                  </a:prst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1565656" indent="-1565656" defTabSz="417643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fr-BE" sz="118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6100" y="37769800"/>
            <a:ext cx="606742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7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9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Services génér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8" descr="archi_large4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37450" y="2381250"/>
            <a:ext cx="21993225" cy="550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Bannièr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64438" y="2365375"/>
            <a:ext cx="21953537" cy="551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ous-titre 2"/>
          <p:cNvSpPr>
            <a:spLocks noGrp="1"/>
          </p:cNvSpPr>
          <p:nvPr>
            <p:ph type="subTitle" idx="1"/>
          </p:nvPr>
        </p:nvSpPr>
        <p:spPr>
          <a:xfrm>
            <a:off x="7214327" y="11235599"/>
            <a:ext cx="22493578" cy="1910501"/>
          </a:xfrm>
        </p:spPr>
        <p:txBody>
          <a:bodyPr>
            <a:noAutofit/>
          </a:bodyPr>
          <a:lstStyle>
            <a:lvl1pPr marL="1565656" indent="-1565656" algn="l">
              <a:buNone/>
              <a:defRPr kumimoji="0" lang="fr-BE" sz="10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2087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5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377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5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2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0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Cliquez pour modifier le style des sous-titres du masque</a:t>
            </a:r>
            <a:endParaRPr lang="fr-BE" dirty="0"/>
          </a:p>
        </p:txBody>
      </p:sp>
      <p:sp>
        <p:nvSpPr>
          <p:cNvPr id="17" name="Titre 14"/>
          <p:cNvSpPr>
            <a:spLocks noGrp="1"/>
          </p:cNvSpPr>
          <p:nvPr>
            <p:ph type="title"/>
          </p:nvPr>
        </p:nvSpPr>
        <p:spPr>
          <a:xfrm>
            <a:off x="7214329" y="9397410"/>
            <a:ext cx="22588088" cy="2288010"/>
          </a:xfrm>
        </p:spPr>
        <p:txBody>
          <a:bodyPr>
            <a:noAutofit/>
          </a:bodyPr>
          <a:lstStyle>
            <a:lvl1pPr algn="l">
              <a:defRPr kumimoji="0" lang="fr-BE" sz="1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2"/>
          </p:nvPr>
        </p:nvSpPr>
        <p:spPr>
          <a:xfrm>
            <a:off x="7145369" y="14606778"/>
            <a:ext cx="22558034" cy="25534808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8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/>
          <p:cNvSpPr txBox="1">
            <a:spLocks noChangeArrowheads="1"/>
          </p:cNvSpPr>
          <p:nvPr/>
        </p:nvSpPr>
        <p:spPr bwMode="auto">
          <a:xfrm>
            <a:off x="-31750" y="41376600"/>
            <a:ext cx="7372350" cy="1220788"/>
          </a:xfrm>
          <a:prstGeom prst="rect">
            <a:avLst/>
          </a:prstGeom>
          <a:noFill/>
          <a:ln>
            <a:noFill/>
          </a:ln>
        </p:spPr>
        <p:txBody>
          <a:bodyPr lIns="417508" tIns="208756" rIns="417508" bIns="208756">
            <a:spAutoFit/>
          </a:bodyPr>
          <a:lstStyle>
            <a:lvl1pPr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sz="5200" b="1">
                <a:solidFill>
                  <a:srgbClr val="A6A6A6"/>
                </a:solidFill>
              </a:rPr>
              <a:t>Université de Mons</a:t>
            </a:r>
            <a:endParaRPr lang="fr-BE" sz="5200" b="1">
              <a:solidFill>
                <a:srgbClr val="A6A6A6"/>
              </a:solidFill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3913" y="1066800"/>
            <a:ext cx="560228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re 10"/>
          <p:cNvSpPr>
            <a:spLocks noGrp="1"/>
          </p:cNvSpPr>
          <p:nvPr>
            <p:ph type="title"/>
          </p:nvPr>
        </p:nvSpPr>
        <p:spPr>
          <a:xfrm>
            <a:off x="1512173" y="4183669"/>
            <a:ext cx="27219117" cy="4672959"/>
          </a:xfrm>
        </p:spPr>
        <p:txBody>
          <a:bodyPr/>
          <a:lstStyle>
            <a:lvl1pPr>
              <a:defRPr sz="11800"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 dirty="0"/>
          </a:p>
        </p:txBody>
      </p:sp>
      <p:sp>
        <p:nvSpPr>
          <p:cNvPr id="10" name="Espace réservé du contenu 2"/>
          <p:cNvSpPr>
            <a:spLocks noGrp="1"/>
          </p:cNvSpPr>
          <p:nvPr>
            <p:ph idx="12"/>
          </p:nvPr>
        </p:nvSpPr>
        <p:spPr>
          <a:xfrm>
            <a:off x="1512175" y="9593589"/>
            <a:ext cx="27291127" cy="30547997"/>
          </a:xfrm>
        </p:spPr>
        <p:txBody>
          <a:bodyPr>
            <a:normAutofit/>
          </a:bodyPr>
          <a:lstStyle>
            <a:lvl1pPr>
              <a:buFontTx/>
              <a:buNone/>
              <a:defRPr kumimoji="0" lang="fr-FR" sz="74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826322" indent="-826322">
              <a:buClr>
                <a:srgbClr val="00ABCC"/>
              </a:buClr>
              <a:buFont typeface="Wingdings" pitchFamily="2" charset="2"/>
              <a:buChar char="§"/>
              <a:defRPr kumimoji="0" lang="fr-FR" sz="70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2044053" indent="-826322">
              <a:buClr>
                <a:srgbClr val="C44C4C"/>
              </a:buClr>
              <a:buFont typeface="Wingdings" pitchFamily="2" charset="2"/>
              <a:buChar char="§"/>
              <a:defRPr kumimoji="0" lang="fr-FR" sz="6100" b="0" i="0" u="none" strike="noStrike" kern="1200" cap="none" normalizeH="0" baseline="0" dirty="0" smtClean="0">
                <a:ln>
                  <a:noFill/>
                </a:ln>
                <a:solidFill>
                  <a:srgbClr val="454545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3261789" indent="-826322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5200">
                <a:solidFill>
                  <a:srgbClr val="454545"/>
                </a:solidFill>
              </a:defRPr>
            </a:lvl4pPr>
            <a:lvl5pPr marL="4523013" indent="-782828">
              <a:buFont typeface="Wingdings" pitchFamily="2" charset="2"/>
              <a:buChar char="§"/>
              <a:defRPr sz="4400">
                <a:solidFill>
                  <a:srgbClr val="454545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1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39925625"/>
            <a:ext cx="560387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512888" y="1716088"/>
            <a:ext cx="27217687" cy="71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7508" tIns="208756" rIns="417508" bIns="2087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  <a:endParaRPr lang="fr-BE" altLang="en-US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1512888" y="9996488"/>
            <a:ext cx="27217687" cy="282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7508" tIns="208756" rIns="417508" bIns="2087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pic>
        <p:nvPicPr>
          <p:cNvPr id="1028" name="Picture 2"/>
          <p:cNvPicPr>
            <a:picLocks noChangeAspect="1" noChangeArrowheads="1"/>
          </p:cNvPicPr>
          <p:nvPr/>
        </p:nvPicPr>
        <p:blipFill>
          <a:blip r:embed="rId16" cstate="print"/>
          <a:srcRect l="269" t="20290" r="13968" b="25948"/>
          <a:stretch>
            <a:fillRect/>
          </a:stretch>
        </p:blipFill>
        <p:spPr bwMode="auto">
          <a:xfrm>
            <a:off x="0" y="0"/>
            <a:ext cx="30243463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"/>
          <p:cNvPicPr>
            <a:picLocks noChangeAspect="1" noChangeArrowheads="1"/>
          </p:cNvPicPr>
          <p:nvPr/>
        </p:nvPicPr>
        <p:blipFill>
          <a:blip r:embed="rId16" cstate="print"/>
          <a:srcRect l="269" t="20290" r="13968" b="25948"/>
          <a:stretch>
            <a:fillRect/>
          </a:stretch>
        </p:blipFill>
        <p:spPr bwMode="auto">
          <a:xfrm>
            <a:off x="0" y="40354250"/>
            <a:ext cx="30243463" cy="249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7372350" y="41119425"/>
            <a:ext cx="22871113" cy="1725613"/>
          </a:xfrm>
          <a:prstGeom prst="rect">
            <a:avLst/>
          </a:prstGeom>
        </p:spPr>
        <p:txBody>
          <a:bodyPr vert="horz" lIns="417508" tIns="208756" rIns="417508" bIns="208756" rtlCol="0" anchor="ctr"/>
          <a:lstStyle>
            <a:lvl1pPr algn="l" defTabSz="4176431" eaLnBrk="1" fontAlgn="auto" hangingPunct="1">
              <a:spcBef>
                <a:spcPts val="0"/>
              </a:spcBef>
              <a:spcAft>
                <a:spcPts val="0"/>
              </a:spcAft>
              <a:defRPr sz="57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3" r:id="rId1"/>
    <p:sldLayoutId id="2147484964" r:id="rId2"/>
    <p:sldLayoutId id="2147484965" r:id="rId3"/>
    <p:sldLayoutId id="2147484966" r:id="rId4"/>
    <p:sldLayoutId id="2147484967" r:id="rId5"/>
    <p:sldLayoutId id="2147484968" r:id="rId6"/>
    <p:sldLayoutId id="2147484969" r:id="rId7"/>
    <p:sldLayoutId id="2147484970" r:id="rId8"/>
    <p:sldLayoutId id="2147484971" r:id="rId9"/>
    <p:sldLayoutId id="2147484972" r:id="rId10"/>
    <p:sldLayoutId id="2147484973" r:id="rId11"/>
    <p:sldLayoutId id="2147484974" r:id="rId12"/>
    <p:sldLayoutId id="2147484975" r:id="rId13"/>
    <p:sldLayoutId id="214748497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fr-BE" sz="20100" b="1" kern="1200" dirty="0">
          <a:solidFill>
            <a:schemeClr val="accent2"/>
          </a:solidFill>
          <a:latin typeface="Calibri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100" b="1">
          <a:solidFill>
            <a:schemeClr val="accent2"/>
          </a:solidFill>
          <a:latin typeface="Calibri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100" b="1">
          <a:solidFill>
            <a:schemeClr val="accent2"/>
          </a:solidFill>
          <a:latin typeface="Calibri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100" b="1">
          <a:solidFill>
            <a:schemeClr val="accent2"/>
          </a:solidFill>
          <a:latin typeface="Calibri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100" b="1">
          <a:solidFill>
            <a:schemeClr val="accent2"/>
          </a:solidFill>
          <a:latin typeface="Calibri" pitchFamily="34" charset="0"/>
          <a:cs typeface="Arial" charset="0"/>
        </a:defRPr>
      </a:lvl5pPr>
      <a:lvl6pPr marL="2087542" algn="ctr" rtl="0" eaLnBrk="1" fontAlgn="base" hangingPunct="1">
        <a:spcBef>
          <a:spcPct val="0"/>
        </a:spcBef>
        <a:spcAft>
          <a:spcPct val="0"/>
        </a:spcAft>
        <a:defRPr sz="20100" b="1">
          <a:solidFill>
            <a:srgbClr val="C44C4C"/>
          </a:solidFill>
          <a:latin typeface="Calibri" pitchFamily="34" charset="0"/>
          <a:cs typeface="Arial" charset="0"/>
        </a:defRPr>
      </a:lvl6pPr>
      <a:lvl7pPr marL="4175088" algn="ctr" rtl="0" eaLnBrk="1" fontAlgn="base" hangingPunct="1">
        <a:spcBef>
          <a:spcPct val="0"/>
        </a:spcBef>
        <a:spcAft>
          <a:spcPct val="0"/>
        </a:spcAft>
        <a:defRPr sz="20100" b="1">
          <a:solidFill>
            <a:srgbClr val="C44C4C"/>
          </a:solidFill>
          <a:latin typeface="Calibri" pitchFamily="34" charset="0"/>
          <a:cs typeface="Arial" charset="0"/>
        </a:defRPr>
      </a:lvl7pPr>
      <a:lvl8pPr marL="6262630" algn="ctr" rtl="0" eaLnBrk="1" fontAlgn="base" hangingPunct="1">
        <a:spcBef>
          <a:spcPct val="0"/>
        </a:spcBef>
        <a:spcAft>
          <a:spcPct val="0"/>
        </a:spcAft>
        <a:defRPr sz="20100" b="1">
          <a:solidFill>
            <a:srgbClr val="C44C4C"/>
          </a:solidFill>
          <a:latin typeface="Calibri" pitchFamily="34" charset="0"/>
          <a:cs typeface="Arial" charset="0"/>
        </a:defRPr>
      </a:lvl8pPr>
      <a:lvl9pPr marL="8350177" algn="ctr" rtl="0" eaLnBrk="1" fontAlgn="base" hangingPunct="1">
        <a:spcBef>
          <a:spcPct val="0"/>
        </a:spcBef>
        <a:spcAft>
          <a:spcPct val="0"/>
        </a:spcAft>
        <a:defRPr sz="20100" b="1">
          <a:solidFill>
            <a:srgbClr val="C44C4C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fr-FR" sz="14800" kern="1200" dirty="0">
          <a:solidFill>
            <a:schemeClr val="accent2"/>
          </a:solidFill>
          <a:latin typeface="Calibri" pitchFamily="34" charset="0"/>
          <a:ea typeface="+mn-ea"/>
          <a:cs typeface="Times New Roman" pitchFamily="18" charset="0"/>
        </a:defRPr>
      </a:lvl1pPr>
      <a:lvl2pPr marL="3390900" indent="-130333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fr-FR" sz="10900" kern="1200" dirty="0">
          <a:solidFill>
            <a:schemeClr val="tx1"/>
          </a:solidFill>
          <a:latin typeface="Calibri" pitchFamily="34" charset="0"/>
          <a:ea typeface="+mn-ea"/>
          <a:cs typeface="Arial" pitchFamily="34" charset="0"/>
        </a:defRPr>
      </a:lvl2pPr>
      <a:lvl3pPr marL="5218113" indent="-10429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fr-FR" sz="9200" kern="1200" dirty="0">
          <a:solidFill>
            <a:schemeClr val="tx1"/>
          </a:solidFill>
          <a:latin typeface="Calibri" pitchFamily="34" charset="0"/>
          <a:ea typeface="+mn-ea"/>
          <a:cs typeface="Arial" pitchFamily="34" charset="0"/>
        </a:defRPr>
      </a:lvl3pPr>
      <a:lvl4pPr marL="7305675" indent="-10429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fr-BE" sz="9200" kern="1200" dirty="0">
          <a:solidFill>
            <a:schemeClr val="tx1"/>
          </a:solidFill>
          <a:latin typeface="+mn-lt"/>
          <a:ea typeface="+mn-ea"/>
          <a:cs typeface="Arial" charset="0"/>
        </a:defRPr>
      </a:lvl4pPr>
      <a:lvl5pPr marL="9393238" indent="-10429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fr-BE" sz="2000" kern="1200" dirty="0">
          <a:solidFill>
            <a:schemeClr val="tx1"/>
          </a:solidFill>
          <a:latin typeface="+mn-lt"/>
          <a:ea typeface="+mn-ea"/>
          <a:cs typeface="Arial" charset="0"/>
        </a:defRPr>
      </a:lvl5pPr>
      <a:lvl6pPr marL="11481490" indent="-1043771" algn="l" defTabSz="4175088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9036" indent="-1043771" algn="l" defTabSz="4175088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6578" indent="-1043771" algn="l" defTabSz="4175088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4120" indent="-1043771" algn="l" defTabSz="4175088" rtl="0" eaLnBrk="1" latinLnBrk="0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542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175088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6262630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350177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7719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5261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2807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0349" algn="l" defTabSz="4175088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jpeg"/><Relationship Id="rId11" Type="http://schemas.openxmlformats.org/officeDocument/2006/relationships/image" Target="../media/image32.png"/><Relationship Id="rId5" Type="http://schemas.openxmlformats.org/officeDocument/2006/relationships/image" Target="../media/image26.tiff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emf"/><Relationship Id="rId9" Type="http://schemas.openxmlformats.org/officeDocument/2006/relationships/image" Target="../media/image30.jp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080069" y="40000583"/>
            <a:ext cx="31939830" cy="2202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-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-449263"/>
            <a:ext cx="184150" cy="1355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fr-BE" altLang="en-US" dirty="0"/>
          </a:p>
        </p:txBody>
      </p:sp>
      <p:sp>
        <p:nvSpPr>
          <p:cNvPr id="16390" name="Rectangle 9"/>
          <p:cNvSpPr>
            <a:spLocks noChangeArrowheads="1"/>
          </p:cNvSpPr>
          <p:nvPr/>
        </p:nvSpPr>
        <p:spPr bwMode="auto">
          <a:xfrm>
            <a:off x="0" y="-677863"/>
            <a:ext cx="184150" cy="1355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fr-BE" altLang="en-US" dirty="0"/>
          </a:p>
        </p:txBody>
      </p:sp>
      <p:sp>
        <p:nvSpPr>
          <p:cNvPr id="16392" name="Rectangle 13"/>
          <p:cNvSpPr>
            <a:spLocks noChangeArrowheads="1"/>
          </p:cNvSpPr>
          <p:nvPr/>
        </p:nvSpPr>
        <p:spPr bwMode="auto">
          <a:xfrm>
            <a:off x="0" y="-449263"/>
            <a:ext cx="184150" cy="1355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fr-BE" altLang="en-US" dirty="0"/>
          </a:p>
        </p:txBody>
      </p:sp>
      <p:sp>
        <p:nvSpPr>
          <p:cNvPr id="233" name="Rectangle 1"/>
          <p:cNvSpPr>
            <a:spLocks noChangeArrowheads="1"/>
          </p:cNvSpPr>
          <p:nvPr/>
        </p:nvSpPr>
        <p:spPr bwMode="auto">
          <a:xfrm>
            <a:off x="4536555" y="718138"/>
            <a:ext cx="21226333" cy="404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defTabSz="914400" eaLnBrk="1" hangingPunct="1">
              <a:lnSpc>
                <a:spcPct val="150000"/>
              </a:lnSpc>
            </a:pPr>
            <a:r>
              <a:rPr lang="fr-FR" sz="54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Exécuter du code lors d’une évaluation sécurisée en ligne</a:t>
            </a:r>
          </a:p>
          <a:p>
            <a:pPr algn="ctr" defTabSz="914400" eaLnBrk="1" hangingPunct="1">
              <a:lnSpc>
                <a:spcPct val="150000"/>
              </a:lnSpc>
            </a:pPr>
            <a:r>
              <a:rPr lang="fr-FR" sz="4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G.  </a:t>
            </a:r>
            <a:r>
              <a:rPr lang="fr-FR" sz="4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Engels</a:t>
            </a:r>
            <a:r>
              <a:rPr lang="fr-FR" sz="4000" baseline="30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a,b</a:t>
            </a:r>
            <a:r>
              <a:rPr lang="fr-FR" sz="4000" baseline="30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fr-FR" sz="4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&amp; Ph. </a:t>
            </a:r>
            <a:r>
              <a:rPr lang="fr-FR" sz="4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Grosjean</a:t>
            </a:r>
            <a:r>
              <a:rPr lang="fr-FR" sz="4000" baseline="30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endParaRPr lang="fr-FR" sz="20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fr-FR" sz="2400" i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i="1" baseline="30000" dirty="0"/>
              <a:t>a </a:t>
            </a:r>
            <a:r>
              <a:rPr lang="fr-FR" sz="2400" i="1" dirty="0"/>
              <a:t>Service d’écologie numérique, Instituts </a:t>
            </a:r>
            <a:r>
              <a:rPr lang="fr-FR" sz="2400" i="1" dirty="0" err="1"/>
              <a:t>Complexys</a:t>
            </a:r>
            <a:r>
              <a:rPr lang="fr-FR" sz="2400" i="1" dirty="0"/>
              <a:t> et Biosciences </a:t>
            </a:r>
          </a:p>
          <a:p>
            <a:pPr algn="ctr">
              <a:spcAft>
                <a:spcPts val="800"/>
              </a:spcAft>
            </a:pPr>
            <a:r>
              <a:rPr lang="fr-FR" sz="2400" i="1" baseline="30000" dirty="0"/>
              <a:t>b  </a:t>
            </a:r>
            <a:r>
              <a:rPr lang="fr-FR" sz="2400" i="1" dirty="0"/>
              <a:t>Service de la Cellule de pédagogie facultaire des Sciences, Institut </a:t>
            </a:r>
            <a:r>
              <a:rPr lang="fr-FR" sz="2400" i="1" dirty="0" err="1"/>
              <a:t>Complexys</a:t>
            </a:r>
            <a:r>
              <a:rPr lang="fr-FR" sz="2400" i="1" dirty="0"/>
              <a:t>, </a:t>
            </a:r>
          </a:p>
          <a:p>
            <a:pPr algn="ctr">
              <a:spcAft>
                <a:spcPts val="800"/>
              </a:spcAft>
            </a:pPr>
            <a:r>
              <a:rPr lang="fr-FR" sz="2400" i="1" dirty="0"/>
              <a:t>Université de Mons (UMONS),  6 avenue du champ de mars, 7000 Mons, Belgique.</a:t>
            </a:r>
          </a:p>
          <a:p>
            <a:pPr algn="ctr">
              <a:spcAft>
                <a:spcPts val="800"/>
              </a:spcAft>
            </a:pPr>
            <a:r>
              <a:rPr lang="fr-FR" sz="2400" i="1" dirty="0"/>
              <a:t>* </a:t>
            </a:r>
            <a:r>
              <a:rPr lang="fr-FR" sz="2400" i="1" dirty="0" err="1"/>
              <a:t>guyliann.engels@umons.ac.be</a:t>
            </a:r>
            <a:r>
              <a:rPr lang="fr-FR" sz="2400" i="1" dirty="0"/>
              <a:t> - https://</a:t>
            </a:r>
            <a:r>
              <a:rPr lang="fr-FR" sz="2400" i="1" dirty="0" err="1"/>
              <a:t>github.com</a:t>
            </a:r>
            <a:r>
              <a:rPr lang="fr-FR" sz="2400" i="1" dirty="0"/>
              <a:t>/</a:t>
            </a:r>
            <a:r>
              <a:rPr lang="fr-FR" sz="2400" i="1" dirty="0" err="1"/>
              <a:t>GuyliannEngels</a:t>
            </a:r>
            <a:r>
              <a:rPr lang="fr-FR" sz="2400" i="1" dirty="0"/>
              <a:t>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9674942" y="4271667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15353253" y="4220862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15423067" y="4197726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31" name="ZoneTexte 230">
            <a:extLst>
              <a:ext uri="{FF2B5EF4-FFF2-40B4-BE49-F238E27FC236}">
                <a16:creationId xmlns:a16="http://schemas.microsoft.com/office/drawing/2014/main" id="{A6DFDDAB-FA98-B445-8DF4-1DA4BBAC1EB3}"/>
              </a:ext>
            </a:extLst>
          </p:cNvPr>
          <p:cNvSpPr txBox="1"/>
          <p:nvPr/>
        </p:nvSpPr>
        <p:spPr>
          <a:xfrm>
            <a:off x="438449" y="41584759"/>
            <a:ext cx="29422544" cy="116774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algn="just" defTabSz="914400"/>
            <a:endParaRPr kumimoji="0" lang="fr-FR" sz="3200" b="0" i="0" u="none" strike="noStrike" kern="1200" cap="none" spc="0" normalizeH="0" noProof="0">
              <a:ln>
                <a:noFill/>
              </a:ln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E46FD650-79BD-804E-963F-1C4465A2EDB8}"/>
              </a:ext>
            </a:extLst>
          </p:cNvPr>
          <p:cNvSpPr txBox="1"/>
          <p:nvPr/>
        </p:nvSpPr>
        <p:spPr>
          <a:xfrm>
            <a:off x="15099473" y="3033248"/>
            <a:ext cx="13946549" cy="215356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 algn="just" defTabSz="914400"/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	</a:t>
            </a:r>
            <a:endParaRPr kumimoji="0" lang="fr-FR" sz="32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C42D07E8-4237-544E-AAA6-C7AA1DCCB3D8}"/>
              </a:ext>
            </a:extLst>
          </p:cNvPr>
          <p:cNvSpPr txBox="1"/>
          <p:nvPr/>
        </p:nvSpPr>
        <p:spPr>
          <a:xfrm>
            <a:off x="25023337" y="38223644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217" name="Image 216">
            <a:extLst>
              <a:ext uri="{FF2B5EF4-FFF2-40B4-BE49-F238E27FC236}">
                <a16:creationId xmlns:a16="http://schemas.microsoft.com/office/drawing/2014/main" id="{6E28E1A2-ADF7-4A42-88EC-104E09413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48" y="2267140"/>
            <a:ext cx="2737555" cy="2737555"/>
          </a:xfrm>
          <a:prstGeom prst="rect">
            <a:avLst/>
          </a:prstGeom>
        </p:spPr>
      </p:pic>
      <p:pic>
        <p:nvPicPr>
          <p:cNvPr id="255" name="Image 254">
            <a:extLst>
              <a:ext uri="{FF2B5EF4-FFF2-40B4-BE49-F238E27FC236}">
                <a16:creationId xmlns:a16="http://schemas.microsoft.com/office/drawing/2014/main" id="{ADA71F27-2862-024F-8C98-468C7382E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03" y="2465677"/>
            <a:ext cx="2737556" cy="2524743"/>
          </a:xfrm>
          <a:prstGeom prst="rect">
            <a:avLst/>
          </a:prstGeom>
        </p:spPr>
      </p:pic>
      <p:pic>
        <p:nvPicPr>
          <p:cNvPr id="256" name="Image 255">
            <a:extLst>
              <a:ext uri="{FF2B5EF4-FFF2-40B4-BE49-F238E27FC236}">
                <a16:creationId xmlns:a16="http://schemas.microsoft.com/office/drawing/2014/main" id="{96817075-A931-BD47-889B-406D2A1E2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24" y="743913"/>
            <a:ext cx="4171971" cy="1515236"/>
          </a:xfrm>
          <a:prstGeom prst="rect">
            <a:avLst/>
          </a:prstGeom>
        </p:spPr>
      </p:pic>
      <p:sp>
        <p:nvSpPr>
          <p:cNvPr id="263" name="Rectangle 16">
            <a:extLst>
              <a:ext uri="{FF2B5EF4-FFF2-40B4-BE49-F238E27FC236}">
                <a16:creationId xmlns:a16="http://schemas.microsoft.com/office/drawing/2014/main" id="{2A47B29A-F868-6A4C-813A-304B17E4D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43" y="5244857"/>
            <a:ext cx="39416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4400" b="1" i="1" dirty="0">
                <a:solidFill>
                  <a:schemeClr val="accent2"/>
                </a:solidFill>
                <a:latin typeface="Cambria" pitchFamily="18" charset="0"/>
              </a:rPr>
              <a:t> </a:t>
            </a:r>
            <a:r>
              <a:rPr lang="en-US" altLang="en-US" sz="4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Résumé</a:t>
            </a:r>
            <a:r>
              <a:rPr lang="en-US" altLang="en-US" sz="40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endParaRPr lang="fr-FR" altLang="en-US" sz="4000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264" name="ZoneTexte 263">
            <a:extLst>
              <a:ext uri="{FF2B5EF4-FFF2-40B4-BE49-F238E27FC236}">
                <a16:creationId xmlns:a16="http://schemas.microsoft.com/office/drawing/2014/main" id="{9DDE0B48-65E2-114F-9925-E79470295780}"/>
              </a:ext>
            </a:extLst>
          </p:cNvPr>
          <p:cNvSpPr txBox="1"/>
          <p:nvPr/>
        </p:nvSpPr>
        <p:spPr>
          <a:xfrm>
            <a:off x="504825" y="6084815"/>
            <a:ext cx="29090514" cy="4052959"/>
          </a:xfrm>
          <a:prstGeom prst="rect">
            <a:avLst/>
          </a:prstGeom>
        </p:spPr>
        <p:txBody>
          <a:bodyPr vert="horz" wrap="square" lIns="91440" tIns="45720" rIns="91440" bIns="45720" numCol="2" spcCol="180000" rtlCol="0">
            <a:noAutofit/>
          </a:bodyPr>
          <a:lstStyle/>
          <a:p>
            <a:pPr marL="342900" indent="-342900" algn="just" defTabSz="914400"/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	Les étudiants en biologie de l’Université de Mons (UMONS) suivent plusieurs cours consécutifs en sciences des données (notés A, B, et C ci-dessous), leur permettant d’acquérir des compétences en analyse de données — telles que le remaniement, la visualisation, l’inférence et la modélisation — tant sur le plan théorique que pratique. Dans ce cadre, ils apprennent à programmer en R, un logiciel open source dédié à l’analyse de données. Au sein de notre plateforme pédagogique d’apprentissage de R, </a:t>
            </a:r>
            <a:r>
              <a:rPr kumimoji="0" lang="fr-FR" sz="3200" b="1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LearnIt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::R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, nous proposons un dispositif d’évaluation en ligne qui permet aux étudiants de tester, de manière interactive, leurs compétences en programmation. Les questionnaires, développés à l’aide du package R 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{</a:t>
            </a:r>
            <a:r>
              <a:rPr kumimoji="0" lang="fr-FR" sz="3200" b="1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learnr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}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, sont mis à disposition via un serveur </a:t>
            </a:r>
            <a:r>
              <a:rPr kumimoji="0" lang="fr-FR" sz="3200" b="1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Posit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kumimoji="0" lang="fr-FR" sz="3200" b="1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Connect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. Lors des évaluations, l’accès aux ressources informatiques est strictement contrôlé grâce à 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Safe Exam Browser </a:t>
            </a:r>
            <a:r>
              <a:rPr kumimoji="0" lang="fr-FR" sz="32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et </a:t>
            </a:r>
            <a:r>
              <a:rPr kumimoji="0" lang="fr-FR" sz="3200" b="1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AppArmor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. Les réponses </a:t>
            </a: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son</a:t>
            </a:r>
            <a:r>
              <a:rPr kumimoji="0" lang="fr-FR" sz="32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ensuite collectées dans une base de données </a:t>
            </a:r>
            <a:r>
              <a:rPr kumimoji="0" lang="fr-F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MongoDB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. Ces données permettent d’évaluer les étudiants et de fournir un retour individualisé</a:t>
            </a: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. Elles permettent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également d’analyser les difficultés rencontrées en vue d’améliorer le dispositif pédagogique.</a:t>
            </a:r>
            <a:endParaRPr lang="fr-FR" sz="3200" dirty="0">
              <a:latin typeface="Helvetica" charset="0"/>
            </a:endParaRPr>
          </a:p>
        </p:txBody>
      </p:sp>
      <p:sp>
        <p:nvSpPr>
          <p:cNvPr id="265" name="Rectangle à coins arrondis 158">
            <a:extLst>
              <a:ext uri="{FF2B5EF4-FFF2-40B4-BE49-F238E27FC236}">
                <a16:creationId xmlns:a16="http://schemas.microsoft.com/office/drawing/2014/main" id="{1EFC87BE-8969-9E47-829D-0B8A6B81C108}"/>
              </a:ext>
            </a:extLst>
          </p:cNvPr>
          <p:cNvSpPr/>
          <p:nvPr/>
        </p:nvSpPr>
        <p:spPr>
          <a:xfrm>
            <a:off x="504825" y="5273249"/>
            <a:ext cx="29306837" cy="500501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6" name="Image 5" descr="Une image contenant personne, Visage humain, habits, plein air&#10;&#10;Description générée automatiquement">
            <a:extLst>
              <a:ext uri="{FF2B5EF4-FFF2-40B4-BE49-F238E27FC236}">
                <a16:creationId xmlns:a16="http://schemas.microsoft.com/office/drawing/2014/main" id="{0AB5EAB6-36D2-7548-D336-B778322E86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1043" y="560901"/>
            <a:ext cx="2483810" cy="3363865"/>
          </a:xfrm>
          <a:prstGeom prst="rect">
            <a:avLst/>
          </a:prstGeom>
        </p:spPr>
      </p:pic>
      <p:pic>
        <p:nvPicPr>
          <p:cNvPr id="8" name="Image 7" descr="Une image contenant personne, Visage humain, homme, Front&#10;&#10;Description générée automatiquement">
            <a:extLst>
              <a:ext uri="{FF2B5EF4-FFF2-40B4-BE49-F238E27FC236}">
                <a16:creationId xmlns:a16="http://schemas.microsoft.com/office/drawing/2014/main" id="{75C908E9-B27D-2445-9B95-189AE3FED4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6747" y="2215157"/>
            <a:ext cx="2416327" cy="241632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4B9B08EB-315B-6A0B-44D3-80E560D99960}"/>
              </a:ext>
            </a:extLst>
          </p:cNvPr>
          <p:cNvSpPr txBox="1"/>
          <p:nvPr/>
        </p:nvSpPr>
        <p:spPr>
          <a:xfrm>
            <a:off x="43238057" y="447729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22525E1-A6EE-DC12-DB66-6EF457F8A8C4}"/>
              </a:ext>
            </a:extLst>
          </p:cNvPr>
          <p:cNvSpPr txBox="1"/>
          <p:nvPr/>
        </p:nvSpPr>
        <p:spPr>
          <a:xfrm>
            <a:off x="47352857" y="447729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8AE68D06-238B-8A72-1868-C61D44049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782559"/>
            <a:ext cx="15122526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fr-FR" altLang="en-US" sz="4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Analyse des traces d’apprentissage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6132672-D254-8D2B-4F53-D91764EF2DA8}"/>
              </a:ext>
            </a:extLst>
          </p:cNvPr>
          <p:cNvSpPr txBox="1"/>
          <p:nvPr/>
        </p:nvSpPr>
        <p:spPr>
          <a:xfrm>
            <a:off x="14147800" y="32994599"/>
            <a:ext cx="2486100" cy="546103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C38BE1C0-1885-3638-1AB3-8E4291E77A8B}"/>
              </a:ext>
            </a:extLst>
          </p:cNvPr>
          <p:cNvSpPr txBox="1"/>
          <p:nvPr/>
        </p:nvSpPr>
        <p:spPr>
          <a:xfrm>
            <a:off x="15737581" y="40175660"/>
            <a:ext cx="13781258" cy="1769139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Interrogation en ligne : plus de papier et interactivité pour tester le code</a:t>
            </a:r>
          </a:p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Document correctif généré à partir des questions et grilles de correction</a:t>
            </a:r>
          </a:p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Feedback individualisé</a:t>
            </a:r>
          </a:p>
          <a:p>
            <a:pPr marL="457200" indent="-457200" defTabSz="914400">
              <a:buFont typeface="Arial" panose="020B0604020202020204" pitchFamily="34" charset="0"/>
              <a:buChar char="•"/>
            </a:pPr>
            <a:endParaRPr lang="fr-FR" sz="3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28" name="ZoneTexte 527">
            <a:extLst>
              <a:ext uri="{FF2B5EF4-FFF2-40B4-BE49-F238E27FC236}">
                <a16:creationId xmlns:a16="http://schemas.microsoft.com/office/drawing/2014/main" id="{CF92BF5A-273F-E043-3AED-F43F90BC21A3}"/>
              </a:ext>
            </a:extLst>
          </p:cNvPr>
          <p:cNvSpPr txBox="1"/>
          <p:nvPr/>
        </p:nvSpPr>
        <p:spPr>
          <a:xfrm>
            <a:off x="28778199" y="234387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529" name="ZoneTexte 528">
            <a:extLst>
              <a:ext uri="{FF2B5EF4-FFF2-40B4-BE49-F238E27FC236}">
                <a16:creationId xmlns:a16="http://schemas.microsoft.com/office/drawing/2014/main" id="{155A22E0-B34B-A3B3-26C6-D5BB3B753085}"/>
              </a:ext>
            </a:extLst>
          </p:cNvPr>
          <p:cNvSpPr txBox="1"/>
          <p:nvPr/>
        </p:nvSpPr>
        <p:spPr>
          <a:xfrm>
            <a:off x="9779304" y="17246587"/>
            <a:ext cx="5054395" cy="800219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algn="ctr" defTabSz="914400"/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Espace contrôlé &amp; limité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79E44E6-D47D-19B5-38A0-AC89FB3E8183}"/>
              </a:ext>
            </a:extLst>
          </p:cNvPr>
          <p:cNvSpPr txBox="1"/>
          <p:nvPr/>
        </p:nvSpPr>
        <p:spPr>
          <a:xfrm>
            <a:off x="46939200" y="2778760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E49F7BA7-58B2-7723-B01F-056A71C86481}"/>
              </a:ext>
            </a:extLst>
          </p:cNvPr>
          <p:cNvGrpSpPr/>
          <p:nvPr/>
        </p:nvGrpSpPr>
        <p:grpSpPr>
          <a:xfrm>
            <a:off x="15625787" y="10968130"/>
            <a:ext cx="14003574" cy="11536250"/>
            <a:chOff x="-719436" y="11063484"/>
            <a:chExt cx="14003574" cy="1153625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5FCE4518-D2EF-66AF-B866-AE83EC11E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19436" y="11063484"/>
              <a:ext cx="13215358" cy="11536250"/>
            </a:xfrm>
            <a:prstGeom prst="rect">
              <a:avLst/>
            </a:prstGeom>
          </p:spPr>
        </p:pic>
        <p:cxnSp>
          <p:nvCxnSpPr>
            <p:cNvPr id="514" name="Connecteur droit avec flèche 513">
              <a:extLst>
                <a:ext uri="{FF2B5EF4-FFF2-40B4-BE49-F238E27FC236}">
                  <a16:creationId xmlns:a16="http://schemas.microsoft.com/office/drawing/2014/main" id="{2C17B82C-1604-5981-83E2-E53415F42F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45267" y="17134927"/>
              <a:ext cx="432048" cy="1117005"/>
            </a:xfrm>
            <a:prstGeom prst="straightConnector1">
              <a:avLst/>
            </a:prstGeom>
            <a:ln w="76200">
              <a:solidFill>
                <a:srgbClr val="F6A72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DEEAF747-16A8-A3C8-B2C9-DC2D42C3F712}"/>
                </a:ext>
              </a:extLst>
            </p:cNvPr>
            <p:cNvSpPr txBox="1"/>
            <p:nvPr/>
          </p:nvSpPr>
          <p:spPr>
            <a:xfrm>
              <a:off x="9500748" y="16364290"/>
              <a:ext cx="3783390" cy="800219"/>
            </a:xfrm>
            <a:prstGeom prst="roundRect">
              <a:avLst/>
            </a:prstGeom>
            <a:ln w="57150">
              <a:solidFill>
                <a:srgbClr val="A7003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rtlCol="0">
              <a:noAutofit/>
            </a:bodyPr>
            <a:lstStyle/>
            <a:p>
              <a:pPr defTabSz="914400"/>
              <a:r>
                <a:rPr lang="fr-FR" sz="3200" dirty="0">
                  <a:latin typeface="Helvetica" charset="0"/>
                  <a:ea typeface="Helvetica" charset="0"/>
                  <a:cs typeface="Helvetica" charset="0"/>
                </a:rPr>
                <a:t>Exécuter du code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84B59269-4046-5350-170B-0A24DCE24C95}"/>
              </a:ext>
            </a:extLst>
          </p:cNvPr>
          <p:cNvGrpSpPr/>
          <p:nvPr/>
        </p:nvGrpSpPr>
        <p:grpSpPr>
          <a:xfrm>
            <a:off x="9762427" y="18199073"/>
            <a:ext cx="4168340" cy="3322768"/>
            <a:chOff x="18224317" y="13668884"/>
            <a:chExt cx="4522138" cy="3528100"/>
          </a:xfrm>
        </p:grpSpPr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B1C10C67-7411-CA3C-B6A5-A7772D809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2841" y="13668884"/>
              <a:ext cx="3005090" cy="3005090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77E80BE0-8548-AAE1-4CA7-79024ED0B29C}"/>
                </a:ext>
              </a:extLst>
            </p:cNvPr>
            <p:cNvSpPr txBox="1"/>
            <p:nvPr/>
          </p:nvSpPr>
          <p:spPr>
            <a:xfrm>
              <a:off x="18224317" y="16383237"/>
              <a:ext cx="4522138" cy="81374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rmAutofit fontScale="85000" lnSpcReduction="20000"/>
            </a:bodyPr>
            <a:lstStyle/>
            <a:p>
              <a:pPr marL="342900" marR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r>
                <a:rPr kumimoji="0" lang="fr-F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Helvetica" pitchFamily="2" charset="0"/>
                  <a:ea typeface="Calibri" pitchFamily="34" charset="0"/>
                  <a:cs typeface="Times New Roman" pitchFamily="18" charset="0"/>
                </a:rPr>
                <a:t>Safe Exam Browser</a:t>
              </a:r>
              <a:br>
                <a:rPr kumimoji="0" lang="fr-F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Helvetica" pitchFamily="2" charset="0"/>
                  <a:ea typeface="Calibri" pitchFamily="34" charset="0"/>
                  <a:cs typeface="Times New Roman" pitchFamily="18" charset="0"/>
                </a:rPr>
              </a:br>
              <a:r>
                <a:rPr kumimoji="0" lang="fr-F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Helvetica" pitchFamily="2" charset="0"/>
                  <a:ea typeface="Calibri" pitchFamily="34" charset="0"/>
                  <a:cs typeface="Times New Roman" pitchFamily="18" charset="0"/>
                </a:rPr>
                <a:t>&amp; </a:t>
              </a:r>
              <a:r>
                <a:rPr kumimoji="0" lang="fr-FR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Helvetica" pitchFamily="2" charset="0"/>
                  <a:ea typeface="Calibri" pitchFamily="34" charset="0"/>
                  <a:cs typeface="Times New Roman" pitchFamily="18" charset="0"/>
                </a:rPr>
                <a:t>AppArmor</a:t>
              </a:r>
              <a:endPara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Helvetica" pitchFamily="2" charset="0"/>
                <a:ea typeface="Calibri" pitchFamily="34" charset="0"/>
                <a:cs typeface="Times New Roman" pitchFamily="18" charset="0"/>
              </a:endParaRPr>
            </a:p>
          </p:txBody>
        </p: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B2F7E37B-FF8C-6B5F-D45C-839954E0AD14}"/>
              </a:ext>
            </a:extLst>
          </p:cNvPr>
          <p:cNvSpPr txBox="1"/>
          <p:nvPr/>
        </p:nvSpPr>
        <p:spPr>
          <a:xfrm>
            <a:off x="9717715" y="12399702"/>
            <a:ext cx="5054395" cy="884192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algn="ctr" defTabSz="914400"/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Serveur d’applications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551377D0-D455-B9F3-EDBB-B742BA0994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304" y="13429728"/>
            <a:ext cx="5054395" cy="1304822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DF2928CC-7312-C515-7BC0-C90A04604A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931" y="18238266"/>
            <a:ext cx="4949055" cy="2980038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BFACB847-CE36-330E-F6D2-21FC75501EE4}"/>
              </a:ext>
            </a:extLst>
          </p:cNvPr>
          <p:cNvSpPr txBox="1"/>
          <p:nvPr/>
        </p:nvSpPr>
        <p:spPr>
          <a:xfrm>
            <a:off x="1205704" y="17217403"/>
            <a:ext cx="4949055" cy="870963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algn="ctr" defTabSz="914400"/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Base de données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1BAC25A0-45CE-2194-A751-AFB41A0FA1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6155" y="22766672"/>
            <a:ext cx="10712986" cy="17665959"/>
          </a:xfrm>
          <a:prstGeom prst="rect">
            <a:avLst/>
          </a:prstGeom>
        </p:spPr>
      </p:pic>
      <p:sp>
        <p:nvSpPr>
          <p:cNvPr id="54" name="Rectangle 16">
            <a:extLst>
              <a:ext uri="{FF2B5EF4-FFF2-40B4-BE49-F238E27FC236}">
                <a16:creationId xmlns:a16="http://schemas.microsoft.com/office/drawing/2014/main" id="{CE9BE5AD-7DEE-ACC9-5787-3B9FD269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9473" y="21774428"/>
            <a:ext cx="15193963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fr-FR" altLang="en-US" sz="4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Génération d’un corrigé pour chaque étudiant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072F6429-0FE7-7206-3FDC-369F7C9D70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145" y="14038279"/>
            <a:ext cx="3004232" cy="3004232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453A48E6-46EC-C67D-3E0D-E54723802B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488" y="13468231"/>
            <a:ext cx="2400481" cy="2750551"/>
          </a:xfrm>
          <a:prstGeom prst="rect">
            <a:avLst/>
          </a:prstGeom>
        </p:spPr>
      </p:pic>
      <p:sp>
        <p:nvSpPr>
          <p:cNvPr id="59" name="ZoneTexte 58">
            <a:extLst>
              <a:ext uri="{FF2B5EF4-FFF2-40B4-BE49-F238E27FC236}">
                <a16:creationId xmlns:a16="http://schemas.microsoft.com/office/drawing/2014/main" id="{C165E5C7-F84C-CCEC-85B9-4D49211C53F7}"/>
              </a:ext>
            </a:extLst>
          </p:cNvPr>
          <p:cNvSpPr txBox="1"/>
          <p:nvPr/>
        </p:nvSpPr>
        <p:spPr>
          <a:xfrm>
            <a:off x="890532" y="12414553"/>
            <a:ext cx="5054395" cy="870963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algn="ctr" defTabSz="914400"/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Questionnaires en R</a:t>
            </a:r>
          </a:p>
        </p:txBody>
      </p:sp>
      <p:sp>
        <p:nvSpPr>
          <p:cNvPr id="62" name="Rectangle 16">
            <a:extLst>
              <a:ext uri="{FF2B5EF4-FFF2-40B4-BE49-F238E27FC236}">
                <a16:creationId xmlns:a16="http://schemas.microsoft.com/office/drawing/2014/main" id="{AEF50228-4708-2C3D-902E-ADCC1665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95" y="10928446"/>
            <a:ext cx="15122526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fr-FR" altLang="en-US" sz="46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Learnit</a:t>
            </a:r>
            <a:r>
              <a:rPr lang="fr-FR" altLang="en-US" sz="4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::R </a:t>
            </a:r>
            <a:r>
              <a:rPr lang="fr-FR" altLang="en-US" sz="46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platerforme</a:t>
            </a:r>
            <a:r>
              <a:rPr lang="fr-FR" altLang="en-US" sz="4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d’apprentissage de R</a:t>
            </a:r>
          </a:p>
        </p:txBody>
      </p:sp>
      <p:sp>
        <p:nvSpPr>
          <p:cNvPr id="63" name="Rectangle 16">
            <a:extLst>
              <a:ext uri="{FF2B5EF4-FFF2-40B4-BE49-F238E27FC236}">
                <a16:creationId xmlns:a16="http://schemas.microsoft.com/office/drawing/2014/main" id="{98C7A85A-FA78-2BB2-C562-5CE956B2A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8244" y="10936839"/>
            <a:ext cx="15085220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fr-FR" altLang="en-US" sz="4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Questionnaire en ligne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2007847C-535C-6F6C-B8EC-75C4DCFFE1E6}"/>
              </a:ext>
            </a:extLst>
          </p:cNvPr>
          <p:cNvSpPr txBox="1"/>
          <p:nvPr/>
        </p:nvSpPr>
        <p:spPr>
          <a:xfrm>
            <a:off x="724624" y="40155451"/>
            <a:ext cx="13781259" cy="1769139"/>
          </a:xfrm>
          <a:prstGeom prst="roundRect">
            <a:avLst/>
          </a:prstGeom>
          <a:ln w="57150">
            <a:solidFill>
              <a:srgbClr val="A7003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no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Amélioration dans l’écriture du code R syntaxiquement valide au fil des années (A = Bab2, B = Bab3, C = Ma1) = maîtrise du langage </a:t>
            </a:r>
            <a:r>
              <a:rPr lang="fr-FR" sz="3200">
                <a:latin typeface="Helvetica" charset="0"/>
                <a:ea typeface="Helvetica" charset="0"/>
                <a:cs typeface="Helvetica" charset="0"/>
              </a:rPr>
              <a:t>R  ↗︎</a:t>
            </a:r>
            <a:endParaRPr lang="fr-FR" sz="32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fr-FR" sz="3200" dirty="0">
                <a:latin typeface="Helvetica" charset="0"/>
                <a:ea typeface="Helvetica" charset="0"/>
                <a:cs typeface="Helvetica" charset="0"/>
              </a:rPr>
              <a:t>Difficulté croissante du code au cours des années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3D1A60-087F-5234-A6BE-0126314218D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55" y="22843048"/>
            <a:ext cx="13870195" cy="83221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82FDC1B-F44B-2264-9F24-FF417B70F93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3" y="31686601"/>
            <a:ext cx="13561405" cy="8136843"/>
          </a:xfrm>
          <a:prstGeom prst="rect">
            <a:avLst/>
          </a:prstGeom>
        </p:spPr>
      </p:pic>
      <p:pic>
        <p:nvPicPr>
          <p:cNvPr id="7" name="Image 6" descr="Une image contenant symbole, Emblème, logo, Graphique&#10;&#10;Le contenu généré par l’IA peut être incorrect.">
            <a:extLst>
              <a:ext uri="{FF2B5EF4-FFF2-40B4-BE49-F238E27FC236}">
                <a16:creationId xmlns:a16="http://schemas.microsoft.com/office/drawing/2014/main" id="{7D0E080D-B637-0D77-E6A7-9BE773CA401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7227" y="17775311"/>
            <a:ext cx="2861460" cy="28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281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poster Umons">
  <a:themeElements>
    <a:clrScheme name="UMon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ABCC"/>
      </a:accent1>
      <a:accent2>
        <a:srgbClr val="C40039"/>
      </a:accent2>
      <a:accent3>
        <a:srgbClr val="A5A5A5"/>
      </a:accent3>
      <a:accent4>
        <a:srgbClr val="94CD7E"/>
      </a:accent4>
      <a:accent5>
        <a:srgbClr val="8DB3E2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 fontScale="92500" lnSpcReduction="10000"/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2800" b="0" i="0" u="none" strike="noStrike" kern="1200" cap="none" spc="0" normalizeH="0" baseline="0" noProof="0" dirty="0" smtClean="0">
            <a:ln>
              <a:noFill/>
            </a:ln>
            <a:solidFill>
              <a:srgbClr val="808080"/>
            </a:solidFill>
            <a:effectLst/>
            <a:uLnTx/>
            <a:uFillTx/>
            <a:latin typeface="Calibri" pitchFamily="34" charset="0"/>
            <a:ea typeface="Calibri" pitchFamily="34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poster Umons</Template>
  <TotalTime>40529</TotalTime>
  <Words>439</Words>
  <Application>Microsoft Macintosh PowerPoint</Application>
  <PresentationFormat>Personnalisé</PresentationFormat>
  <Paragraphs>36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</vt:lpstr>
      <vt:lpstr>Century Gothic</vt:lpstr>
      <vt:lpstr>Helvetica</vt:lpstr>
      <vt:lpstr>Wingdings</vt:lpstr>
      <vt:lpstr>Thème poster Umons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Florian Boon</dc:creator>
  <cp:lastModifiedBy>Philippe GROSJEAN</cp:lastModifiedBy>
  <cp:revision>1044</cp:revision>
  <cp:lastPrinted>2019-03-08T09:39:10Z</cp:lastPrinted>
  <dcterms:created xsi:type="dcterms:W3CDTF">2010-03-01T10:05:47Z</dcterms:created>
  <dcterms:modified xsi:type="dcterms:W3CDTF">2026-04-04T12:49:35Z</dcterms:modified>
</cp:coreProperties>
</file>